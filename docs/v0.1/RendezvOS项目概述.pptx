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72" r:id="rId2"/>
    <p:sldId id="273" r:id="rId3"/>
    <p:sldId id="274" r:id="rId4"/>
    <p:sldId id="275" r:id="rId5"/>
    <p:sldId id="288" r:id="rId6"/>
    <p:sldId id="289" r:id="rId7"/>
    <p:sldId id="290" r:id="rId8"/>
    <p:sldId id="278" r:id="rId9"/>
    <p:sldId id="292" r:id="rId10"/>
    <p:sldId id="294" r:id="rId11"/>
    <p:sldId id="283" r:id="rId12"/>
    <p:sldId id="303" r:id="rId13"/>
    <p:sldId id="304" r:id="rId14"/>
    <p:sldId id="293" r:id="rId15"/>
    <p:sldId id="295" r:id="rId16"/>
    <p:sldId id="296" r:id="rId17"/>
    <p:sldId id="305" r:id="rId18"/>
    <p:sldId id="291" r:id="rId19"/>
    <p:sldId id="300" r:id="rId20"/>
    <p:sldId id="297" r:id="rId21"/>
    <p:sldId id="306" r:id="rId22"/>
    <p:sldId id="298" r:id="rId23"/>
    <p:sldId id="279" r:id="rId24"/>
    <p:sldId id="302" r:id="rId25"/>
    <p:sldId id="284" r:id="rId26"/>
    <p:sldId id="301" r:id="rId27"/>
    <p:sldId id="280" r:id="rId28"/>
    <p:sldId id="285" r:id="rId29"/>
    <p:sldId id="299" r:id="rId30"/>
    <p:sldId id="281" r:id="rId31"/>
    <p:sldId id="286" r:id="rId32"/>
    <p:sldId id="282" r:id="rId33"/>
    <p:sldId id="287" r:id="rId34"/>
    <p:sldId id="277"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22"/>
    <p:restoredTop sz="94668"/>
  </p:normalViewPr>
  <p:slideViewPr>
    <p:cSldViewPr snapToGrid="0">
      <p:cViewPr>
        <p:scale>
          <a:sx n="97" d="100"/>
          <a:sy n="97" d="100"/>
        </p:scale>
        <p:origin x="1032"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37404-3315-D540-A3DB-C8B1983E61BC}" type="datetimeFigureOut">
              <a:rPr kumimoji="1" lang="zh-CN" altLang="en-US" smtClean="0"/>
              <a:t>2026/9/5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EAAC8-3C0E-E64C-85A1-37C68C348FCE}" type="slidenum">
              <a:rPr kumimoji="1" lang="zh-CN" altLang="en-US" smtClean="0"/>
              <a:t>‹#›</a:t>
            </a:fld>
            <a:endParaRPr kumimoji="1" lang="zh-CN" altLang="en-US"/>
          </a:p>
        </p:txBody>
      </p:sp>
    </p:spTree>
    <p:extLst>
      <p:ext uri="{BB962C8B-B14F-4D97-AF65-F5344CB8AC3E}">
        <p14:creationId xmlns:p14="http://schemas.microsoft.com/office/powerpoint/2010/main" val="704481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3.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1.xml"/><Relationship Id="rId7"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0AC62-2F67-6F82-B9DA-DA003EF7FF5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037AEAB-4A86-8ECA-70DB-048758A714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59F8211D-967E-C53F-6284-854DBEEC6DAB}"/>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5" name="页脚占位符 4">
            <a:extLst>
              <a:ext uri="{FF2B5EF4-FFF2-40B4-BE49-F238E27FC236}">
                <a16:creationId xmlns:a16="http://schemas.microsoft.com/office/drawing/2014/main" id="{12BBE657-943C-0E46-79A1-9754FC8D233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68437E1-8073-1865-EABC-9E9D97BF55CB}"/>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144771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E6549-494E-6457-A3D2-C6DE46F2FAB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BE9A027-5334-08F2-A5CD-6BD85BE3162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B05FE80-1B19-04A2-AF4E-B0F0F135C71F}"/>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5" name="页脚占位符 4">
            <a:extLst>
              <a:ext uri="{FF2B5EF4-FFF2-40B4-BE49-F238E27FC236}">
                <a16:creationId xmlns:a16="http://schemas.microsoft.com/office/drawing/2014/main" id="{73758D63-564A-18FF-4655-D59FA4FD358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8317841-BC56-E283-6B4A-09A5008F5F4E}"/>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1762414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B75EA-74E7-1A62-210A-2CA7B7C5527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7479E923-BC9E-E4BC-BCDF-429FE8D4A1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CA6A580-6CDE-778F-746E-61A5D9898F36}"/>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5" name="页脚占位符 4">
            <a:extLst>
              <a:ext uri="{FF2B5EF4-FFF2-40B4-BE49-F238E27FC236}">
                <a16:creationId xmlns:a16="http://schemas.microsoft.com/office/drawing/2014/main" id="{FFA27469-1C37-BF9A-74D5-CF6F5A9466B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8CA98E7-3EF5-EACA-C8CB-50278428ECCE}"/>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81157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433EBD-6156-ADFD-5553-979CCFD55E9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CE9C7E8-CD46-05FA-44C7-0F6D08F7522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95024D4-27BC-1B59-CC19-AECF2E8A624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740B657-64C0-C845-4B7B-4D14B1CD8ACB}"/>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6" name="页脚占位符 5">
            <a:extLst>
              <a:ext uri="{FF2B5EF4-FFF2-40B4-BE49-F238E27FC236}">
                <a16:creationId xmlns:a16="http://schemas.microsoft.com/office/drawing/2014/main" id="{06622897-0927-6D5F-9728-F7191487F67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50573CE-3BFD-FA94-2FE1-1B07801D03BB}"/>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896846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4A74D-1AED-8368-17DE-49A56E785D2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5599392-E94E-7ED0-C3F3-3749438EA6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46810AB5-DBC1-808F-B7E5-EB4E616C83D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0FE3EF4C-8BF7-3232-7E98-7A6F7F4840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3F7C113-985D-A6E8-9ACD-7F5E6FA3F149}"/>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259822C9-1385-3FB6-B2A7-85CA122BCAF1}"/>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8" name="页脚占位符 7">
            <a:extLst>
              <a:ext uri="{FF2B5EF4-FFF2-40B4-BE49-F238E27FC236}">
                <a16:creationId xmlns:a16="http://schemas.microsoft.com/office/drawing/2014/main" id="{861FB2FD-3308-F2F9-2287-7728761006D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FB565B2-C481-16A3-5F04-0323A0CCB2CE}"/>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12879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B12661-6B4E-DEC9-661E-CAB68C419DC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3C0D47B-DE08-853F-8F95-B3B79FB11CEB}"/>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4" name="页脚占位符 3">
            <a:extLst>
              <a:ext uri="{FF2B5EF4-FFF2-40B4-BE49-F238E27FC236}">
                <a16:creationId xmlns:a16="http://schemas.microsoft.com/office/drawing/2014/main" id="{4E8FB360-0067-BA07-859A-394AD8301C58}"/>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15FF4BA-CFFC-4205-AF4F-4BA4F1B3D8C9}"/>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1730486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10F0D1A-5E3C-F30E-AD8B-EBCF6B3FC71F}"/>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3" name="页脚占位符 2">
            <a:extLst>
              <a:ext uri="{FF2B5EF4-FFF2-40B4-BE49-F238E27FC236}">
                <a16:creationId xmlns:a16="http://schemas.microsoft.com/office/drawing/2014/main" id="{B5C28C6D-4232-87CF-825C-D022354FCA5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9E57510-8B69-7BF7-EA56-C4D785CDE364}"/>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3125498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CB294-6081-7C84-7863-66C74A92EF3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A234F691-BE53-2299-09C2-83FDB8CBD2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89B79DEC-1A18-35C8-1C52-73C1412AA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C754CBC-378E-5855-1D79-C8F71740B123}"/>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6" name="页脚占位符 5">
            <a:extLst>
              <a:ext uri="{FF2B5EF4-FFF2-40B4-BE49-F238E27FC236}">
                <a16:creationId xmlns:a16="http://schemas.microsoft.com/office/drawing/2014/main" id="{50ADF1A9-683E-D02E-C84B-2B79EE98CAE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FBC8124-AB49-35F7-A728-E71D47C31DCC}"/>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1878669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47DCC4-CC14-4511-5F5A-06B55F1ADEF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A240E2D-1B96-5198-D2ED-DEB81B173B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C4B64F7A-DAE0-24A4-7A84-18DDD6949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0521BE0-3037-D729-AE82-0ED6C0E0CE9C}"/>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6" name="页脚占位符 5">
            <a:extLst>
              <a:ext uri="{FF2B5EF4-FFF2-40B4-BE49-F238E27FC236}">
                <a16:creationId xmlns:a16="http://schemas.microsoft.com/office/drawing/2014/main" id="{4C499882-6D50-9025-DA82-19D7A220865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67DF6E7-B970-13BB-62F4-7431EE7E9EFD}"/>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319137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D23B0-9061-5C64-B7E1-B8285C7F3E4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EEAB43B-677A-1B19-DD16-EF150F8DBE94}"/>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BD63A81-51A1-7F02-7B94-D3555645719A}"/>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5" name="页脚占位符 4">
            <a:extLst>
              <a:ext uri="{FF2B5EF4-FFF2-40B4-BE49-F238E27FC236}">
                <a16:creationId xmlns:a16="http://schemas.microsoft.com/office/drawing/2014/main" id="{E89E7234-1FD2-CC31-EDFD-8C08D3F02C3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6008AF7-0F85-D910-70B6-1D57025C9E27}"/>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117447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567324B-A1D8-DC37-3AD9-A52CF23DDEE0}"/>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72D9019-9757-FFF2-C631-17FE3D6D0A7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D58369A-2B97-8F75-DB64-7FAC12AFACE3}"/>
              </a:ext>
            </a:extLst>
          </p:cNvPr>
          <p:cNvSpPr>
            <a:spLocks noGrp="1"/>
          </p:cNvSpPr>
          <p:nvPr>
            <p:ph type="dt" sz="half" idx="10"/>
          </p:nvPr>
        </p:nvSpPr>
        <p:spPr/>
        <p:txBody>
          <a:bodyPr/>
          <a:lstStyle/>
          <a:p>
            <a:fld id="{9E358D9C-4AAF-9549-8F52-DB6B4BEA2B93}" type="datetimeFigureOut">
              <a:rPr kumimoji="1" lang="zh-CN" altLang="en-US" smtClean="0"/>
              <a:t>2026/9/5</a:t>
            </a:fld>
            <a:endParaRPr kumimoji="1" lang="zh-CN" altLang="en-US"/>
          </a:p>
        </p:txBody>
      </p:sp>
      <p:sp>
        <p:nvSpPr>
          <p:cNvPr id="5" name="页脚占位符 4">
            <a:extLst>
              <a:ext uri="{FF2B5EF4-FFF2-40B4-BE49-F238E27FC236}">
                <a16:creationId xmlns:a16="http://schemas.microsoft.com/office/drawing/2014/main" id="{D93CA3C4-B2AE-B532-8C2E-A230FEC725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D65351B-F093-0D9E-C1B6-018EDFF80176}"/>
              </a:ext>
            </a:extLst>
          </p:cNvPr>
          <p:cNvSpPr>
            <a:spLocks noGrp="1"/>
          </p:cNvSpPr>
          <p:nvPr>
            <p:ph type="sldNum" sz="quarter" idx="12"/>
          </p:nvPr>
        </p:nvSpPr>
        <p:spPr/>
        <p:txBody>
          <a:body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3959323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pic>
        <p:nvPicPr>
          <p:cNvPr id="7" name="图片 6" descr="/Users/a2/Desktop/清华大学ppt模板 2/第二次/6/200ppi/资源 3.png资源 3"/>
          <p:cNvPicPr>
            <a:picLocks noChangeAspect="1"/>
          </p:cNvPicPr>
          <p:nvPr userDrawn="1"/>
        </p:nvPicPr>
        <p:blipFill>
          <a:blip r:embed="rId7"/>
          <a:srcRect l="23" r="23"/>
          <a:stretch>
            <a:fillRect/>
          </a:stretch>
        </p:blipFill>
        <p:spPr>
          <a:xfrm>
            <a:off x="-635" y="0"/>
            <a:ext cx="12192635" cy="6858000"/>
          </a:xfrm>
          <a:prstGeom prst="rect">
            <a:avLst/>
          </a:prstGeom>
        </p:spPr>
      </p:pic>
      <p:pic>
        <p:nvPicPr>
          <p:cNvPr id="156" name="图像" descr="图像"/>
          <p:cNvPicPr>
            <a:picLocks noChangeAspect="1"/>
          </p:cNvPicPr>
          <p:nvPr userDrawn="1">
            <p:custDataLst>
              <p:tags r:id="rId1"/>
            </p:custDataLst>
          </p:nvPr>
        </p:nvPicPr>
        <p:blipFill>
          <a:blip r:embed="rId8"/>
          <a:stretch>
            <a:fillRect/>
          </a:stretch>
        </p:blipFill>
        <p:spPr>
          <a:xfrm>
            <a:off x="605590" y="344836"/>
            <a:ext cx="2045095" cy="682885"/>
          </a:xfrm>
          <a:prstGeom prst="rect">
            <a:avLst/>
          </a:prstGeom>
          <a:ln w="12700">
            <a:miter lim="400000"/>
            <a:headEnd/>
            <a:tailEnd/>
          </a:ln>
        </p:spPr>
      </p:pic>
      <p:sp>
        <p:nvSpPr>
          <p:cNvPr id="24" name="正文级别 1…"/>
          <p:cNvSpPr txBox="1">
            <a:spLocks noGrp="1"/>
          </p:cNvSpPr>
          <p:nvPr>
            <p:ph type="body" sz="quarter" idx="22" hasCustomPrompt="1"/>
            <p:custDataLst>
              <p:tags r:id="rId2"/>
            </p:custDataLst>
          </p:nvPr>
        </p:nvSpPr>
        <p:spPr>
          <a:xfrm>
            <a:off x="605790" y="2541270"/>
            <a:ext cx="7379970" cy="558165"/>
          </a:xfrm>
          <a:prstGeom prst="rect">
            <a:avLst/>
          </a:prstGeom>
        </p:spPr>
        <p:txBody>
          <a:bodyPr/>
          <a:lstStyle>
            <a:lvl1pPr marL="0" indent="0" defTabSz="825500">
              <a:lnSpc>
                <a:spcPct val="100000"/>
              </a:lnSpc>
              <a:spcBef>
                <a:spcPct val="0"/>
              </a:spcBef>
              <a:buSzTx/>
              <a:buNone/>
              <a:defRPr kumimoji="0" sz="3300" b="0" i="0" u="none" strike="noStrike" kern="0" cap="none" spc="300" normalizeH="0" baseline="0" noProof="1">
                <a:ln>
                  <a:noFill/>
                </a:ln>
                <a:solidFill>
                  <a:srgbClr val="FFFFFF"/>
                </a:solidFill>
                <a:effectLst/>
                <a:uFillTx/>
                <a:latin typeface="Microsoft YaHei" panose="020B0503020204020204" charset="-122"/>
                <a:ea typeface="Microsoft YaHei Regular" panose="020B0503020204020204" charset="-122"/>
                <a:cs typeface="Source Han Sans SC Medium" panose="020B0500000000000000" charset="-122"/>
              </a:defRPr>
            </a:lvl1pPr>
            <a:lvl2pPr marL="0" indent="228600" defTabSz="825500">
              <a:lnSpc>
                <a:spcPct val="100000"/>
              </a:lnSpc>
              <a:spcBef>
                <a:spcPct val="0"/>
              </a:spcBef>
              <a:buSzTx/>
              <a:buNone/>
              <a:defRPr sz="2750" b="1"/>
            </a:lvl2pPr>
            <a:lvl3pPr marL="0" indent="457200" defTabSz="825500">
              <a:lnSpc>
                <a:spcPct val="100000"/>
              </a:lnSpc>
              <a:spcBef>
                <a:spcPct val="0"/>
              </a:spcBef>
              <a:buSzTx/>
              <a:buNone/>
              <a:defRPr sz="2750" b="1"/>
            </a:lvl3pPr>
            <a:lvl4pPr marL="0" indent="685800" defTabSz="825500">
              <a:lnSpc>
                <a:spcPct val="100000"/>
              </a:lnSpc>
              <a:spcBef>
                <a:spcPct val="0"/>
              </a:spcBef>
              <a:buSzTx/>
              <a:buNone/>
              <a:defRPr sz="2750" b="1"/>
            </a:lvl4pPr>
            <a:lvl5pPr marL="0" indent="914400" defTabSz="825500">
              <a:lnSpc>
                <a:spcPct val="100000"/>
              </a:lnSpc>
              <a:spcBef>
                <a:spcPct val="0"/>
              </a:spcBef>
              <a:buSzTx/>
              <a:buNone/>
              <a:defRPr sz="2750" b="1"/>
            </a:lvl5pPr>
          </a:lstStyle>
          <a:p>
            <a:r>
              <a:t>演示文稿副标题</a:t>
            </a:r>
          </a:p>
          <a:p>
            <a:pPr lvl="1"/>
            <a:endParaRPr/>
          </a:p>
          <a:p>
            <a:pPr lvl="2"/>
            <a:endParaRPr/>
          </a:p>
          <a:p>
            <a:pPr lvl="3"/>
            <a:endParaRPr/>
          </a:p>
          <a:p>
            <a:pPr lvl="4"/>
            <a:endParaRPr/>
          </a:p>
        </p:txBody>
      </p:sp>
      <p:sp>
        <p:nvSpPr>
          <p:cNvPr id="23" name="作者和日期"/>
          <p:cNvSpPr txBox="1">
            <a:spLocks noGrp="1"/>
          </p:cNvSpPr>
          <p:nvPr>
            <p:ph type="body" sz="quarter" idx="23" hasCustomPrompt="1"/>
            <p:custDataLst>
              <p:tags r:id="rId3"/>
            </p:custDataLst>
          </p:nvPr>
        </p:nvSpPr>
        <p:spPr>
          <a:xfrm>
            <a:off x="605790" y="5805170"/>
            <a:ext cx="1183005" cy="318770"/>
          </a:xfrm>
          <a:prstGeom prst="rect">
            <a:avLst/>
          </a:prstGeom>
        </p:spPr>
        <p:txBody>
          <a:bodyPr lIns="45719" tIns="45719" rIns="45719" bIns="45719">
            <a:noAutofit/>
          </a:bodyPr>
          <a:lstStyle>
            <a:lvl1pPr marL="0" indent="0" defTabSz="701675">
              <a:lnSpc>
                <a:spcPct val="100000"/>
              </a:lnSpc>
              <a:spcBef>
                <a:spcPct val="0"/>
              </a:spcBef>
              <a:buSzTx/>
              <a:buNone/>
              <a:defRPr kumimoji="0" sz="1600" b="0" i="0" u="none" strike="noStrike" kern="0" cap="none" spc="0" normalizeH="0" baseline="0" noProof="1">
                <a:ln>
                  <a:noFill/>
                </a:ln>
                <a:solidFill>
                  <a:srgbClr val="FFFFFF"/>
                </a:solidFill>
                <a:effectLst/>
                <a:uFillTx/>
                <a:latin typeface="Microsoft YaHei Regular" panose="020B0503020204020204" charset="-122"/>
                <a:ea typeface="Microsoft YaHei Regular" panose="020B0503020204020204" charset="-122"/>
                <a:cs typeface="Source Han Sans SC Medium" panose="020B0500000000000000" charset="-122"/>
              </a:defRPr>
            </a:lvl1pPr>
          </a:lstStyle>
          <a:p>
            <a:r>
              <a:t>作者和日期</a:t>
            </a:r>
          </a:p>
        </p:txBody>
      </p:sp>
      <p:sp>
        <p:nvSpPr>
          <p:cNvPr id="3" name="演示文稿标题"/>
          <p:cNvSpPr txBox="1">
            <a:spLocks noGrp="1"/>
          </p:cNvSpPr>
          <p:nvPr>
            <p:ph type="title" hasCustomPrompt="1"/>
            <p:custDataLst>
              <p:tags r:id="rId4"/>
            </p:custDataLst>
          </p:nvPr>
        </p:nvSpPr>
        <p:spPr>
          <a:xfrm>
            <a:off x="604520" y="1483995"/>
            <a:ext cx="9570720" cy="1003935"/>
          </a:xfrm>
          <a:prstGeom prst="rect">
            <a:avLst/>
          </a:prstGeom>
        </p:spPr>
        <p:txBody>
          <a:bodyPr anchor="b"/>
          <a:lstStyle>
            <a:lvl1pPr marL="0" marR="0" lvl="0" algn="l" defTabSz="2438400" rtl="0" eaLnBrk="1" fontAlgn="auto" latinLnBrk="0" hangingPunct="0">
              <a:lnSpc>
                <a:spcPct val="100000"/>
              </a:lnSpc>
              <a:spcBef>
                <a:spcPts val="0"/>
              </a:spcBef>
              <a:spcAft>
                <a:spcPts val="0"/>
              </a:spcAft>
              <a:buClrTx/>
              <a:buSzTx/>
              <a:buFontTx/>
              <a:buNone/>
              <a:defRPr kumimoji="0" sz="5200" b="1" i="0" u="none" strike="noStrike" kern="0" cap="none" spc="300" normalizeH="0" baseline="0" noProof="1">
                <a:ln>
                  <a:noFill/>
                </a:ln>
                <a:solidFill>
                  <a:srgbClr val="FFFFFF"/>
                </a:solidFill>
                <a:effectLst/>
                <a:uFillTx/>
                <a:latin typeface="Microsoft YaHei Bold" panose="020B0503020204020204" charset="-122"/>
                <a:ea typeface="Microsoft YaHei Bold" panose="020B0503020204020204" charset="-122"/>
                <a:cs typeface="Source Han Sans SC" panose="020B0500000000000000" charset="-122"/>
              </a:defRPr>
            </a:lvl1pPr>
          </a:lstStyle>
          <a:p>
            <a:r>
              <a:t>演示文稿标题</a:t>
            </a:r>
          </a:p>
        </p:txBody>
      </p:sp>
      <p:sp>
        <p:nvSpPr>
          <p:cNvPr id="5" name="正文级别 1…"/>
          <p:cNvSpPr txBox="1">
            <a:spLocks noGrp="1"/>
          </p:cNvSpPr>
          <p:nvPr>
            <p:ph type="body" sz="quarter" idx="24" hasCustomPrompt="1"/>
            <p:custDataLst>
              <p:tags r:id="rId5"/>
            </p:custDataLst>
          </p:nvPr>
        </p:nvSpPr>
        <p:spPr>
          <a:xfrm>
            <a:off x="605790" y="3171190"/>
            <a:ext cx="7379970" cy="445135"/>
          </a:xfrm>
          <a:prstGeom prst="rect">
            <a:avLst/>
          </a:prstGeom>
        </p:spPr>
        <p:txBody>
          <a:bodyPr/>
          <a:lstStyle>
            <a:lvl1pPr marL="0" indent="0" algn="l" defTabSz="825500">
              <a:lnSpc>
                <a:spcPct val="100000"/>
              </a:lnSpc>
              <a:spcBef>
                <a:spcPct val="0"/>
              </a:spcBef>
              <a:buSzTx/>
              <a:buNone/>
              <a:defRPr kumimoji="0" sz="1800" b="0" i="0" u="none" strike="noStrike" kern="0" cap="none" spc="300" normalizeH="0" baseline="0" noProof="1">
                <a:ln>
                  <a:noFill/>
                </a:ln>
                <a:solidFill>
                  <a:srgbClr val="FFFFFF"/>
                </a:solidFill>
                <a:effectLst/>
                <a:uFillTx/>
                <a:latin typeface="Microsoft YaHei" panose="020B0503020204020204" charset="-122"/>
                <a:ea typeface="Microsoft YaHei Regular" panose="020B0503020204020204" charset="-122"/>
                <a:cs typeface="Source Han Sans SC Medium" panose="020B0500000000000000" charset="-122"/>
              </a:defRPr>
            </a:lvl1pPr>
            <a:lvl2pPr marL="0" indent="228600" algn="ctr" defTabSz="825500">
              <a:lnSpc>
                <a:spcPct val="100000"/>
              </a:lnSpc>
              <a:spcBef>
                <a:spcPct val="0"/>
              </a:spcBef>
              <a:buSzTx/>
              <a:buNone/>
              <a:defRPr sz="2750" b="1"/>
            </a:lvl2pPr>
            <a:lvl3pPr marL="0" indent="457200" algn="ctr" defTabSz="825500">
              <a:lnSpc>
                <a:spcPct val="100000"/>
              </a:lnSpc>
              <a:spcBef>
                <a:spcPct val="0"/>
              </a:spcBef>
              <a:buSzTx/>
              <a:buNone/>
              <a:defRPr sz="2750" b="1"/>
            </a:lvl3pPr>
            <a:lvl4pPr marL="0" indent="685800" algn="ctr" defTabSz="825500">
              <a:lnSpc>
                <a:spcPct val="100000"/>
              </a:lnSpc>
              <a:spcBef>
                <a:spcPct val="0"/>
              </a:spcBef>
              <a:buSzTx/>
              <a:buNone/>
              <a:defRPr sz="2750" b="1"/>
            </a:lvl4pPr>
            <a:lvl5pPr marL="0" indent="914400" defTabSz="825500">
              <a:lnSpc>
                <a:spcPct val="100000"/>
              </a:lnSpc>
              <a:spcBef>
                <a:spcPct val="0"/>
              </a:spcBef>
              <a:buSzTx/>
              <a:buNone/>
              <a:defRPr sz="2750" b="1"/>
            </a:lvl5pPr>
          </a:lstStyle>
          <a:p>
            <a:r>
              <a:t>演示文稿</a:t>
            </a:r>
            <a:r>
              <a:rPr lang="zh-CN"/>
              <a:t>英文</a:t>
            </a:r>
            <a:r>
              <a:t>标题</a:t>
            </a:r>
          </a:p>
        </p:txBody>
      </p:sp>
    </p:spTree>
    <p:extLst>
      <p:ext uri="{BB962C8B-B14F-4D97-AF65-F5344CB8AC3E}">
        <p14:creationId xmlns:p14="http://schemas.microsoft.com/office/powerpoint/2010/main" val="948590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7" name="图片 6" descr="/Users/a2/Desktop/清华大学ppt模板 2/第二次/6/200ppi/资源 4.png资源 4"/>
          <p:cNvPicPr>
            <a:picLocks noChangeAspect="1"/>
          </p:cNvPicPr>
          <p:nvPr userDrawn="1"/>
        </p:nvPicPr>
        <p:blipFill>
          <a:blip r:embed="rId5"/>
          <a:srcRect l="5" r="5"/>
          <a:stretch>
            <a:fillRect/>
          </a:stretch>
        </p:blipFill>
        <p:spPr>
          <a:xfrm>
            <a:off x="0" y="0"/>
            <a:ext cx="12192000" cy="6858000"/>
          </a:xfrm>
          <a:prstGeom prst="rect">
            <a:avLst/>
          </a:prstGeom>
        </p:spPr>
      </p:pic>
      <p:sp>
        <p:nvSpPr>
          <p:cNvPr id="3" name="标题 2"/>
          <p:cNvSpPr>
            <a:spLocks noGrp="1"/>
          </p:cNvSpPr>
          <p:nvPr>
            <p:ph type="title" hasCustomPrompt="1"/>
            <p:custDataLst>
              <p:tags r:id="rId1"/>
            </p:custDataLst>
          </p:nvPr>
        </p:nvSpPr>
        <p:spPr>
          <a:xfrm>
            <a:off x="8151495" y="4477385"/>
            <a:ext cx="3683635" cy="796290"/>
          </a:xfrm>
        </p:spPr>
        <p:txBody>
          <a:bodyPr lIns="101600" tIns="38100" rIns="63500" bIns="38100" anchor="b" anchorCtr="0">
            <a:normAutofit/>
          </a:bodyPr>
          <a:lstStyle>
            <a:lvl1pPr marL="0" marR="0" lvl="0" algn="l" defTabSz="2438400" rtl="0" eaLnBrk="1" fontAlgn="auto" latinLnBrk="0" hangingPunct="0">
              <a:lnSpc>
                <a:spcPct val="100000"/>
              </a:lnSpc>
              <a:spcBef>
                <a:spcPts val="0"/>
              </a:spcBef>
              <a:spcAft>
                <a:spcPts val="0"/>
              </a:spcAft>
              <a:buClrTx/>
              <a:buSzTx/>
              <a:buFontTx/>
              <a:buNone/>
              <a:defRPr kumimoji="0" sz="4400" b="1" i="0" u="none" strike="noStrike" kern="0" cap="none" spc="0" normalizeH="0" baseline="0" noProof="1">
                <a:ln>
                  <a:noFill/>
                </a:ln>
                <a:solidFill>
                  <a:schemeClr val="bg1"/>
                </a:solidFill>
                <a:effectLst/>
                <a:uFillTx/>
                <a:latin typeface="Microsoft YaHei Regular" panose="020B0503020204020204" charset="-122"/>
                <a:ea typeface="Microsoft YaHei Regular" panose="020B0503020204020204" charset="-122"/>
                <a:cs typeface="Source Han Sans SC" panose="020B0500000000000000" charset="-122"/>
              </a:defRPr>
            </a:lvl1pPr>
          </a:lstStyle>
          <a:p>
            <a:r>
              <a:rPr lang="zh-CN" altLang="en-US" dirty="0"/>
              <a:t>编辑标题</a:t>
            </a:r>
          </a:p>
        </p:txBody>
      </p:sp>
      <p:sp>
        <p:nvSpPr>
          <p:cNvPr id="4" name="文本占位符 3"/>
          <p:cNvSpPr>
            <a:spLocks noGrp="1"/>
          </p:cNvSpPr>
          <p:nvPr>
            <p:ph type="body" idx="1"/>
            <p:custDataLst>
              <p:tags r:id="rId2"/>
            </p:custDataLst>
          </p:nvPr>
        </p:nvSpPr>
        <p:spPr>
          <a:xfrm>
            <a:off x="8152130" y="5485765"/>
            <a:ext cx="3478530" cy="1033780"/>
          </a:xfrm>
        </p:spPr>
        <p:txBody>
          <a:bodyPr lIns="101600" tIns="38100" rIns="76200" bIns="38100" anchor="t">
            <a:normAutofit/>
          </a:bodyPr>
          <a:lstStyle>
            <a:lvl1pPr marL="0" indent="0" algn="l" eaLnBrk="1" fontAlgn="auto" latinLnBrk="0" hangingPunct="1">
              <a:buNone/>
              <a:defRPr kumimoji="0" lang="zh-CN" altLang="en-US" sz="1600" b="0" i="0" u="none" strike="noStrike" kern="1200" cap="none" spc="150" normalizeH="0" baseline="0" noProof="1">
                <a:solidFill>
                  <a:schemeClr val="bg1"/>
                </a:solidFill>
                <a:uFillTx/>
                <a:latin typeface="Microsoft YaHei Regular" panose="020B0503020204020204" charset="-122"/>
                <a:ea typeface="Microsoft YaHei Regular"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2" name="文本占位符 1"/>
          <p:cNvSpPr>
            <a:spLocks noGrp="1"/>
          </p:cNvSpPr>
          <p:nvPr>
            <p:ph type="body" idx="13" hasCustomPrompt="1"/>
            <p:custDataLst>
              <p:tags r:id="rId3"/>
            </p:custDataLst>
          </p:nvPr>
        </p:nvSpPr>
        <p:spPr>
          <a:xfrm>
            <a:off x="5198745" y="4261485"/>
            <a:ext cx="2952750" cy="2341880"/>
          </a:xfrm>
        </p:spPr>
        <p:txBody>
          <a:bodyPr lIns="101600" tIns="38100" rIns="76200" bIns="38100" anchor="t">
            <a:noAutofit/>
          </a:bodyPr>
          <a:lstStyle>
            <a:lvl1pPr marL="0" indent="0" algn="l" eaLnBrk="1" fontAlgn="auto" latinLnBrk="0" hangingPunct="1">
              <a:buNone/>
              <a:defRPr kumimoji="0" lang="zh-CN" altLang="en-US" sz="17200" b="1" i="0" u="none" strike="noStrike" kern="1200" cap="none" spc="150" normalizeH="0" baseline="0" noProof="1">
                <a:solidFill>
                  <a:schemeClr val="bg1"/>
                </a:solidFill>
                <a:uFillTx/>
                <a:latin typeface="Microsoft YaHei Bold" panose="020B0503020204020204" charset="-122"/>
                <a:ea typeface="Microsoft YaHei Bold"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01</a:t>
            </a:r>
          </a:p>
        </p:txBody>
      </p:sp>
    </p:spTree>
    <p:extLst>
      <p:ext uri="{BB962C8B-B14F-4D97-AF65-F5344CB8AC3E}">
        <p14:creationId xmlns:p14="http://schemas.microsoft.com/office/powerpoint/2010/main" val="1006766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pic>
        <p:nvPicPr>
          <p:cNvPr id="5" name="图片 4" descr="/Users/chenyue/Desktop/清华大学ppt模板 2/第二次/6/200ppi/资源 1.png资源 1"/>
          <p:cNvPicPr>
            <a:picLocks noChangeAspect="1"/>
          </p:cNvPicPr>
          <p:nvPr userDrawn="1"/>
        </p:nvPicPr>
        <p:blipFill>
          <a:blip r:embed="rId8"/>
          <a:srcRect l="51" r="51"/>
          <a:stretch>
            <a:fillRect/>
          </a:stretch>
        </p:blipFill>
        <p:spPr>
          <a:xfrm>
            <a:off x="0" y="0"/>
            <a:ext cx="12191365" cy="6896100"/>
          </a:xfrm>
          <a:prstGeom prst="rect">
            <a:avLst/>
          </a:prstGeom>
        </p:spPr>
      </p:pic>
      <p:sp>
        <p:nvSpPr>
          <p:cNvPr id="2" name="标题 1"/>
          <p:cNvSpPr>
            <a:spLocks noGrp="1"/>
          </p:cNvSpPr>
          <p:nvPr>
            <p:ph type="title" hasCustomPrompt="1"/>
            <p:custDataLst>
              <p:tags r:id="rId1"/>
            </p:custDataLst>
          </p:nvPr>
        </p:nvSpPr>
        <p:spPr>
          <a:xfrm>
            <a:off x="854710" y="43815"/>
            <a:ext cx="9626600" cy="544830"/>
          </a:xfrm>
        </p:spPr>
        <p:txBody>
          <a:bodyPr anchor="ctr"/>
          <a:lstStyle>
            <a:lvl1pPr>
              <a:defRPr kumimoji="0" lang="zh-CN" sz="2000" b="0" i="0" u="none" strike="noStrike" kern="0" cap="none" spc="0" normalizeH="0" baseline="0" noProof="1">
                <a:ln>
                  <a:noFill/>
                </a:ln>
                <a:solidFill>
                  <a:schemeClr val="bg1"/>
                </a:solidFill>
                <a:effectLst/>
                <a:uFillTx/>
                <a:latin typeface="Microsoft YaHei" panose="020B0503020204020204" charset="-122"/>
                <a:ea typeface="Microsoft YaHei" panose="020B0503020204020204" charset="-122"/>
                <a:cs typeface="Source Han Sans SC" panose="020B0500000000000000" charset="-122"/>
              </a:defRPr>
            </a:lvl1pPr>
          </a:lstStyle>
          <a:p>
            <a:r>
              <a:rPr lang="zh-CN" altLang="en-US" dirty="0"/>
              <a:t>单击此处编辑章节标题</a:t>
            </a:r>
          </a:p>
        </p:txBody>
      </p:sp>
      <p:sp>
        <p:nvSpPr>
          <p:cNvPr id="17" name="文本占位符 16"/>
          <p:cNvSpPr>
            <a:spLocks noGrp="1"/>
          </p:cNvSpPr>
          <p:nvPr>
            <p:ph type="body" sz="half" idx="25" hasCustomPrompt="1"/>
            <p:custDataLst>
              <p:tags r:id="rId2"/>
            </p:custDataLst>
          </p:nvPr>
        </p:nvSpPr>
        <p:spPr>
          <a:xfrm>
            <a:off x="73025" y="-208280"/>
            <a:ext cx="855345" cy="845820"/>
          </a:xfrm>
        </p:spPr>
        <p:txBody>
          <a:bodyPr vert="horz" lIns="101600" tIns="0" rIns="82550" bIns="0" rtlCol="0" anchor="ctr" anchorCtr="0">
            <a:noAutofit/>
          </a:bodyPr>
          <a:lstStyle>
            <a:lvl1pPr marL="0" marR="0" lvl="0" indent="0" algn="l" defTabSz="914400" rtl="0" eaLnBrk="1" fontAlgn="auto" latinLnBrk="0" hangingPunct="1">
              <a:lnSpc>
                <a:spcPct val="130000"/>
              </a:lnSpc>
              <a:spcBef>
                <a:spcPts val="0"/>
              </a:spcBef>
              <a:spcAft>
                <a:spcPts val="1000"/>
              </a:spcAft>
              <a:buFont typeface="Arial" panose="020B07060202020A0204" pitchFamily="34" charset="0"/>
              <a:buNone/>
              <a:defRPr kumimoji="0" lang="zh-CN" altLang="en-US" sz="3600" b="0" i="0" u="none" strike="noStrike" kern="0" cap="none" spc="0" normalizeH="0" baseline="0" noProof="1" dirty="0">
                <a:ln>
                  <a:noFill/>
                </a:ln>
                <a:solidFill>
                  <a:schemeClr val="bg1"/>
                </a:solidFill>
                <a:effectLst/>
                <a:uFillTx/>
                <a:latin typeface="Microsoft YaHei Regular" panose="020B0503020204020204" charset="-122"/>
                <a:ea typeface="Microsoft YaHei Regular" panose="020B0503020204020204" charset="-122"/>
                <a:cs typeface="Source Han Sans SC Medium" panose="020B0500000000000000" charset="-122"/>
                <a:sym typeface="+mn-ea"/>
              </a:defRPr>
            </a:lvl1pPr>
          </a:lstStyle>
          <a:p>
            <a:pPr lvl="0"/>
            <a:r>
              <a:rPr lang="en-US" altLang="zh-CN">
                <a:sym typeface="+mn-ea"/>
              </a:rPr>
              <a:t>01</a:t>
            </a:r>
          </a:p>
        </p:txBody>
      </p:sp>
      <p:pic>
        <p:nvPicPr>
          <p:cNvPr id="6" name="图片 5" descr="WechatIMG82"/>
          <p:cNvPicPr>
            <a:picLocks noChangeAspect="1"/>
          </p:cNvPicPr>
          <p:nvPr userDrawn="1">
            <p:custDataLst>
              <p:tags r:id="rId3"/>
            </p:custDataLst>
          </p:nvPr>
        </p:nvPicPr>
        <p:blipFill>
          <a:blip r:embed="rId9"/>
          <a:stretch>
            <a:fillRect/>
          </a:stretch>
        </p:blipFill>
        <p:spPr>
          <a:xfrm>
            <a:off x="10708640" y="50800"/>
            <a:ext cx="1394460" cy="507365"/>
          </a:xfrm>
          <a:prstGeom prst="rect">
            <a:avLst/>
          </a:prstGeom>
        </p:spPr>
      </p:pic>
      <p:sp>
        <p:nvSpPr>
          <p:cNvPr id="12" name="文本占位符 11"/>
          <p:cNvSpPr>
            <a:spLocks noGrp="1"/>
          </p:cNvSpPr>
          <p:nvPr>
            <p:ph type="body" sz="half" idx="2"/>
            <p:custDataLst>
              <p:tags r:id="rId4"/>
            </p:custDataLst>
          </p:nvPr>
        </p:nvSpPr>
        <p:spPr>
          <a:xfrm>
            <a:off x="1023620" y="1844675"/>
            <a:ext cx="9171305" cy="4150995"/>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7060202020A0204" pitchFamily="34" charset="0"/>
              <a:buChar char="•"/>
              <a:defRPr kumimoji="0" lang="zh-CN" altLang="en-US" sz="1800" b="0" i="0" u="none" strike="noStrike" kern="0" cap="none" spc="0" normalizeH="0" baseline="0" noProof="1" dirty="0">
                <a:ln>
                  <a:noFill/>
                </a:ln>
                <a:solidFill>
                  <a:schemeClr val="tx1"/>
                </a:solidFill>
                <a:effectLst/>
                <a:uFillTx/>
                <a:latin typeface="Microsoft YaHei Regular" panose="020B0503020204020204" charset="-122"/>
                <a:ea typeface="Microsoft YaHei Regular" panose="020B0503020204020204" charset="-122"/>
                <a:cs typeface="Source Han Sans SC Medium" panose="020B0500000000000000" charset="-122"/>
                <a:sym typeface="+mn-ea"/>
              </a:defRPr>
            </a:lvl1pPr>
          </a:lstStyle>
          <a:p>
            <a:pPr lvl="0"/>
            <a:r>
              <a:rPr>
                <a:sym typeface="+mn-ea"/>
              </a:rPr>
              <a:t>单击此处编辑母版文本样式</a:t>
            </a:r>
          </a:p>
        </p:txBody>
      </p:sp>
      <p:sp>
        <p:nvSpPr>
          <p:cNvPr id="23" name="作者和日期"/>
          <p:cNvSpPr txBox="1">
            <a:spLocks noGrp="1"/>
          </p:cNvSpPr>
          <p:nvPr>
            <p:ph type="body" sz="quarter" idx="23" hasCustomPrompt="1"/>
            <p:custDataLst>
              <p:tags r:id="rId5"/>
            </p:custDataLst>
          </p:nvPr>
        </p:nvSpPr>
        <p:spPr>
          <a:xfrm>
            <a:off x="154940" y="6588760"/>
            <a:ext cx="3949065" cy="220980"/>
          </a:xfrm>
          <a:prstGeom prst="rect">
            <a:avLst/>
          </a:prstGeom>
        </p:spPr>
        <p:txBody>
          <a:bodyPr lIns="45719" tIns="45719" rIns="45719" bIns="45719">
            <a:noAutofit/>
          </a:bodyPr>
          <a:lstStyle>
            <a:lvl1pPr marL="0" indent="0" algn="l" defTabSz="701675">
              <a:lnSpc>
                <a:spcPct val="100000"/>
              </a:lnSpc>
              <a:spcBef>
                <a:spcPct val="0"/>
              </a:spcBef>
              <a:buSzTx/>
              <a:buNone/>
              <a:defRPr kumimoji="0" sz="1200" b="1" i="0" u="none" strike="noStrike" kern="0" cap="none" spc="0" normalizeH="0" baseline="0" noProof="1">
                <a:ln>
                  <a:noFill/>
                </a:ln>
                <a:solidFill>
                  <a:schemeClr val="bg1"/>
                </a:solidFill>
                <a:effectLst/>
                <a:uFillTx/>
                <a:latin typeface="Source Han Sans SC" panose="020B0500000000000000" charset="-122"/>
                <a:ea typeface="Source Han Sans SC" panose="020B0500000000000000" charset="-122"/>
                <a:cs typeface="Source Han Sans SC" panose="020B0500000000000000" charset="-122"/>
              </a:defRPr>
            </a:lvl1pPr>
          </a:lstStyle>
          <a:p>
            <a:r>
              <a:t>作者和日期</a:t>
            </a:r>
          </a:p>
        </p:txBody>
      </p:sp>
      <p:sp>
        <p:nvSpPr>
          <p:cNvPr id="15" name="文本占位符 14"/>
          <p:cNvSpPr>
            <a:spLocks noGrp="1"/>
          </p:cNvSpPr>
          <p:nvPr>
            <p:ph type="body" sz="half" idx="24" hasCustomPrompt="1"/>
            <p:custDataLst>
              <p:tags r:id="rId6"/>
            </p:custDataLst>
          </p:nvPr>
        </p:nvSpPr>
        <p:spPr>
          <a:xfrm>
            <a:off x="880110" y="980440"/>
            <a:ext cx="5038090" cy="606425"/>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Clr>
                <a:srgbClr val="7030A0"/>
              </a:buClr>
              <a:buSzPct val="90000"/>
              <a:buFont typeface="Wingdings" panose="05000000000000000000" charset="0"/>
              <a:buChar char=""/>
              <a:defRPr kumimoji="0" lang="zh-CN" altLang="en-US" sz="2800" b="1" i="0" u="none" strike="noStrike" kern="0" cap="none" spc="0" normalizeH="0" baseline="0" noProof="1" dirty="0">
                <a:ln>
                  <a:noFill/>
                </a:ln>
                <a:solidFill>
                  <a:schemeClr val="tx1">
                    <a:lumMod val="50000"/>
                  </a:schemeClr>
                </a:solidFill>
                <a:effectLst/>
                <a:uFillTx/>
                <a:latin typeface="Microsoft YaHei Bold" panose="020B0503020204020204" charset="-122"/>
                <a:ea typeface="Microsoft YaHei Bold" panose="020B0503020204020204" charset="-122"/>
                <a:cs typeface="Source Han Sans SC Medium" panose="020B0500000000000000" charset="-122"/>
                <a:sym typeface="+mn-ea"/>
              </a:defRPr>
            </a:lvl1pPr>
          </a:lstStyle>
          <a:p>
            <a:pPr lvl="0"/>
            <a:r>
              <a:rPr lang="en-US" altLang="zh-CN">
                <a:sym typeface="+mn-ea"/>
              </a:rPr>
              <a:t> </a:t>
            </a:r>
            <a:r>
              <a:rPr>
                <a:sym typeface="+mn-ea"/>
              </a:rPr>
              <a:t>单击此处编辑内文标题</a:t>
            </a:r>
          </a:p>
        </p:txBody>
      </p:sp>
    </p:spTree>
    <p:extLst>
      <p:ext uri="{BB962C8B-B14F-4D97-AF65-F5344CB8AC3E}">
        <p14:creationId xmlns:p14="http://schemas.microsoft.com/office/powerpoint/2010/main" val="965702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pic>
        <p:nvPicPr>
          <p:cNvPr id="7" name="图片 6" descr="资源 10@4x-100"/>
          <p:cNvPicPr>
            <a:picLocks noChangeAspect="1"/>
          </p:cNvPicPr>
          <p:nvPr userDrawn="1"/>
        </p:nvPicPr>
        <p:blipFill>
          <a:blip r:embed="rId5"/>
          <a:stretch>
            <a:fillRect/>
          </a:stretch>
        </p:blipFill>
        <p:spPr>
          <a:xfrm>
            <a:off x="0" y="0"/>
            <a:ext cx="12192000" cy="6858000"/>
          </a:xfrm>
          <a:prstGeom prst="rect">
            <a:avLst/>
          </a:prstGeom>
        </p:spPr>
      </p:pic>
      <p:sp>
        <p:nvSpPr>
          <p:cNvPr id="2" name="演示文稿标题"/>
          <p:cNvSpPr txBox="1">
            <a:spLocks noGrp="1"/>
          </p:cNvSpPr>
          <p:nvPr>
            <p:ph type="title" hasCustomPrompt="1"/>
            <p:custDataLst>
              <p:tags r:id="rId1"/>
            </p:custDataLst>
          </p:nvPr>
        </p:nvSpPr>
        <p:spPr>
          <a:xfrm>
            <a:off x="688975" y="805180"/>
            <a:ext cx="9570720" cy="1576705"/>
          </a:xfrm>
          <a:prstGeom prst="rect">
            <a:avLst/>
          </a:prstGeom>
        </p:spPr>
        <p:txBody>
          <a:bodyPr anchor="b">
            <a:noAutofit/>
          </a:bodyPr>
          <a:lstStyle>
            <a:lvl1pPr marL="0" marR="0" lvl="0" algn="l" defTabSz="2438400" rtl="0" eaLnBrk="1" fontAlgn="auto" latinLnBrk="0" hangingPunct="0">
              <a:lnSpc>
                <a:spcPct val="100000"/>
              </a:lnSpc>
              <a:spcBef>
                <a:spcPts val="0"/>
              </a:spcBef>
              <a:spcAft>
                <a:spcPts val="0"/>
              </a:spcAft>
              <a:buClrTx/>
              <a:buSzTx/>
              <a:buFontTx/>
              <a:buNone/>
              <a:defRPr kumimoji="0" sz="9600" b="1" i="0" u="none" strike="noStrike" kern="0" cap="none" spc="300" normalizeH="0" baseline="0" noProof="1">
                <a:ln>
                  <a:noFill/>
                </a:ln>
                <a:solidFill>
                  <a:srgbClr val="FFFFFF"/>
                </a:solidFill>
                <a:effectLst/>
                <a:uFillTx/>
                <a:latin typeface="Microsoft YaHei Bold" panose="020B0503020204020204" charset="-122"/>
                <a:ea typeface="Microsoft YaHei Bold" panose="020B0503020204020204" charset="-122"/>
                <a:cs typeface="Source Han Sans SC" panose="020B0500000000000000" charset="-122"/>
              </a:defRPr>
            </a:lvl1pPr>
          </a:lstStyle>
          <a:p>
            <a:r>
              <a:rPr lang="en-US"/>
              <a:t>THANKS</a:t>
            </a:r>
          </a:p>
        </p:txBody>
      </p:sp>
      <p:sp>
        <p:nvSpPr>
          <p:cNvPr id="24" name="正文级别 1…"/>
          <p:cNvSpPr txBox="1">
            <a:spLocks noGrp="1"/>
          </p:cNvSpPr>
          <p:nvPr>
            <p:ph type="body" sz="quarter" idx="22" hasCustomPrompt="1"/>
            <p:custDataLst>
              <p:tags r:id="rId2"/>
            </p:custDataLst>
          </p:nvPr>
        </p:nvSpPr>
        <p:spPr>
          <a:xfrm>
            <a:off x="688658" y="2456180"/>
            <a:ext cx="7379970" cy="558165"/>
          </a:xfrm>
          <a:prstGeom prst="rect">
            <a:avLst/>
          </a:prstGeom>
        </p:spPr>
        <p:txBody>
          <a:bodyPr/>
          <a:lstStyle>
            <a:lvl1pPr marL="0" indent="0" algn="l" defTabSz="825500">
              <a:lnSpc>
                <a:spcPct val="100000"/>
              </a:lnSpc>
              <a:spcBef>
                <a:spcPct val="0"/>
              </a:spcBef>
              <a:buSzTx/>
              <a:buNone/>
              <a:defRPr kumimoji="0" sz="3300" b="0" i="0" u="none" strike="noStrike" kern="0" cap="none" spc="300" normalizeH="0" baseline="0" noProof="1">
                <a:ln>
                  <a:noFill/>
                </a:ln>
                <a:solidFill>
                  <a:srgbClr val="FFFFFF"/>
                </a:solidFill>
                <a:effectLst/>
                <a:uFillTx/>
                <a:latin typeface="Microsoft YaHei" panose="020B0503020204020204" charset="-122"/>
                <a:ea typeface="Microsoft YaHei Regular" panose="020B0503020204020204" charset="-122"/>
                <a:cs typeface="Source Han Sans SC Medium" panose="020B0500000000000000" charset="-122"/>
              </a:defRPr>
            </a:lvl1pPr>
            <a:lvl2pPr marL="0" indent="228600" algn="ctr" defTabSz="825500">
              <a:lnSpc>
                <a:spcPct val="100000"/>
              </a:lnSpc>
              <a:spcBef>
                <a:spcPct val="0"/>
              </a:spcBef>
              <a:buSzTx/>
              <a:buNone/>
              <a:defRPr sz="2750" b="1"/>
            </a:lvl2pPr>
            <a:lvl3pPr marL="0" indent="457200" algn="ctr" defTabSz="825500">
              <a:lnSpc>
                <a:spcPct val="100000"/>
              </a:lnSpc>
              <a:spcBef>
                <a:spcPct val="0"/>
              </a:spcBef>
              <a:buSzTx/>
              <a:buNone/>
              <a:defRPr sz="2750" b="1"/>
            </a:lvl3pPr>
            <a:lvl4pPr marL="0" indent="685800" algn="ctr" defTabSz="825500">
              <a:lnSpc>
                <a:spcPct val="100000"/>
              </a:lnSpc>
              <a:spcBef>
                <a:spcPct val="0"/>
              </a:spcBef>
              <a:buSzTx/>
              <a:buNone/>
              <a:defRPr sz="2750" b="1"/>
            </a:lvl4pPr>
            <a:lvl5pPr marL="0" indent="914400" defTabSz="825500">
              <a:lnSpc>
                <a:spcPct val="100000"/>
              </a:lnSpc>
              <a:spcBef>
                <a:spcPct val="0"/>
              </a:spcBef>
              <a:buSzTx/>
              <a:buNone/>
              <a:defRPr sz="2750" b="1"/>
            </a:lvl5pPr>
          </a:lstStyle>
          <a:p>
            <a:r>
              <a:rPr lang="zh-CN"/>
              <a:t>感谢</a:t>
            </a:r>
          </a:p>
        </p:txBody>
      </p:sp>
      <p:pic>
        <p:nvPicPr>
          <p:cNvPr id="156" name="图像" descr="图像"/>
          <p:cNvPicPr>
            <a:picLocks noChangeAspect="1"/>
          </p:cNvPicPr>
          <p:nvPr userDrawn="1">
            <p:custDataLst>
              <p:tags r:id="rId3"/>
            </p:custDataLst>
          </p:nvPr>
        </p:nvPicPr>
        <p:blipFill>
          <a:blip r:embed="rId6"/>
          <a:stretch>
            <a:fillRect/>
          </a:stretch>
        </p:blipFill>
        <p:spPr>
          <a:xfrm>
            <a:off x="9905365" y="5798185"/>
            <a:ext cx="1778000" cy="593090"/>
          </a:xfrm>
          <a:prstGeom prst="rect">
            <a:avLst/>
          </a:prstGeom>
          <a:ln w="12700">
            <a:miter lim="400000"/>
            <a:headEnd/>
            <a:tailEnd/>
          </a:ln>
        </p:spPr>
      </p:pic>
    </p:spTree>
    <p:extLst>
      <p:ext uri="{BB962C8B-B14F-4D97-AF65-F5344CB8AC3E}">
        <p14:creationId xmlns:p14="http://schemas.microsoft.com/office/powerpoint/2010/main" val="2191930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EA3B1CD-E7D7-400B-B86D-57DA50C169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78BB0B6-D2E7-1ED2-DA07-2090867C74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3A0C0F7-A36C-473F-AD8D-0CBDABA48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358D9C-4AAF-9549-8F52-DB6B4BEA2B93}" type="datetimeFigureOut">
              <a:rPr kumimoji="1" lang="zh-CN" altLang="en-US" smtClean="0"/>
              <a:t>2026/9/5</a:t>
            </a:fld>
            <a:endParaRPr kumimoji="1" lang="zh-CN" altLang="en-US"/>
          </a:p>
        </p:txBody>
      </p:sp>
      <p:sp>
        <p:nvSpPr>
          <p:cNvPr id="5" name="页脚占位符 4">
            <a:extLst>
              <a:ext uri="{FF2B5EF4-FFF2-40B4-BE49-F238E27FC236}">
                <a16:creationId xmlns:a16="http://schemas.microsoft.com/office/drawing/2014/main" id="{845D84FD-E82F-541E-8CB4-94A2EF0299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AE4500F7-1133-4319-52EF-02D8F6897E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9EC0DB-E92E-304A-86CA-AD83720858CF}" type="slidenum">
              <a:rPr kumimoji="1" lang="zh-CN" altLang="en-US" smtClean="0"/>
              <a:t>‹#›</a:t>
            </a:fld>
            <a:endParaRPr kumimoji="1" lang="zh-CN" altLang="en-US"/>
          </a:p>
        </p:txBody>
      </p:sp>
    </p:spTree>
    <p:extLst>
      <p:ext uri="{BB962C8B-B14F-4D97-AF65-F5344CB8AC3E}">
        <p14:creationId xmlns:p14="http://schemas.microsoft.com/office/powerpoint/2010/main" val="2622247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ZhiyuanSue/RendezvOS/blob/master/docs/lockfree-ipc.md" TargetMode="Externa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ithub.com/ZhiyuanSue/RendezvOS" TargetMode="Externa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ZhiyuanSue/RendezvOS_Linux" TargetMode="Externa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22"/>
          </p:nvPr>
        </p:nvSpPr>
        <p:spPr/>
        <p:txBody>
          <a:bodyPr>
            <a:normAutofit fontScale="62500" lnSpcReduction="20000"/>
          </a:bodyPr>
          <a:lstStyle/>
          <a:p>
            <a:r>
              <a:rPr lang="en-US" altLang="zh-CN" dirty="0" err="1"/>
              <a:t>RendezvOS</a:t>
            </a:r>
            <a:r>
              <a:rPr lang="en-US" altLang="zh-CN" dirty="0"/>
              <a:t> </a:t>
            </a:r>
            <a:r>
              <a:rPr lang="en-US" altLang="zh-CN" dirty="0" err="1"/>
              <a:t>core+AI</a:t>
            </a:r>
            <a:r>
              <a:rPr lang="zh-CN" altLang="en-US" dirty="0"/>
              <a:t>生成的</a:t>
            </a:r>
            <a:r>
              <a:rPr lang="en-US" altLang="zh-CN" dirty="0"/>
              <a:t>Linux</a:t>
            </a:r>
            <a:r>
              <a:rPr lang="zh-CN" altLang="en-US" dirty="0"/>
              <a:t>兼容层进展汇报</a:t>
            </a:r>
          </a:p>
        </p:txBody>
      </p:sp>
      <p:sp>
        <p:nvSpPr>
          <p:cNvPr id="3" name="文本占位符 2"/>
          <p:cNvSpPr>
            <a:spLocks noGrp="1"/>
          </p:cNvSpPr>
          <p:nvPr>
            <p:ph type="body" sz="quarter" idx="23"/>
          </p:nvPr>
        </p:nvSpPr>
        <p:spPr>
          <a:xfrm>
            <a:off x="605790" y="5805170"/>
            <a:ext cx="2137410" cy="318770"/>
          </a:xfrm>
        </p:spPr>
        <p:txBody>
          <a:bodyPr/>
          <a:lstStyle/>
          <a:p>
            <a:r>
              <a:rPr lang="zh-CN" altLang="en-US" dirty="0"/>
              <a:t>指导老师：陈渝</a:t>
            </a:r>
            <a:r>
              <a:rPr lang="en-US" altLang="zh-CN" dirty="0"/>
              <a:t>/</a:t>
            </a:r>
            <a:r>
              <a:rPr lang="zh-CN" altLang="en-US" dirty="0"/>
              <a:t>向勇</a:t>
            </a:r>
          </a:p>
        </p:txBody>
      </p:sp>
      <p:sp>
        <p:nvSpPr>
          <p:cNvPr id="4" name="标题 3"/>
          <p:cNvSpPr>
            <a:spLocks noGrp="1"/>
          </p:cNvSpPr>
          <p:nvPr>
            <p:ph type="title"/>
          </p:nvPr>
        </p:nvSpPr>
        <p:spPr>
          <a:xfrm>
            <a:off x="604520" y="1483995"/>
            <a:ext cx="10551160" cy="1003935"/>
          </a:xfrm>
        </p:spPr>
        <p:txBody>
          <a:bodyPr>
            <a:normAutofit fontScale="90000"/>
          </a:bodyPr>
          <a:lstStyle/>
          <a:p>
            <a:r>
              <a:rPr lang="zh-CN" altLang="en-US" dirty="0"/>
              <a:t>面向</a:t>
            </a:r>
            <a:r>
              <a:rPr lang="en-US" altLang="zh-CN" dirty="0"/>
              <a:t>AI</a:t>
            </a:r>
            <a:r>
              <a:rPr lang="zh-CN" altLang="en-US" dirty="0"/>
              <a:t>生成内核的操作系统协作框架</a:t>
            </a:r>
          </a:p>
        </p:txBody>
      </p:sp>
      <p:sp>
        <p:nvSpPr>
          <p:cNvPr id="7" name="文本占位符 2">
            <a:extLst>
              <a:ext uri="{FF2B5EF4-FFF2-40B4-BE49-F238E27FC236}">
                <a16:creationId xmlns:a16="http://schemas.microsoft.com/office/drawing/2014/main" id="{D26F076C-28EA-C818-F658-A59B97FBA42D}"/>
              </a:ext>
            </a:extLst>
          </p:cNvPr>
          <p:cNvSpPr txBox="1">
            <a:spLocks/>
          </p:cNvSpPr>
          <p:nvPr/>
        </p:nvSpPr>
        <p:spPr>
          <a:xfrm>
            <a:off x="604520" y="5374005"/>
            <a:ext cx="1771650" cy="318770"/>
          </a:xfrm>
          <a:prstGeom prst="rect">
            <a:avLst/>
          </a:prstGeom>
        </p:spPr>
        <p:txBody>
          <a:bodyPr vert="horz" lIns="45719" tIns="45719" rIns="45719" bIns="45719" rtlCol="0">
            <a:noAutofit/>
          </a:bodyPr>
          <a:lstStyle>
            <a:lvl1pPr marL="0" indent="0" algn="l" defTabSz="701675" rtl="0" eaLnBrk="1" latinLnBrk="0" hangingPunct="1">
              <a:lnSpc>
                <a:spcPct val="100000"/>
              </a:lnSpc>
              <a:spcBef>
                <a:spcPct val="0"/>
              </a:spcBef>
              <a:buSzTx/>
              <a:buFont typeface="Arial" panose="020B0604020202020204" pitchFamily="34" charset="0"/>
              <a:buNone/>
              <a:defRPr kumimoji="0" sz="1600" b="0" i="0" u="none" strike="noStrike" kern="0" cap="none" spc="0" normalizeH="0" baseline="0" noProof="1">
                <a:ln>
                  <a:noFill/>
                </a:ln>
                <a:solidFill>
                  <a:srgbClr val="FFFFFF"/>
                </a:solidFill>
                <a:effectLst/>
                <a:uFillTx/>
                <a:latin typeface="Microsoft YaHei Regular" panose="020B0503020204020204" charset="-122"/>
                <a:ea typeface="Microsoft YaHei Regular" panose="020B0503020204020204" charset="-122"/>
                <a:cs typeface="Source Han Sans SC Medium"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朱懿</a:t>
            </a:r>
            <a:fld id="{E5FDF77E-5E80-5B40-98BA-38296CCA2B90}" type="datetime1">
              <a:rPr lang="zh-CN" altLang="en-US" smtClean="0"/>
              <a:pPr/>
              <a:t>2026/9/5</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资源 6@4x-100"/>
          <p:cNvPicPr>
            <a:picLocks noChangeAspect="1"/>
          </p:cNvPicPr>
          <p:nvPr/>
        </p:nvPicPr>
        <p:blipFill>
          <a:blip r:embed="rId2"/>
          <a:stretch>
            <a:fillRect/>
          </a:stretch>
        </p:blipFill>
        <p:spPr>
          <a:xfrm>
            <a:off x="-5080" y="0"/>
            <a:ext cx="12202160" cy="6892290"/>
          </a:xfrm>
          <a:prstGeom prst="rect">
            <a:avLst/>
          </a:prstGeom>
        </p:spPr>
      </p:pic>
      <p:sp>
        <p:nvSpPr>
          <p:cNvPr id="152" name="清华大学活动主题大标题"/>
          <p:cNvSpPr txBox="1"/>
          <p:nvPr/>
        </p:nvSpPr>
        <p:spPr>
          <a:xfrm>
            <a:off x="1065341" y="1878715"/>
            <a:ext cx="864870" cy="901700"/>
          </a:xfrm>
          <a:prstGeom prst="rect">
            <a:avLst/>
          </a:prstGeom>
          <a:ln w="12700">
            <a:miter lim="400000"/>
          </a:ln>
        </p:spPr>
        <p:txBody>
          <a:bodyPr wrap="none" lIns="50800" tIns="50800" rIns="50800" bIns="50800" anchor="ctr">
            <a:spAutoFit/>
          </a:bodyPr>
          <a:lstStyle>
            <a:lvl1pPr>
              <a:defRPr sz="9800" b="1">
                <a:solidFill>
                  <a:srgbClr val="FFFFFF"/>
                </a:solidFill>
                <a:latin typeface="Source Han Sans SC" panose="020B0500000000000000" charset="-122"/>
                <a:ea typeface="Source Han Sans SC" panose="020B0500000000000000" charset="-122"/>
                <a:cs typeface="Source Han Sans SC" panose="020B0500000000000000" charset="-122"/>
                <a:sym typeface="Source Han Sans SC" panose="020B0500000000000000" charset="-122"/>
              </a:defRPr>
            </a:lvl1pPr>
          </a:lstStyle>
          <a:p>
            <a:r>
              <a:rPr lang="en-US" sz="5200" spc="-200">
                <a:solidFill>
                  <a:srgbClr val="FFFFFF"/>
                </a:solidFill>
                <a:uFillTx/>
                <a:latin typeface="Microsoft YaHei Bold" panose="020B0503020204020204" charset="-122"/>
                <a:ea typeface="Microsoft YaHei Bold" panose="020B0503020204020204" charset="-122"/>
              </a:rPr>
              <a:t>01</a:t>
            </a:r>
          </a:p>
        </p:txBody>
      </p:sp>
      <p:sp>
        <p:nvSpPr>
          <p:cNvPr id="153" name="副标题文字副标题文字副标题文字"/>
          <p:cNvSpPr txBox="1"/>
          <p:nvPr/>
        </p:nvSpPr>
        <p:spPr>
          <a:xfrm>
            <a:off x="1940361" y="2073927"/>
            <a:ext cx="2077492" cy="410369"/>
          </a:xfrm>
          <a:prstGeom prst="rect">
            <a:avLst/>
          </a:prstGeom>
          <a:ln w="12700">
            <a:miter lim="400000"/>
          </a:ln>
        </p:spPr>
        <p:txBody>
          <a:bodyPr wrap="none" lIns="50800" tIns="50800" rIns="50800" bIns="50800" anchor="ctr">
            <a:spAutoFit/>
          </a:bodyPr>
          <a:lstStyle>
            <a:lvl1pPr>
              <a:defRPr sz="5000">
                <a:solidFill>
                  <a:srgbClr val="FFFFFF"/>
                </a:solidFill>
                <a:latin typeface="Source Han Sans SC Medium" panose="020B0500000000000000" charset="-122"/>
                <a:ea typeface="Source Han Sans SC Medium" panose="020B0500000000000000" charset="-122"/>
                <a:cs typeface="Source Han Sans SC Medium" panose="020B0500000000000000" charset="-122"/>
                <a:sym typeface="Source Han Sans SC Medium" panose="020B0500000000000000" charset="-122"/>
              </a:defRPr>
            </a:lvl1pPr>
          </a:lstStyle>
          <a:p>
            <a:r>
              <a:rPr lang="zh-CN" altLang="en-US" sz="2000" b="1" spc="200" dirty="0">
                <a:solidFill>
                  <a:srgbClr val="FFFFFF"/>
                </a:solidFill>
                <a:uFillTx/>
                <a:latin typeface="Microsoft YaHei Bold" panose="020B0503020204020204" charset="-122"/>
                <a:ea typeface="Microsoft YaHei Bold" panose="020B0503020204020204" charset="-122"/>
              </a:rPr>
              <a:t>设计目的和思路</a:t>
            </a:r>
            <a:endParaRPr lang="zh-CN" sz="2000" b="1" spc="200" dirty="0">
              <a:solidFill>
                <a:srgbClr val="FFFFFF"/>
              </a:solidFill>
              <a:uFillTx/>
              <a:latin typeface="Microsoft YaHei Bold" panose="020B0503020204020204" charset="-122"/>
              <a:ea typeface="Microsoft YaHei Bold" panose="020B0503020204020204" charset="-122"/>
            </a:endParaRPr>
          </a:p>
        </p:txBody>
      </p:sp>
      <p:sp>
        <p:nvSpPr>
          <p:cNvPr id="7" name="清华大学活动主题大标题"/>
          <p:cNvSpPr txBox="1"/>
          <p:nvPr/>
        </p:nvSpPr>
        <p:spPr>
          <a:xfrm>
            <a:off x="1062166" y="3312545"/>
            <a:ext cx="864870" cy="901700"/>
          </a:xfrm>
          <a:prstGeom prst="rect">
            <a:avLst/>
          </a:prstGeom>
          <a:ln w="12700">
            <a:miter lim="400000"/>
          </a:ln>
        </p:spPr>
        <p:txBody>
          <a:bodyPr wrap="none" lIns="50800" tIns="50800" rIns="50800" bIns="50800" anchor="ctr">
            <a:spAutoFit/>
          </a:bodyPr>
          <a:lstStyle>
            <a:lvl1pPr>
              <a:defRPr sz="9800" b="1">
                <a:solidFill>
                  <a:srgbClr val="FFFFFF"/>
                </a:solidFill>
                <a:latin typeface="Source Han Sans SC" panose="020B0500000000000000" charset="-122"/>
                <a:ea typeface="Source Han Sans SC" panose="020B0500000000000000" charset="-122"/>
                <a:cs typeface="Source Han Sans SC" panose="020B0500000000000000" charset="-122"/>
                <a:sym typeface="Source Han Sans SC" panose="020B0500000000000000" charset="-122"/>
              </a:defRPr>
            </a:lvl1pPr>
          </a:lstStyle>
          <a:p>
            <a:r>
              <a:rPr lang="en-US" sz="5200" spc="-200">
                <a:solidFill>
                  <a:srgbClr val="FFFFFF"/>
                </a:solidFill>
                <a:uFillTx/>
                <a:latin typeface="Microsoft YaHei Bold" panose="020B0503020204020204" charset="-122"/>
                <a:ea typeface="Microsoft YaHei Bold" panose="020B0503020204020204" charset="-122"/>
              </a:rPr>
              <a:t>02</a:t>
            </a:r>
          </a:p>
        </p:txBody>
      </p:sp>
      <p:sp>
        <p:nvSpPr>
          <p:cNvPr id="8" name="副标题文字副标题文字副标题文字"/>
          <p:cNvSpPr txBox="1"/>
          <p:nvPr/>
        </p:nvSpPr>
        <p:spPr>
          <a:xfrm>
            <a:off x="1937186" y="3507757"/>
            <a:ext cx="2359620" cy="410369"/>
          </a:xfrm>
          <a:prstGeom prst="rect">
            <a:avLst/>
          </a:prstGeom>
          <a:ln w="12700">
            <a:miter lim="400000"/>
          </a:ln>
        </p:spPr>
        <p:txBody>
          <a:bodyPr wrap="none" lIns="50800" tIns="50800" rIns="50800" bIns="50800" anchor="ctr">
            <a:spAutoFit/>
          </a:bodyPr>
          <a:lstStyle>
            <a:lvl1pPr>
              <a:defRPr sz="5000">
                <a:solidFill>
                  <a:srgbClr val="FFFFFF"/>
                </a:solidFill>
                <a:latin typeface="Source Han Sans SC Medium" panose="020B0500000000000000" charset="-122"/>
                <a:ea typeface="Source Han Sans SC Medium" panose="020B0500000000000000" charset="-122"/>
                <a:cs typeface="Source Han Sans SC Medium" panose="020B0500000000000000" charset="-122"/>
                <a:sym typeface="Source Han Sans SC Medium" panose="020B0500000000000000" charset="-122"/>
              </a:defRPr>
            </a:lvl1pPr>
          </a:lstStyle>
          <a:p>
            <a:r>
              <a:rPr lang="zh-CN" altLang="en-US" sz="2000" b="1" spc="200" dirty="0">
                <a:latin typeface="Microsoft YaHei Bold" panose="020B0503020204020204" charset="-122"/>
                <a:ea typeface="Microsoft YaHei Bold" panose="020B0503020204020204" charset="-122"/>
              </a:rPr>
              <a:t>内核框架关键机制</a:t>
            </a:r>
            <a:endParaRPr lang="zh-CN" sz="2000" b="1" spc="200" dirty="0">
              <a:solidFill>
                <a:srgbClr val="FFFFFF"/>
              </a:solidFill>
              <a:uFillTx/>
              <a:latin typeface="Microsoft YaHei Bold" panose="020B0503020204020204" charset="-122"/>
              <a:ea typeface="Microsoft YaHei Bold" panose="020B0503020204020204" charset="-122"/>
            </a:endParaRPr>
          </a:p>
        </p:txBody>
      </p:sp>
      <p:sp>
        <p:nvSpPr>
          <p:cNvPr id="10" name="清华大学活动主题大标题"/>
          <p:cNvSpPr txBox="1"/>
          <p:nvPr/>
        </p:nvSpPr>
        <p:spPr>
          <a:xfrm>
            <a:off x="1062166" y="4752090"/>
            <a:ext cx="864870" cy="901700"/>
          </a:xfrm>
          <a:prstGeom prst="rect">
            <a:avLst/>
          </a:prstGeom>
          <a:ln w="12700">
            <a:miter lim="400000"/>
          </a:ln>
        </p:spPr>
        <p:txBody>
          <a:bodyPr wrap="none" lIns="50800" tIns="50800" rIns="50800" bIns="50800" anchor="ctr">
            <a:spAutoFit/>
          </a:bodyPr>
          <a:lstStyle>
            <a:lvl1pPr>
              <a:defRPr sz="9800" b="1">
                <a:solidFill>
                  <a:srgbClr val="FFFFFF"/>
                </a:solidFill>
                <a:latin typeface="Source Han Sans SC" panose="020B0500000000000000" charset="-122"/>
                <a:ea typeface="Source Han Sans SC" panose="020B0500000000000000" charset="-122"/>
                <a:cs typeface="Source Han Sans SC" panose="020B0500000000000000" charset="-122"/>
                <a:sym typeface="Source Han Sans SC" panose="020B0500000000000000" charset="-122"/>
              </a:defRPr>
            </a:lvl1pPr>
          </a:lstStyle>
          <a:p>
            <a:r>
              <a:rPr lang="en-US" sz="5200" spc="-200">
                <a:solidFill>
                  <a:srgbClr val="FFFFFF"/>
                </a:solidFill>
                <a:uFillTx/>
                <a:latin typeface="Microsoft YaHei Bold" panose="020B0503020204020204" charset="-122"/>
                <a:ea typeface="Microsoft YaHei Bold" panose="020B0503020204020204" charset="-122"/>
              </a:rPr>
              <a:t>03</a:t>
            </a:r>
          </a:p>
        </p:txBody>
      </p:sp>
      <p:sp>
        <p:nvSpPr>
          <p:cNvPr id="11" name="副标题文字副标题文字副标题文字"/>
          <p:cNvSpPr txBox="1"/>
          <p:nvPr/>
        </p:nvSpPr>
        <p:spPr>
          <a:xfrm>
            <a:off x="1937186" y="4793414"/>
            <a:ext cx="3079135" cy="718145"/>
          </a:xfrm>
          <a:prstGeom prst="rect">
            <a:avLst/>
          </a:prstGeom>
          <a:ln w="12700">
            <a:miter lim="400000"/>
          </a:ln>
        </p:spPr>
        <p:txBody>
          <a:bodyPr wrap="square" lIns="50800" tIns="50800" rIns="50800" bIns="50800" anchor="ctr">
            <a:spAutoFit/>
          </a:bodyPr>
          <a:lstStyle>
            <a:lvl1pPr>
              <a:defRPr sz="5000">
                <a:solidFill>
                  <a:srgbClr val="FFFFFF"/>
                </a:solidFill>
                <a:latin typeface="Source Han Sans SC Medium" panose="020B0500000000000000" charset="-122"/>
                <a:ea typeface="Source Han Sans SC Medium" panose="020B0500000000000000" charset="-122"/>
                <a:cs typeface="Source Han Sans SC Medium" panose="020B0500000000000000" charset="-122"/>
                <a:sym typeface="Source Han Sans SC Medium" panose="020B0500000000000000" charset="-122"/>
              </a:defRPr>
            </a:lvl1pPr>
          </a:lstStyle>
          <a:p>
            <a:r>
              <a:rPr lang="zh-CN" altLang="en-US" sz="2000" b="1" spc="200" dirty="0">
                <a:latin typeface="Microsoft YaHei Bold" panose="020B0503020204020204" charset="-122"/>
                <a:ea typeface="Microsoft YaHei Bold" panose="020B0503020204020204" charset="-122"/>
              </a:rPr>
              <a:t>协议式兼容层生成</a:t>
            </a:r>
            <a:r>
              <a:rPr lang="en-US" altLang="zh-CN" sz="2000" b="1" spc="200" dirty="0">
                <a:latin typeface="Microsoft YaHei Bold" panose="020B0503020204020204" charset="-122"/>
                <a:ea typeface="Microsoft YaHei Bold" panose="020B0503020204020204" charset="-122"/>
              </a:rPr>
              <a:t>/</a:t>
            </a:r>
            <a:r>
              <a:rPr lang="zh-CN" altLang="en-US" sz="2000" b="1" spc="200" dirty="0">
                <a:latin typeface="Microsoft YaHei Bold" panose="020B0503020204020204" charset="-122"/>
                <a:ea typeface="Microsoft YaHei Bold" panose="020B0503020204020204" charset="-122"/>
              </a:rPr>
              <a:t>迭代式演进</a:t>
            </a:r>
            <a:r>
              <a:rPr lang="en-US" altLang="zh-CN" sz="2000" b="1" spc="200" dirty="0">
                <a:latin typeface="Microsoft YaHei Bold" panose="020B0503020204020204" charset="-122"/>
                <a:ea typeface="Microsoft YaHei Bold" panose="020B0503020204020204" charset="-122"/>
              </a:rPr>
              <a:t>/</a:t>
            </a:r>
            <a:r>
              <a:rPr lang="zh-CN" altLang="en-US" sz="2000" b="1" spc="200" dirty="0">
                <a:latin typeface="Microsoft YaHei Bold" panose="020B0503020204020204" charset="-122"/>
                <a:ea typeface="Microsoft YaHei Bold" panose="020B0503020204020204" charset="-122"/>
              </a:rPr>
              <a:t>测例驱动式验证</a:t>
            </a:r>
            <a:endParaRPr lang="zh-CN" sz="2000" b="1" spc="200" dirty="0">
              <a:solidFill>
                <a:srgbClr val="FFFFFF"/>
              </a:solidFill>
              <a:uFillTx/>
              <a:latin typeface="Microsoft YaHei Bold" panose="020B0503020204020204" charset="-122"/>
              <a:ea typeface="Microsoft YaHei Bold" panose="020B0503020204020204" charset="-122"/>
            </a:endParaRPr>
          </a:p>
        </p:txBody>
      </p:sp>
      <p:sp>
        <p:nvSpPr>
          <p:cNvPr id="2" name="清华大学活动主题大标题"/>
          <p:cNvSpPr txBox="1"/>
          <p:nvPr/>
        </p:nvSpPr>
        <p:spPr>
          <a:xfrm>
            <a:off x="6231066" y="1878715"/>
            <a:ext cx="864870" cy="901700"/>
          </a:xfrm>
          <a:prstGeom prst="rect">
            <a:avLst/>
          </a:prstGeom>
          <a:ln w="12700">
            <a:miter lim="400000"/>
          </a:ln>
        </p:spPr>
        <p:txBody>
          <a:bodyPr wrap="none" lIns="50800" tIns="50800" rIns="50800" bIns="50800" anchor="ctr">
            <a:spAutoFit/>
          </a:bodyPr>
          <a:lstStyle>
            <a:lvl1pPr>
              <a:defRPr sz="9800" b="1">
                <a:solidFill>
                  <a:srgbClr val="FFFFFF"/>
                </a:solidFill>
                <a:latin typeface="Source Han Sans SC" panose="020B0500000000000000" charset="-122"/>
                <a:ea typeface="Source Han Sans SC" panose="020B0500000000000000" charset="-122"/>
                <a:cs typeface="Source Han Sans SC" panose="020B0500000000000000" charset="-122"/>
                <a:sym typeface="Source Han Sans SC" panose="020B0500000000000000" charset="-122"/>
              </a:defRPr>
            </a:lvl1pPr>
          </a:lstStyle>
          <a:p>
            <a:r>
              <a:rPr lang="en-US" sz="5200" spc="-200">
                <a:solidFill>
                  <a:srgbClr val="FFFFFF"/>
                </a:solidFill>
                <a:uFillTx/>
                <a:latin typeface="Microsoft YaHei Bold" panose="020B0503020204020204" charset="-122"/>
                <a:ea typeface="Microsoft YaHei Bold" panose="020B0503020204020204" charset="-122"/>
              </a:rPr>
              <a:t>04</a:t>
            </a:r>
          </a:p>
        </p:txBody>
      </p:sp>
      <p:sp>
        <p:nvSpPr>
          <p:cNvPr id="3" name="副标题文字副标题文字副标题文字"/>
          <p:cNvSpPr txBox="1"/>
          <p:nvPr/>
        </p:nvSpPr>
        <p:spPr>
          <a:xfrm>
            <a:off x="7088306" y="2073927"/>
            <a:ext cx="666849" cy="410369"/>
          </a:xfrm>
          <a:prstGeom prst="rect">
            <a:avLst/>
          </a:prstGeom>
          <a:ln w="12700">
            <a:miter lim="400000"/>
          </a:ln>
        </p:spPr>
        <p:txBody>
          <a:bodyPr wrap="none" lIns="50800" tIns="50800" rIns="50800" bIns="50800" anchor="ctr">
            <a:spAutoFit/>
          </a:bodyPr>
          <a:lstStyle>
            <a:lvl1pPr>
              <a:defRPr sz="5000">
                <a:solidFill>
                  <a:srgbClr val="FFFFFF"/>
                </a:solidFill>
                <a:latin typeface="Source Han Sans SC Medium" panose="020B0500000000000000" charset="-122"/>
                <a:ea typeface="Source Han Sans SC Medium" panose="020B0500000000000000" charset="-122"/>
                <a:cs typeface="Source Han Sans SC Medium" panose="020B0500000000000000" charset="-122"/>
                <a:sym typeface="Source Han Sans SC Medium" panose="020B0500000000000000" charset="-122"/>
              </a:defRPr>
            </a:lvl1pPr>
          </a:lstStyle>
          <a:p>
            <a:r>
              <a:rPr lang="zh-CN" altLang="en-US" sz="2000" b="1" spc="200" dirty="0">
                <a:latin typeface="Microsoft YaHei Bold" panose="020B0503020204020204" charset="-122"/>
                <a:ea typeface="Microsoft YaHei Bold" panose="020B0503020204020204" charset="-122"/>
              </a:rPr>
              <a:t>进展</a:t>
            </a:r>
            <a:endParaRPr lang="zh-CN" sz="2000" b="1" spc="200" dirty="0">
              <a:solidFill>
                <a:srgbClr val="FFFFFF"/>
              </a:solidFill>
              <a:uFillTx/>
              <a:latin typeface="Microsoft YaHei Bold" panose="020B0503020204020204" charset="-122"/>
              <a:ea typeface="Microsoft YaHei Bold" panose="020B0503020204020204" charset="-122"/>
            </a:endParaRPr>
          </a:p>
        </p:txBody>
      </p:sp>
      <p:sp>
        <p:nvSpPr>
          <p:cNvPr id="13" name="清华大学活动主题大标题"/>
          <p:cNvSpPr txBox="1"/>
          <p:nvPr/>
        </p:nvSpPr>
        <p:spPr>
          <a:xfrm>
            <a:off x="6227891" y="3312545"/>
            <a:ext cx="864870" cy="901700"/>
          </a:xfrm>
          <a:prstGeom prst="rect">
            <a:avLst/>
          </a:prstGeom>
          <a:ln w="12700">
            <a:miter lim="400000"/>
          </a:ln>
        </p:spPr>
        <p:txBody>
          <a:bodyPr wrap="none" lIns="50800" tIns="50800" rIns="50800" bIns="50800" anchor="ctr">
            <a:spAutoFit/>
          </a:bodyPr>
          <a:lstStyle>
            <a:lvl1pPr>
              <a:defRPr sz="9800" b="1">
                <a:solidFill>
                  <a:srgbClr val="FFFFFF"/>
                </a:solidFill>
                <a:latin typeface="Source Han Sans SC" panose="020B0500000000000000" charset="-122"/>
                <a:ea typeface="Source Han Sans SC" panose="020B0500000000000000" charset="-122"/>
                <a:cs typeface="Source Han Sans SC" panose="020B0500000000000000" charset="-122"/>
                <a:sym typeface="Source Han Sans SC" panose="020B0500000000000000" charset="-122"/>
              </a:defRPr>
            </a:lvl1pPr>
          </a:lstStyle>
          <a:p>
            <a:r>
              <a:rPr lang="en-US" sz="5200" spc="-200">
                <a:solidFill>
                  <a:srgbClr val="FFFFFF"/>
                </a:solidFill>
                <a:uFillTx/>
                <a:latin typeface="Microsoft YaHei Bold" panose="020B0503020204020204" charset="-122"/>
                <a:ea typeface="Microsoft YaHei Bold" panose="020B0503020204020204" charset="-122"/>
              </a:rPr>
              <a:t>05</a:t>
            </a:r>
          </a:p>
        </p:txBody>
      </p:sp>
      <p:sp>
        <p:nvSpPr>
          <p:cNvPr id="14" name="副标题文字副标题文字副标题文字"/>
          <p:cNvSpPr txBox="1"/>
          <p:nvPr/>
        </p:nvSpPr>
        <p:spPr>
          <a:xfrm>
            <a:off x="7085131" y="3507757"/>
            <a:ext cx="1231106" cy="410369"/>
          </a:xfrm>
          <a:prstGeom prst="rect">
            <a:avLst/>
          </a:prstGeom>
          <a:ln w="12700">
            <a:miter lim="400000"/>
          </a:ln>
        </p:spPr>
        <p:txBody>
          <a:bodyPr wrap="none" lIns="50800" tIns="50800" rIns="50800" bIns="50800" anchor="ctr">
            <a:spAutoFit/>
          </a:bodyPr>
          <a:lstStyle>
            <a:lvl1pPr>
              <a:defRPr sz="5000">
                <a:solidFill>
                  <a:srgbClr val="FFFFFF"/>
                </a:solidFill>
                <a:latin typeface="Source Han Sans SC Medium" panose="020B0500000000000000" charset="-122"/>
                <a:ea typeface="Source Han Sans SC Medium" panose="020B0500000000000000" charset="-122"/>
                <a:cs typeface="Source Han Sans SC Medium" panose="020B0500000000000000" charset="-122"/>
                <a:sym typeface="Source Han Sans SC Medium" panose="020B0500000000000000" charset="-122"/>
              </a:defRPr>
            </a:lvl1pPr>
          </a:lstStyle>
          <a:p>
            <a:r>
              <a:rPr lang="zh-CN" altLang="en-US" sz="2000" b="1" spc="200" dirty="0">
                <a:latin typeface="Microsoft YaHei Bold" panose="020B0503020204020204" charset="-122"/>
                <a:ea typeface="Microsoft YaHei Bold" panose="020B0503020204020204" charset="-122"/>
              </a:rPr>
              <a:t>实验设计</a:t>
            </a:r>
            <a:endParaRPr lang="zh-CN" sz="2000" b="1" spc="200" dirty="0">
              <a:solidFill>
                <a:srgbClr val="FFFFFF"/>
              </a:solidFill>
              <a:uFillTx/>
              <a:latin typeface="Microsoft YaHei Bold" panose="020B0503020204020204" charset="-122"/>
              <a:ea typeface="Microsoft YaHei Bold" panose="020B0503020204020204" charset="-122"/>
            </a:endParaRPr>
          </a:p>
        </p:txBody>
      </p:sp>
      <p:sp>
        <p:nvSpPr>
          <p:cNvPr id="25" name="清华大学活动主题大标题"/>
          <p:cNvSpPr txBox="1"/>
          <p:nvPr/>
        </p:nvSpPr>
        <p:spPr>
          <a:xfrm>
            <a:off x="6227891" y="4752090"/>
            <a:ext cx="864870" cy="901700"/>
          </a:xfrm>
          <a:prstGeom prst="rect">
            <a:avLst/>
          </a:prstGeom>
          <a:ln w="12700">
            <a:miter lim="400000"/>
          </a:ln>
        </p:spPr>
        <p:txBody>
          <a:bodyPr wrap="none" lIns="50800" tIns="50800" rIns="50800" bIns="50800" anchor="ctr">
            <a:spAutoFit/>
          </a:bodyPr>
          <a:lstStyle>
            <a:lvl1pPr>
              <a:defRPr sz="9800" b="1">
                <a:solidFill>
                  <a:srgbClr val="FFFFFF"/>
                </a:solidFill>
                <a:latin typeface="Source Han Sans SC" panose="020B0500000000000000" charset="-122"/>
                <a:ea typeface="Source Han Sans SC" panose="020B0500000000000000" charset="-122"/>
                <a:cs typeface="Source Han Sans SC" panose="020B0500000000000000" charset="-122"/>
                <a:sym typeface="Source Han Sans SC" panose="020B0500000000000000" charset="-122"/>
              </a:defRPr>
            </a:lvl1pPr>
          </a:lstStyle>
          <a:p>
            <a:r>
              <a:rPr lang="en-US" sz="5200" spc="-200">
                <a:solidFill>
                  <a:srgbClr val="FFFFFF"/>
                </a:solidFill>
                <a:uFillTx/>
                <a:latin typeface="Microsoft YaHei Bold" panose="020B0503020204020204" charset="-122"/>
                <a:ea typeface="Microsoft YaHei Bold" panose="020B0503020204020204" charset="-122"/>
              </a:rPr>
              <a:t>06</a:t>
            </a:r>
          </a:p>
        </p:txBody>
      </p:sp>
      <p:sp>
        <p:nvSpPr>
          <p:cNvPr id="26" name="副标题文字副标题文字副标题文字"/>
          <p:cNvSpPr txBox="1"/>
          <p:nvPr/>
        </p:nvSpPr>
        <p:spPr>
          <a:xfrm>
            <a:off x="7085131" y="4947302"/>
            <a:ext cx="1795363" cy="410369"/>
          </a:xfrm>
          <a:prstGeom prst="rect">
            <a:avLst/>
          </a:prstGeom>
          <a:ln w="12700">
            <a:miter lim="400000"/>
          </a:ln>
        </p:spPr>
        <p:txBody>
          <a:bodyPr wrap="none" lIns="50800" tIns="50800" rIns="50800" bIns="50800" anchor="ctr">
            <a:spAutoFit/>
          </a:bodyPr>
          <a:lstStyle>
            <a:lvl1pPr>
              <a:defRPr sz="5000">
                <a:solidFill>
                  <a:srgbClr val="FFFFFF"/>
                </a:solidFill>
                <a:latin typeface="Source Han Sans SC Medium" panose="020B0500000000000000" charset="-122"/>
                <a:ea typeface="Source Han Sans SC Medium" panose="020B0500000000000000" charset="-122"/>
                <a:cs typeface="Source Han Sans SC Medium" panose="020B0500000000000000" charset="-122"/>
                <a:sym typeface="Source Han Sans SC Medium" panose="020B0500000000000000" charset="-122"/>
              </a:defRPr>
            </a:lvl1pPr>
          </a:lstStyle>
          <a:p>
            <a:r>
              <a:rPr lang="zh-CN" altLang="en-US" sz="2000" b="1" spc="200" dirty="0">
                <a:solidFill>
                  <a:srgbClr val="FFFFFF"/>
                </a:solidFill>
                <a:uFillTx/>
                <a:latin typeface="Microsoft YaHei Bold" panose="020B0503020204020204" charset="-122"/>
                <a:ea typeface="Microsoft YaHei Bold" panose="020B0503020204020204" charset="-122"/>
              </a:rPr>
              <a:t>后续工作商讨</a:t>
            </a:r>
            <a:endParaRPr lang="zh-CN" sz="2000" b="1" spc="200" dirty="0">
              <a:solidFill>
                <a:srgbClr val="FFFFFF"/>
              </a:solidFill>
              <a:uFillTx/>
              <a:latin typeface="Microsoft YaHei Bold" panose="020B0503020204020204" charset="-122"/>
              <a:ea typeface="Microsoft YaHei Bold"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51495" y="4477385"/>
            <a:ext cx="4040505" cy="796290"/>
          </a:xfrm>
        </p:spPr>
        <p:txBody>
          <a:bodyPr>
            <a:normAutofit fontScale="90000"/>
          </a:bodyPr>
          <a:lstStyle/>
          <a:p>
            <a:r>
              <a:rPr lang="zh-CN" altLang="en-US" dirty="0"/>
              <a:t>设计目的和思路</a:t>
            </a:r>
          </a:p>
        </p:txBody>
      </p:sp>
      <p:sp>
        <p:nvSpPr>
          <p:cNvPr id="4" name="文本占位符 3"/>
          <p:cNvSpPr>
            <a:spLocks noGrp="1"/>
          </p:cNvSpPr>
          <p:nvPr>
            <p:ph type="body" idx="13"/>
          </p:nvPr>
        </p:nvSpPr>
        <p:spPr/>
        <p:txBody>
          <a:bodyPr/>
          <a:lstStyle/>
          <a:p>
            <a:r>
              <a:rPr lang="en-US" altLang="zh-CN" dirty="0"/>
              <a:t>01</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设计目的和思路</a:t>
            </a:r>
          </a:p>
        </p:txBody>
      </p:sp>
      <p:sp>
        <p:nvSpPr>
          <p:cNvPr id="4" name="文本占位符 3"/>
          <p:cNvSpPr>
            <a:spLocks noGrp="1"/>
          </p:cNvSpPr>
          <p:nvPr>
            <p:ph type="body" sz="half" idx="25"/>
          </p:nvPr>
        </p:nvSpPr>
        <p:spPr/>
        <p:txBody>
          <a:bodyPr/>
          <a:lstStyle/>
          <a:p>
            <a:r>
              <a:rPr lang="en-US" altLang="zh-CN" dirty="0"/>
              <a:t>01</a:t>
            </a:r>
            <a:endParaRPr lang="zh-CN" altLang="en-US" dirty="0"/>
          </a:p>
        </p:txBody>
      </p:sp>
      <p:sp>
        <p:nvSpPr>
          <p:cNvPr id="7" name="文本占位符 6"/>
          <p:cNvSpPr>
            <a:spLocks noGrp="1"/>
          </p:cNvSpPr>
          <p:nvPr>
            <p:ph type="body" sz="half" idx="2"/>
          </p:nvPr>
        </p:nvSpPr>
        <p:spPr>
          <a:xfrm>
            <a:off x="1023621" y="1844675"/>
            <a:ext cx="8787353" cy="4150995"/>
          </a:xfrm>
        </p:spPr>
        <p:txBody>
          <a:bodyPr/>
          <a:lstStyle/>
          <a:p>
            <a:pPr marL="0" indent="0">
              <a:buNone/>
            </a:pPr>
            <a:r>
              <a:rPr lang="zh-CN" altLang="en-US" dirty="0"/>
              <a:t>主要针对</a:t>
            </a:r>
            <a:r>
              <a:rPr lang="en-US" altLang="zh-CN" dirty="0"/>
              <a:t>AI</a:t>
            </a:r>
            <a:r>
              <a:rPr lang="zh-CN" altLang="en-US" dirty="0"/>
              <a:t>生成操作系统存在的不足</a:t>
            </a:r>
            <a:endParaRPr lang="en-US" altLang="zh-CN" dirty="0"/>
          </a:p>
          <a:p>
            <a:r>
              <a:rPr lang="zh-CN" altLang="en-US" dirty="0"/>
              <a:t>上下文长度有限，导致构造大型操作系统内核级别的项目容易出现记忆缺失带来的一系列问题。</a:t>
            </a:r>
            <a:endParaRPr lang="en-US" altLang="zh-CN" dirty="0"/>
          </a:p>
          <a:p>
            <a:r>
              <a:rPr lang="zh-CN" altLang="en-US" dirty="0"/>
              <a:t>在大型内核项目中，需要处理多核并发等问题，而</a:t>
            </a:r>
            <a:r>
              <a:rPr lang="en-US" altLang="zh-CN" dirty="0"/>
              <a:t>AI</a:t>
            </a:r>
            <a:r>
              <a:rPr lang="zh-CN" altLang="en-US" dirty="0"/>
              <a:t>的上下文长度限制，难以直接生成足够鲁棒的代码。</a:t>
            </a:r>
            <a:endParaRPr lang="en-US" altLang="zh-CN" dirty="0"/>
          </a:p>
          <a:p>
            <a:pPr marL="0" indent="0">
              <a:buNone/>
            </a:pPr>
            <a:endParaRPr lang="zh-CN" altLang="en-US" dirty="0"/>
          </a:p>
        </p:txBody>
      </p:sp>
      <p:sp>
        <p:nvSpPr>
          <p:cNvPr id="9" name="文本占位符 8"/>
          <p:cNvSpPr>
            <a:spLocks noGrp="1"/>
          </p:cNvSpPr>
          <p:nvPr>
            <p:ph type="body" sz="quarter" idx="23"/>
          </p:nvPr>
        </p:nvSpPr>
        <p:spPr/>
        <p:txBody>
          <a:bodyPr/>
          <a:lstStyle/>
          <a:p>
            <a:r>
              <a:rPr lang="zh-CN" altLang="en-US" dirty="0"/>
              <a:t>朱懿</a:t>
            </a:r>
            <a:fld id="{60C0AE7D-3C46-C74C-A945-A36855C84036}" type="datetime1">
              <a:rPr lang="zh-CN" altLang="en-US" smtClean="0"/>
              <a:t>2026/9/5</a:t>
            </a:fld>
            <a:endParaRPr lang="zh-CN" altLang="en-US" dirty="0"/>
          </a:p>
        </p:txBody>
      </p:sp>
      <p:sp>
        <p:nvSpPr>
          <p:cNvPr id="10" name="文本占位符 9"/>
          <p:cNvSpPr>
            <a:spLocks noGrp="1"/>
          </p:cNvSpPr>
          <p:nvPr>
            <p:ph type="body" sz="half" idx="24"/>
          </p:nvPr>
        </p:nvSpPr>
        <p:spPr/>
        <p:txBody>
          <a:bodyPr/>
          <a:lstStyle/>
          <a:p>
            <a:r>
              <a:rPr lang="zh-CN" altLang="en-US" dirty="0"/>
              <a:t>设计目的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EC9A-79DC-CFE6-EC8B-9CFDCF5091C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1EA6970-2561-98B6-A4EA-3813D82AFE20}"/>
              </a:ext>
            </a:extLst>
          </p:cNvPr>
          <p:cNvSpPr>
            <a:spLocks noGrp="1"/>
          </p:cNvSpPr>
          <p:nvPr>
            <p:ph type="title"/>
          </p:nvPr>
        </p:nvSpPr>
        <p:spPr/>
        <p:txBody>
          <a:bodyPr/>
          <a:lstStyle/>
          <a:p>
            <a:r>
              <a:rPr lang="zh-CN" altLang="en-US" dirty="0"/>
              <a:t>设计目的和思路</a:t>
            </a:r>
          </a:p>
        </p:txBody>
      </p:sp>
      <p:sp>
        <p:nvSpPr>
          <p:cNvPr id="4" name="文本占位符 3">
            <a:extLst>
              <a:ext uri="{FF2B5EF4-FFF2-40B4-BE49-F238E27FC236}">
                <a16:creationId xmlns:a16="http://schemas.microsoft.com/office/drawing/2014/main" id="{81CD03CB-AC3D-5A20-918F-E9AB24857900}"/>
              </a:ext>
            </a:extLst>
          </p:cNvPr>
          <p:cNvSpPr>
            <a:spLocks noGrp="1"/>
          </p:cNvSpPr>
          <p:nvPr>
            <p:ph type="body" sz="half" idx="25"/>
          </p:nvPr>
        </p:nvSpPr>
        <p:spPr/>
        <p:txBody>
          <a:bodyPr/>
          <a:lstStyle/>
          <a:p>
            <a:r>
              <a:rPr lang="en-US" altLang="zh-CN" dirty="0"/>
              <a:t>01</a:t>
            </a:r>
            <a:endParaRPr lang="zh-CN" altLang="en-US" dirty="0"/>
          </a:p>
        </p:txBody>
      </p:sp>
      <p:sp>
        <p:nvSpPr>
          <p:cNvPr id="7" name="文本占位符 6">
            <a:extLst>
              <a:ext uri="{FF2B5EF4-FFF2-40B4-BE49-F238E27FC236}">
                <a16:creationId xmlns:a16="http://schemas.microsoft.com/office/drawing/2014/main" id="{8703809A-608A-67E3-5526-DDF74EA29C36}"/>
              </a:ext>
            </a:extLst>
          </p:cNvPr>
          <p:cNvSpPr>
            <a:spLocks noGrp="1"/>
          </p:cNvSpPr>
          <p:nvPr>
            <p:ph type="body" sz="half" idx="2"/>
          </p:nvPr>
        </p:nvSpPr>
        <p:spPr>
          <a:xfrm>
            <a:off x="562536" y="1823159"/>
            <a:ext cx="5355664" cy="4150995"/>
          </a:xfrm>
        </p:spPr>
        <p:txBody>
          <a:bodyPr/>
          <a:lstStyle/>
          <a:p>
            <a:pPr marL="0" indent="0">
              <a:buNone/>
            </a:pPr>
            <a:r>
              <a:rPr lang="zh-CN" altLang="en-US" dirty="0"/>
              <a:t>思路是一个混合内核的设计思路</a:t>
            </a:r>
            <a:endParaRPr lang="en-US" altLang="zh-CN" dirty="0"/>
          </a:p>
          <a:p>
            <a:pPr marL="0" indent="0">
              <a:buNone/>
            </a:pPr>
            <a:r>
              <a:rPr lang="zh-CN" altLang="en-US" dirty="0"/>
              <a:t>内核态包括一个手动维护的</a:t>
            </a:r>
            <a:r>
              <a:rPr lang="en-US" altLang="zh-CN" b="1" dirty="0" err="1"/>
              <a:t>RendezvOS</a:t>
            </a:r>
            <a:r>
              <a:rPr lang="zh-CN" altLang="en-US" b="1" dirty="0"/>
              <a:t>核心框架</a:t>
            </a:r>
            <a:r>
              <a:rPr lang="zh-CN" altLang="en-US" dirty="0"/>
              <a:t>和一个对外提供各类内核功能的</a:t>
            </a:r>
            <a:r>
              <a:rPr lang="zh-CN" altLang="en-US" b="1" dirty="0"/>
              <a:t>兼容层</a:t>
            </a:r>
            <a:r>
              <a:rPr lang="zh-CN" altLang="en-US" dirty="0"/>
              <a:t>。</a:t>
            </a:r>
            <a:endParaRPr lang="en-US" altLang="zh-CN" b="1" dirty="0"/>
          </a:p>
          <a:p>
            <a:pPr marL="0" indent="0">
              <a:buNone/>
            </a:pPr>
            <a:r>
              <a:rPr lang="zh-CN" altLang="en-US" dirty="0"/>
              <a:t>核心框架将多核多线程，无锁</a:t>
            </a:r>
            <a:r>
              <a:rPr lang="en-US" altLang="zh-CN" dirty="0"/>
              <a:t>IPC</a:t>
            </a:r>
            <a:r>
              <a:rPr lang="zh-CN" altLang="en-US" dirty="0"/>
              <a:t>等部分进行封装，同时设计切分为便于</a:t>
            </a:r>
            <a:r>
              <a:rPr lang="en-US" altLang="zh-CN" dirty="0"/>
              <a:t>AI</a:t>
            </a:r>
            <a:r>
              <a:rPr lang="zh-CN" altLang="en-US" dirty="0"/>
              <a:t>进行扩展的架构。</a:t>
            </a:r>
            <a:endParaRPr lang="en-US" altLang="zh-CN" dirty="0"/>
          </a:p>
          <a:p>
            <a:pPr marL="0" indent="0">
              <a:buNone/>
            </a:pPr>
            <a:r>
              <a:rPr lang="zh-CN" altLang="en-US" dirty="0"/>
              <a:t>兼容层包含了多个由</a:t>
            </a:r>
            <a:r>
              <a:rPr lang="en-US" altLang="zh-CN" dirty="0"/>
              <a:t>AI</a:t>
            </a:r>
            <a:r>
              <a:rPr lang="zh-CN" altLang="en-US" dirty="0"/>
              <a:t>生成的，单执行流执行并通过</a:t>
            </a:r>
            <a:r>
              <a:rPr lang="en-US" altLang="zh-CN" dirty="0"/>
              <a:t>IPC</a:t>
            </a:r>
            <a:r>
              <a:rPr lang="zh-CN" altLang="en-US" dirty="0"/>
              <a:t>进行协作式通信的内核线程，同时根据适配的操作系统实现不同的</a:t>
            </a:r>
            <a:r>
              <a:rPr lang="en-US" altLang="zh-CN" dirty="0" err="1"/>
              <a:t>syscall</a:t>
            </a:r>
            <a:r>
              <a:rPr lang="zh-CN" altLang="en-US" dirty="0"/>
              <a:t>。</a:t>
            </a:r>
            <a:endParaRPr lang="en-US" altLang="zh-CN" dirty="0"/>
          </a:p>
        </p:txBody>
      </p:sp>
      <p:sp>
        <p:nvSpPr>
          <p:cNvPr id="9" name="文本占位符 8">
            <a:extLst>
              <a:ext uri="{FF2B5EF4-FFF2-40B4-BE49-F238E27FC236}">
                <a16:creationId xmlns:a16="http://schemas.microsoft.com/office/drawing/2014/main" id="{9AEFD520-EDE1-B36C-DB58-4734A3D018EB}"/>
              </a:ext>
            </a:extLst>
          </p:cNvPr>
          <p:cNvSpPr>
            <a:spLocks noGrp="1"/>
          </p:cNvSpPr>
          <p:nvPr>
            <p:ph type="body" sz="quarter" idx="23"/>
          </p:nvPr>
        </p:nvSpPr>
        <p:spPr/>
        <p:txBody>
          <a:bodyPr/>
          <a:lstStyle/>
          <a:p>
            <a:r>
              <a:rPr lang="zh-CN" altLang="en-US" dirty="0"/>
              <a:t>朱懿</a:t>
            </a:r>
            <a:fld id="{59A66003-9077-064A-8241-5CBCC7F15EDC}" type="datetime1">
              <a:rPr lang="zh-CN" altLang="en-US" smtClean="0"/>
              <a:t>2026/9/5</a:t>
            </a:fld>
            <a:endParaRPr lang="zh-CN" altLang="en-US" dirty="0"/>
          </a:p>
        </p:txBody>
      </p:sp>
      <p:sp>
        <p:nvSpPr>
          <p:cNvPr id="10" name="文本占位符 9">
            <a:extLst>
              <a:ext uri="{FF2B5EF4-FFF2-40B4-BE49-F238E27FC236}">
                <a16:creationId xmlns:a16="http://schemas.microsoft.com/office/drawing/2014/main" id="{718316F5-E841-6509-FDA3-3E025728FDBB}"/>
              </a:ext>
            </a:extLst>
          </p:cNvPr>
          <p:cNvSpPr>
            <a:spLocks noGrp="1"/>
          </p:cNvSpPr>
          <p:nvPr>
            <p:ph type="body" sz="half" idx="24"/>
          </p:nvPr>
        </p:nvSpPr>
        <p:spPr/>
        <p:txBody>
          <a:bodyPr/>
          <a:lstStyle/>
          <a:p>
            <a:r>
              <a:rPr lang="zh-CN" altLang="en-US" dirty="0"/>
              <a:t>设计思路</a:t>
            </a:r>
          </a:p>
        </p:txBody>
      </p:sp>
      <p:cxnSp>
        <p:nvCxnSpPr>
          <p:cNvPr id="5" name="直线连接符 4">
            <a:extLst>
              <a:ext uri="{FF2B5EF4-FFF2-40B4-BE49-F238E27FC236}">
                <a16:creationId xmlns:a16="http://schemas.microsoft.com/office/drawing/2014/main" id="{9AC225AC-47AF-C695-0772-5546016AA9CE}"/>
              </a:ext>
            </a:extLst>
          </p:cNvPr>
          <p:cNvCxnSpPr>
            <a:cxnSpLocks/>
          </p:cNvCxnSpPr>
          <p:nvPr/>
        </p:nvCxnSpPr>
        <p:spPr>
          <a:xfrm>
            <a:off x="5211215" y="1493258"/>
            <a:ext cx="55064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直线连接符 5">
            <a:extLst>
              <a:ext uri="{FF2B5EF4-FFF2-40B4-BE49-F238E27FC236}">
                <a16:creationId xmlns:a16="http://schemas.microsoft.com/office/drawing/2014/main" id="{A3F46666-7331-5BC1-3916-9DF19EC9634E}"/>
              </a:ext>
            </a:extLst>
          </p:cNvPr>
          <p:cNvCxnSpPr>
            <a:cxnSpLocks/>
          </p:cNvCxnSpPr>
          <p:nvPr/>
        </p:nvCxnSpPr>
        <p:spPr>
          <a:xfrm>
            <a:off x="6092237" y="2987856"/>
            <a:ext cx="46254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EE262368-428E-2807-3C39-FAB0DFBAC150}"/>
              </a:ext>
            </a:extLst>
          </p:cNvPr>
          <p:cNvSpPr txBox="1"/>
          <p:nvPr/>
        </p:nvSpPr>
        <p:spPr>
          <a:xfrm>
            <a:off x="5211213" y="892123"/>
            <a:ext cx="977455" cy="369332"/>
          </a:xfrm>
          <a:prstGeom prst="rect">
            <a:avLst/>
          </a:prstGeom>
          <a:noFill/>
        </p:spPr>
        <p:txBody>
          <a:bodyPr wrap="square" rtlCol="0">
            <a:spAutoFit/>
          </a:bodyPr>
          <a:lstStyle/>
          <a:p>
            <a:r>
              <a:rPr kumimoji="1" lang="zh-CN" altLang="en-US" dirty="0"/>
              <a:t>用户态</a:t>
            </a:r>
          </a:p>
        </p:txBody>
      </p:sp>
      <p:sp>
        <p:nvSpPr>
          <p:cNvPr id="11" name="文本框 10">
            <a:extLst>
              <a:ext uri="{FF2B5EF4-FFF2-40B4-BE49-F238E27FC236}">
                <a16:creationId xmlns:a16="http://schemas.microsoft.com/office/drawing/2014/main" id="{2BC815A0-0B2D-FFF7-66CF-87D9748016D4}"/>
              </a:ext>
            </a:extLst>
          </p:cNvPr>
          <p:cNvSpPr txBox="1"/>
          <p:nvPr/>
        </p:nvSpPr>
        <p:spPr>
          <a:xfrm>
            <a:off x="5211217" y="1703919"/>
            <a:ext cx="977452" cy="369332"/>
          </a:xfrm>
          <a:prstGeom prst="rect">
            <a:avLst/>
          </a:prstGeom>
          <a:noFill/>
        </p:spPr>
        <p:txBody>
          <a:bodyPr wrap="square" rtlCol="0">
            <a:spAutoFit/>
          </a:bodyPr>
          <a:lstStyle/>
          <a:p>
            <a:r>
              <a:rPr kumimoji="1" lang="zh-CN" altLang="en-US" dirty="0"/>
              <a:t>内核态</a:t>
            </a:r>
          </a:p>
        </p:txBody>
      </p:sp>
      <p:sp>
        <p:nvSpPr>
          <p:cNvPr id="13" name="圆角矩形 12">
            <a:extLst>
              <a:ext uri="{FF2B5EF4-FFF2-40B4-BE49-F238E27FC236}">
                <a16:creationId xmlns:a16="http://schemas.microsoft.com/office/drawing/2014/main" id="{C0197BF1-51B2-2D64-779F-8909337AD56B}"/>
              </a:ext>
            </a:extLst>
          </p:cNvPr>
          <p:cNvSpPr/>
          <p:nvPr/>
        </p:nvSpPr>
        <p:spPr>
          <a:xfrm>
            <a:off x="6092238" y="3194845"/>
            <a:ext cx="4625400" cy="1559139"/>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11B5F053-4A6C-C3B6-7190-81DFCB848926}"/>
              </a:ext>
            </a:extLst>
          </p:cNvPr>
          <p:cNvSpPr txBox="1"/>
          <p:nvPr/>
        </p:nvSpPr>
        <p:spPr>
          <a:xfrm>
            <a:off x="10717637" y="3575490"/>
            <a:ext cx="1344314" cy="646331"/>
          </a:xfrm>
          <a:prstGeom prst="rect">
            <a:avLst/>
          </a:prstGeom>
          <a:noFill/>
        </p:spPr>
        <p:txBody>
          <a:bodyPr wrap="square" rtlCol="0">
            <a:spAutoFit/>
          </a:bodyPr>
          <a:lstStyle/>
          <a:p>
            <a:r>
              <a:rPr kumimoji="1" lang="en-US" altLang="zh-CN" dirty="0" err="1"/>
              <a:t>RendezvOS</a:t>
            </a:r>
            <a:r>
              <a:rPr kumimoji="1" lang="zh-CN" altLang="en-US" dirty="0"/>
              <a:t>框架</a:t>
            </a:r>
          </a:p>
        </p:txBody>
      </p:sp>
      <p:sp>
        <p:nvSpPr>
          <p:cNvPr id="15" name="圆角矩形 14">
            <a:extLst>
              <a:ext uri="{FF2B5EF4-FFF2-40B4-BE49-F238E27FC236}">
                <a16:creationId xmlns:a16="http://schemas.microsoft.com/office/drawing/2014/main" id="{B0A7E525-B310-5655-59AE-D80B837D0B39}"/>
              </a:ext>
            </a:extLst>
          </p:cNvPr>
          <p:cNvSpPr/>
          <p:nvPr/>
        </p:nvSpPr>
        <p:spPr>
          <a:xfrm>
            <a:off x="6367662" y="3355234"/>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内存管理</a:t>
            </a:r>
          </a:p>
        </p:txBody>
      </p:sp>
      <p:sp>
        <p:nvSpPr>
          <p:cNvPr id="16" name="圆角矩形 15">
            <a:extLst>
              <a:ext uri="{FF2B5EF4-FFF2-40B4-BE49-F238E27FC236}">
                <a16:creationId xmlns:a16="http://schemas.microsoft.com/office/drawing/2014/main" id="{C26E340D-6889-647B-7881-A3142D47F5E4}"/>
              </a:ext>
            </a:extLst>
          </p:cNvPr>
          <p:cNvSpPr/>
          <p:nvPr/>
        </p:nvSpPr>
        <p:spPr>
          <a:xfrm>
            <a:off x="7703104" y="3355234"/>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线程管理</a:t>
            </a:r>
          </a:p>
        </p:txBody>
      </p:sp>
      <p:sp>
        <p:nvSpPr>
          <p:cNvPr id="17" name="圆角矩形 16">
            <a:extLst>
              <a:ext uri="{FF2B5EF4-FFF2-40B4-BE49-F238E27FC236}">
                <a16:creationId xmlns:a16="http://schemas.microsoft.com/office/drawing/2014/main" id="{72D13636-DB2E-4A1E-5A72-07256155BA91}"/>
              </a:ext>
            </a:extLst>
          </p:cNvPr>
          <p:cNvSpPr/>
          <p:nvPr/>
        </p:nvSpPr>
        <p:spPr>
          <a:xfrm>
            <a:off x="9038545" y="3355234"/>
            <a:ext cx="1404239"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IPC</a:t>
            </a:r>
            <a:r>
              <a:rPr kumimoji="1" lang="zh-CN" altLang="en-US" dirty="0"/>
              <a:t>管理</a:t>
            </a:r>
          </a:p>
        </p:txBody>
      </p:sp>
      <p:sp>
        <p:nvSpPr>
          <p:cNvPr id="18" name="圆角矩形 17">
            <a:extLst>
              <a:ext uri="{FF2B5EF4-FFF2-40B4-BE49-F238E27FC236}">
                <a16:creationId xmlns:a16="http://schemas.microsoft.com/office/drawing/2014/main" id="{1DD20CF7-A635-2A0B-0977-7D9B3D174EDD}"/>
              </a:ext>
            </a:extLst>
          </p:cNvPr>
          <p:cNvSpPr/>
          <p:nvPr/>
        </p:nvSpPr>
        <p:spPr>
          <a:xfrm>
            <a:off x="6367661" y="4050881"/>
            <a:ext cx="1601003"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a:t>
            </a:r>
            <a:r>
              <a:rPr kumimoji="1" lang="en-US" altLang="zh-CN" dirty="0" err="1"/>
              <a:t>smp</a:t>
            </a:r>
            <a:r>
              <a:rPr kumimoji="1" lang="zh-CN" altLang="en-US" dirty="0"/>
              <a:t>）</a:t>
            </a:r>
            <a:r>
              <a:rPr kumimoji="1" lang="en-US" altLang="zh-CN" dirty="0"/>
              <a:t>boot</a:t>
            </a:r>
            <a:endParaRPr kumimoji="1" lang="zh-CN" altLang="en-US" dirty="0"/>
          </a:p>
        </p:txBody>
      </p:sp>
      <p:sp>
        <p:nvSpPr>
          <p:cNvPr id="19" name="圆角矩形 18">
            <a:extLst>
              <a:ext uri="{FF2B5EF4-FFF2-40B4-BE49-F238E27FC236}">
                <a16:creationId xmlns:a16="http://schemas.microsoft.com/office/drawing/2014/main" id="{553EAD48-9F1B-3AAD-89E9-302A8709A5E6}"/>
              </a:ext>
            </a:extLst>
          </p:cNvPr>
          <p:cNvSpPr/>
          <p:nvPr/>
        </p:nvSpPr>
        <p:spPr>
          <a:xfrm>
            <a:off x="8100138" y="4050881"/>
            <a:ext cx="759414"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工具</a:t>
            </a:r>
          </a:p>
        </p:txBody>
      </p:sp>
      <p:sp>
        <p:nvSpPr>
          <p:cNvPr id="20" name="圆角矩形 19">
            <a:extLst>
              <a:ext uri="{FF2B5EF4-FFF2-40B4-BE49-F238E27FC236}">
                <a16:creationId xmlns:a16="http://schemas.microsoft.com/office/drawing/2014/main" id="{DD605A64-01E3-5DBD-F96B-CB19934ECDFD}"/>
              </a:ext>
            </a:extLst>
          </p:cNvPr>
          <p:cNvSpPr/>
          <p:nvPr/>
        </p:nvSpPr>
        <p:spPr>
          <a:xfrm>
            <a:off x="8991026" y="4050881"/>
            <a:ext cx="1451759"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兼容兼容层的构建系统</a:t>
            </a:r>
          </a:p>
        </p:txBody>
      </p:sp>
      <p:sp>
        <p:nvSpPr>
          <p:cNvPr id="21" name="圆角矩形 20">
            <a:extLst>
              <a:ext uri="{FF2B5EF4-FFF2-40B4-BE49-F238E27FC236}">
                <a16:creationId xmlns:a16="http://schemas.microsoft.com/office/drawing/2014/main" id="{19196285-7C0B-481B-BB8F-7C9BC4F1EE06}"/>
              </a:ext>
            </a:extLst>
          </p:cNvPr>
          <p:cNvSpPr/>
          <p:nvPr/>
        </p:nvSpPr>
        <p:spPr>
          <a:xfrm>
            <a:off x="8742402" y="1586865"/>
            <a:ext cx="1949003"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用户态线程在内核态的延伸</a:t>
            </a:r>
            <a:r>
              <a:rPr kumimoji="1" lang="en-US" altLang="zh-CN" dirty="0"/>
              <a:t>——</a:t>
            </a:r>
            <a:r>
              <a:rPr kumimoji="1" lang="en-US" altLang="zh-CN" dirty="0" err="1"/>
              <a:t>Syscall</a:t>
            </a:r>
            <a:r>
              <a:rPr kumimoji="1" lang="zh-CN" altLang="en-US" dirty="0"/>
              <a:t>兼容层和消息转发</a:t>
            </a:r>
          </a:p>
        </p:txBody>
      </p:sp>
      <p:sp>
        <p:nvSpPr>
          <p:cNvPr id="22" name="文本框 21">
            <a:extLst>
              <a:ext uri="{FF2B5EF4-FFF2-40B4-BE49-F238E27FC236}">
                <a16:creationId xmlns:a16="http://schemas.microsoft.com/office/drawing/2014/main" id="{884DD8DD-5740-5584-6A48-406BF2B89945}"/>
              </a:ext>
            </a:extLst>
          </p:cNvPr>
          <p:cNvSpPr txBox="1"/>
          <p:nvPr/>
        </p:nvSpPr>
        <p:spPr>
          <a:xfrm>
            <a:off x="10837350" y="2073251"/>
            <a:ext cx="950601" cy="369332"/>
          </a:xfrm>
          <a:prstGeom prst="rect">
            <a:avLst/>
          </a:prstGeom>
          <a:noFill/>
        </p:spPr>
        <p:txBody>
          <a:bodyPr wrap="square" rtlCol="0">
            <a:spAutoFit/>
          </a:bodyPr>
          <a:lstStyle/>
          <a:p>
            <a:r>
              <a:rPr kumimoji="1" lang="zh-CN" altLang="en-US" dirty="0"/>
              <a:t>兼容层</a:t>
            </a:r>
          </a:p>
        </p:txBody>
      </p:sp>
      <p:sp>
        <p:nvSpPr>
          <p:cNvPr id="23" name="圆角矩形 22">
            <a:extLst>
              <a:ext uri="{FF2B5EF4-FFF2-40B4-BE49-F238E27FC236}">
                <a16:creationId xmlns:a16="http://schemas.microsoft.com/office/drawing/2014/main" id="{0F68FD76-E446-65F6-7902-732731626D88}"/>
              </a:ext>
            </a:extLst>
          </p:cNvPr>
          <p:cNvSpPr/>
          <p:nvPr/>
        </p:nvSpPr>
        <p:spPr>
          <a:xfrm>
            <a:off x="8742401" y="579656"/>
            <a:ext cx="1949003" cy="787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用户态线程</a:t>
            </a:r>
          </a:p>
        </p:txBody>
      </p:sp>
      <p:sp>
        <p:nvSpPr>
          <p:cNvPr id="24" name="圆角矩形 23">
            <a:extLst>
              <a:ext uri="{FF2B5EF4-FFF2-40B4-BE49-F238E27FC236}">
                <a16:creationId xmlns:a16="http://schemas.microsoft.com/office/drawing/2014/main" id="{0F079165-4769-8499-193C-46DF2F021935}"/>
              </a:ext>
            </a:extLst>
          </p:cNvPr>
          <p:cNvSpPr/>
          <p:nvPr/>
        </p:nvSpPr>
        <p:spPr>
          <a:xfrm>
            <a:off x="6092237" y="1586865"/>
            <a:ext cx="1033479"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单执行流的设备驱动</a:t>
            </a:r>
          </a:p>
        </p:txBody>
      </p:sp>
      <p:sp>
        <p:nvSpPr>
          <p:cNvPr id="25" name="圆角矩形 24">
            <a:extLst>
              <a:ext uri="{FF2B5EF4-FFF2-40B4-BE49-F238E27FC236}">
                <a16:creationId xmlns:a16="http://schemas.microsoft.com/office/drawing/2014/main" id="{A7CD6389-FECD-415E-C077-DBCA6ED37D69}"/>
              </a:ext>
            </a:extLst>
          </p:cNvPr>
          <p:cNvSpPr/>
          <p:nvPr/>
        </p:nvSpPr>
        <p:spPr>
          <a:xfrm>
            <a:off x="7151948" y="1586865"/>
            <a:ext cx="1218160"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单执行流的</a:t>
            </a:r>
            <a:r>
              <a:rPr kumimoji="1" lang="en-US" altLang="zh-CN" dirty="0" err="1"/>
              <a:t>vfs</a:t>
            </a:r>
            <a:r>
              <a:rPr kumimoji="1" lang="zh-CN" altLang="en-US" dirty="0"/>
              <a:t>等其他内核功能</a:t>
            </a:r>
          </a:p>
        </p:txBody>
      </p:sp>
      <p:sp>
        <p:nvSpPr>
          <p:cNvPr id="26" name="左右箭头 25">
            <a:extLst>
              <a:ext uri="{FF2B5EF4-FFF2-40B4-BE49-F238E27FC236}">
                <a16:creationId xmlns:a16="http://schemas.microsoft.com/office/drawing/2014/main" id="{DBD77215-45FB-04A2-F60F-E406F1CEBDD9}"/>
              </a:ext>
            </a:extLst>
          </p:cNvPr>
          <p:cNvSpPr/>
          <p:nvPr/>
        </p:nvSpPr>
        <p:spPr>
          <a:xfrm>
            <a:off x="8362506" y="2077887"/>
            <a:ext cx="366780" cy="25687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圆角矩形 1">
            <a:extLst>
              <a:ext uri="{FF2B5EF4-FFF2-40B4-BE49-F238E27FC236}">
                <a16:creationId xmlns:a16="http://schemas.microsoft.com/office/drawing/2014/main" id="{154448B1-3459-1004-1B6B-999E34CB9806}"/>
              </a:ext>
            </a:extLst>
          </p:cNvPr>
          <p:cNvSpPr/>
          <p:nvPr/>
        </p:nvSpPr>
        <p:spPr>
          <a:xfrm>
            <a:off x="5665007"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cxnSp>
        <p:nvCxnSpPr>
          <p:cNvPr id="12" name="直线连接符 11">
            <a:extLst>
              <a:ext uri="{FF2B5EF4-FFF2-40B4-BE49-F238E27FC236}">
                <a16:creationId xmlns:a16="http://schemas.microsoft.com/office/drawing/2014/main" id="{57CAEFF0-D70A-3C14-8F7C-51AC947ACD86}"/>
              </a:ext>
            </a:extLst>
          </p:cNvPr>
          <p:cNvCxnSpPr>
            <a:cxnSpLocks/>
          </p:cNvCxnSpPr>
          <p:nvPr/>
        </p:nvCxnSpPr>
        <p:spPr>
          <a:xfrm>
            <a:off x="5211215" y="5074659"/>
            <a:ext cx="5506422" cy="0"/>
          </a:xfrm>
          <a:prstGeom prst="line">
            <a:avLst/>
          </a:prstGeom>
        </p:spPr>
        <p:style>
          <a:lnRef idx="2">
            <a:schemeClr val="accent1"/>
          </a:lnRef>
          <a:fillRef idx="0">
            <a:schemeClr val="accent1"/>
          </a:fillRef>
          <a:effectRef idx="1">
            <a:schemeClr val="accent1"/>
          </a:effectRef>
          <a:fontRef idx="minor">
            <a:schemeClr val="tx1"/>
          </a:fontRef>
        </p:style>
      </p:cxnSp>
      <p:sp>
        <p:nvSpPr>
          <p:cNvPr id="27" name="圆角矩形 26">
            <a:extLst>
              <a:ext uri="{FF2B5EF4-FFF2-40B4-BE49-F238E27FC236}">
                <a16:creationId xmlns:a16="http://schemas.microsoft.com/office/drawing/2014/main" id="{12A0EF1B-6A7F-C51F-5F92-07034AF10136}"/>
              </a:ext>
            </a:extLst>
          </p:cNvPr>
          <p:cNvSpPr/>
          <p:nvPr/>
        </p:nvSpPr>
        <p:spPr>
          <a:xfrm>
            <a:off x="6963399"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28" name="圆角矩形 27">
            <a:extLst>
              <a:ext uri="{FF2B5EF4-FFF2-40B4-BE49-F238E27FC236}">
                <a16:creationId xmlns:a16="http://schemas.microsoft.com/office/drawing/2014/main" id="{628FABF3-EFFE-ABAF-422A-B54801DD93E7}"/>
              </a:ext>
            </a:extLst>
          </p:cNvPr>
          <p:cNvSpPr/>
          <p:nvPr/>
        </p:nvSpPr>
        <p:spPr>
          <a:xfrm>
            <a:off x="8261791"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29" name="圆角矩形 28">
            <a:extLst>
              <a:ext uri="{FF2B5EF4-FFF2-40B4-BE49-F238E27FC236}">
                <a16:creationId xmlns:a16="http://schemas.microsoft.com/office/drawing/2014/main" id="{2EAE8E6D-C47D-0477-4C1C-AF711E9DFE98}"/>
              </a:ext>
            </a:extLst>
          </p:cNvPr>
          <p:cNvSpPr/>
          <p:nvPr/>
        </p:nvSpPr>
        <p:spPr>
          <a:xfrm>
            <a:off x="9560183"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30" name="文本框 29">
            <a:extLst>
              <a:ext uri="{FF2B5EF4-FFF2-40B4-BE49-F238E27FC236}">
                <a16:creationId xmlns:a16="http://schemas.microsoft.com/office/drawing/2014/main" id="{A9027FD2-D437-1741-2D32-1BBA526B9558}"/>
              </a:ext>
            </a:extLst>
          </p:cNvPr>
          <p:cNvSpPr txBox="1"/>
          <p:nvPr/>
        </p:nvSpPr>
        <p:spPr>
          <a:xfrm>
            <a:off x="5094513" y="5339741"/>
            <a:ext cx="677863" cy="369332"/>
          </a:xfrm>
          <a:prstGeom prst="rect">
            <a:avLst/>
          </a:prstGeom>
          <a:noFill/>
        </p:spPr>
        <p:txBody>
          <a:bodyPr wrap="square" rtlCol="0">
            <a:spAutoFit/>
          </a:bodyPr>
          <a:lstStyle/>
          <a:p>
            <a:r>
              <a:rPr kumimoji="1" lang="zh-CN" altLang="en-US" dirty="0"/>
              <a:t>硬件</a:t>
            </a:r>
          </a:p>
        </p:txBody>
      </p:sp>
    </p:spTree>
    <p:extLst>
      <p:ext uri="{BB962C8B-B14F-4D97-AF65-F5344CB8AC3E}">
        <p14:creationId xmlns:p14="http://schemas.microsoft.com/office/powerpoint/2010/main" val="1200313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D1869-62B2-0300-E908-8FB219D195E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A9BB1BE-08CA-006F-46D0-55C4DA4A22A4}"/>
              </a:ext>
            </a:extLst>
          </p:cNvPr>
          <p:cNvSpPr>
            <a:spLocks noGrp="1"/>
          </p:cNvSpPr>
          <p:nvPr>
            <p:ph type="title"/>
          </p:nvPr>
        </p:nvSpPr>
        <p:spPr/>
        <p:txBody>
          <a:bodyPr/>
          <a:lstStyle/>
          <a:p>
            <a:r>
              <a:rPr lang="zh-CN" altLang="en-US" dirty="0"/>
              <a:t>设计目的和思路</a:t>
            </a:r>
          </a:p>
        </p:txBody>
      </p:sp>
      <p:sp>
        <p:nvSpPr>
          <p:cNvPr id="4" name="文本占位符 3">
            <a:extLst>
              <a:ext uri="{FF2B5EF4-FFF2-40B4-BE49-F238E27FC236}">
                <a16:creationId xmlns:a16="http://schemas.microsoft.com/office/drawing/2014/main" id="{B2F89457-6BF9-3728-9C38-82B1C664BF99}"/>
              </a:ext>
            </a:extLst>
          </p:cNvPr>
          <p:cNvSpPr>
            <a:spLocks noGrp="1"/>
          </p:cNvSpPr>
          <p:nvPr>
            <p:ph type="body" sz="half" idx="25"/>
          </p:nvPr>
        </p:nvSpPr>
        <p:spPr/>
        <p:txBody>
          <a:bodyPr/>
          <a:lstStyle/>
          <a:p>
            <a:r>
              <a:rPr lang="en-US" altLang="zh-CN" dirty="0"/>
              <a:t>01</a:t>
            </a:r>
            <a:endParaRPr lang="zh-CN" altLang="en-US" dirty="0"/>
          </a:p>
        </p:txBody>
      </p:sp>
      <p:sp>
        <p:nvSpPr>
          <p:cNvPr id="7" name="文本占位符 6">
            <a:extLst>
              <a:ext uri="{FF2B5EF4-FFF2-40B4-BE49-F238E27FC236}">
                <a16:creationId xmlns:a16="http://schemas.microsoft.com/office/drawing/2014/main" id="{120355FA-01C4-A14F-802B-8320B0128DB0}"/>
              </a:ext>
            </a:extLst>
          </p:cNvPr>
          <p:cNvSpPr>
            <a:spLocks noGrp="1"/>
          </p:cNvSpPr>
          <p:nvPr>
            <p:ph type="body" sz="half" idx="2"/>
          </p:nvPr>
        </p:nvSpPr>
        <p:spPr>
          <a:xfrm>
            <a:off x="562536" y="1823159"/>
            <a:ext cx="5355664" cy="4716706"/>
          </a:xfrm>
        </p:spPr>
        <p:txBody>
          <a:bodyPr>
            <a:normAutofit/>
          </a:bodyPr>
          <a:lstStyle/>
          <a:p>
            <a:pPr marL="0" indent="0">
              <a:buNone/>
            </a:pPr>
            <a:r>
              <a:rPr lang="zh-CN" altLang="en-US" dirty="0"/>
              <a:t>这么做有以下几个优点：</a:t>
            </a:r>
            <a:endParaRPr lang="en-US" altLang="zh-CN" dirty="0"/>
          </a:p>
          <a:p>
            <a:r>
              <a:rPr lang="zh-CN" altLang="en-US" dirty="0"/>
              <a:t>单执行流的设备驱动适配设备等全局单例的管理模式（如果传统宏内核，需要多核心</a:t>
            </a:r>
            <a:r>
              <a:rPr lang="en-US" altLang="zh-CN" dirty="0"/>
              <a:t>——</a:t>
            </a:r>
            <a:r>
              <a:rPr lang="zh-CN" altLang="en-US" dirty="0"/>
              <a:t>实质上是可能的多执行流同时操作设备</a:t>
            </a:r>
            <a:r>
              <a:rPr lang="en-US" altLang="zh-CN" dirty="0"/>
              <a:t>——</a:t>
            </a:r>
            <a:r>
              <a:rPr lang="zh-CN" altLang="en-US" dirty="0"/>
              <a:t>上锁进入设备驱动临界区，这种上锁对于</a:t>
            </a:r>
            <a:r>
              <a:rPr lang="en-US" altLang="zh-CN" dirty="0"/>
              <a:t>AI</a:t>
            </a:r>
            <a:r>
              <a:rPr lang="zh-CN" altLang="en-US" dirty="0"/>
              <a:t>生成是复杂的）</a:t>
            </a:r>
            <a:endParaRPr lang="en-US" altLang="zh-CN" dirty="0"/>
          </a:p>
          <a:p>
            <a:r>
              <a:rPr lang="zh-CN" altLang="en-US" dirty="0"/>
              <a:t>异步并发的代码可以统一的塞入</a:t>
            </a:r>
            <a:r>
              <a:rPr lang="en-US" altLang="zh-CN" dirty="0"/>
              <a:t>IPC</a:t>
            </a:r>
            <a:r>
              <a:rPr lang="zh-CN" altLang="en-US" dirty="0"/>
              <a:t>过程，显著降低各种并发代码的复杂性，而</a:t>
            </a:r>
            <a:r>
              <a:rPr lang="en-US" altLang="zh-CN" dirty="0"/>
              <a:t>AI</a:t>
            </a:r>
            <a:r>
              <a:rPr lang="zh-CN" altLang="en-US" dirty="0"/>
              <a:t>只需要按照约定的调用顺序生成单线程的代码</a:t>
            </a:r>
            <a:r>
              <a:rPr lang="en-US" altLang="zh-CN" dirty="0"/>
              <a:t>+</a:t>
            </a:r>
            <a:r>
              <a:rPr lang="zh-CN" altLang="en-US" dirty="0"/>
              <a:t>跟其他线程协作的通信代码，这有利于</a:t>
            </a:r>
            <a:r>
              <a:rPr lang="en-US" altLang="zh-CN" dirty="0"/>
              <a:t>AI</a:t>
            </a:r>
            <a:r>
              <a:rPr lang="zh-CN" altLang="en-US" dirty="0"/>
              <a:t>代码的生成。</a:t>
            </a:r>
            <a:endParaRPr lang="en-US" altLang="zh-CN" dirty="0"/>
          </a:p>
          <a:p>
            <a:r>
              <a:rPr lang="zh-CN" altLang="en-US" dirty="0"/>
              <a:t>用户态线程也好，内核态的其他内核线程也好，在框架视角下都是统一的内核线程（用户态线程对应的内核栈构成了它在内核态的执行流延伸）</a:t>
            </a:r>
            <a:endParaRPr lang="en-US" altLang="zh-CN" dirty="0"/>
          </a:p>
        </p:txBody>
      </p:sp>
      <p:sp>
        <p:nvSpPr>
          <p:cNvPr id="10" name="文本占位符 9">
            <a:extLst>
              <a:ext uri="{FF2B5EF4-FFF2-40B4-BE49-F238E27FC236}">
                <a16:creationId xmlns:a16="http://schemas.microsoft.com/office/drawing/2014/main" id="{4A3C0736-91EC-ACD1-1C9A-0C3943A6DDBE}"/>
              </a:ext>
            </a:extLst>
          </p:cNvPr>
          <p:cNvSpPr>
            <a:spLocks noGrp="1"/>
          </p:cNvSpPr>
          <p:nvPr>
            <p:ph type="body" sz="half" idx="24"/>
          </p:nvPr>
        </p:nvSpPr>
        <p:spPr/>
        <p:txBody>
          <a:bodyPr/>
          <a:lstStyle/>
          <a:p>
            <a:r>
              <a:rPr lang="zh-CN" altLang="en-US" dirty="0"/>
              <a:t>设计思路</a:t>
            </a:r>
          </a:p>
        </p:txBody>
      </p:sp>
      <p:sp>
        <p:nvSpPr>
          <p:cNvPr id="2" name="文本占位符 8">
            <a:extLst>
              <a:ext uri="{FF2B5EF4-FFF2-40B4-BE49-F238E27FC236}">
                <a16:creationId xmlns:a16="http://schemas.microsoft.com/office/drawing/2014/main" id="{4089C969-75FB-5688-E908-B2F9B7BDA93C}"/>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cxnSp>
        <p:nvCxnSpPr>
          <p:cNvPr id="9" name="直线连接符 8">
            <a:extLst>
              <a:ext uri="{FF2B5EF4-FFF2-40B4-BE49-F238E27FC236}">
                <a16:creationId xmlns:a16="http://schemas.microsoft.com/office/drawing/2014/main" id="{521B4442-A039-18EA-3B69-D2C0450DBFC0}"/>
              </a:ext>
            </a:extLst>
          </p:cNvPr>
          <p:cNvCxnSpPr>
            <a:cxnSpLocks/>
          </p:cNvCxnSpPr>
          <p:nvPr/>
        </p:nvCxnSpPr>
        <p:spPr>
          <a:xfrm>
            <a:off x="5211215" y="1493258"/>
            <a:ext cx="55064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直线连接符 11">
            <a:extLst>
              <a:ext uri="{FF2B5EF4-FFF2-40B4-BE49-F238E27FC236}">
                <a16:creationId xmlns:a16="http://schemas.microsoft.com/office/drawing/2014/main" id="{9D34EB93-1EC6-63F4-D424-AD25AE0AF03E}"/>
              </a:ext>
            </a:extLst>
          </p:cNvPr>
          <p:cNvCxnSpPr>
            <a:cxnSpLocks/>
          </p:cNvCxnSpPr>
          <p:nvPr/>
        </p:nvCxnSpPr>
        <p:spPr>
          <a:xfrm>
            <a:off x="6092237" y="2987856"/>
            <a:ext cx="46254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7" name="文本框 26">
            <a:extLst>
              <a:ext uri="{FF2B5EF4-FFF2-40B4-BE49-F238E27FC236}">
                <a16:creationId xmlns:a16="http://schemas.microsoft.com/office/drawing/2014/main" id="{E3338864-0131-A675-C9C7-8CE7BF7949B4}"/>
              </a:ext>
            </a:extLst>
          </p:cNvPr>
          <p:cNvSpPr txBox="1"/>
          <p:nvPr/>
        </p:nvSpPr>
        <p:spPr>
          <a:xfrm>
            <a:off x="5211213" y="892123"/>
            <a:ext cx="977455" cy="369332"/>
          </a:xfrm>
          <a:prstGeom prst="rect">
            <a:avLst/>
          </a:prstGeom>
          <a:noFill/>
        </p:spPr>
        <p:txBody>
          <a:bodyPr wrap="square" rtlCol="0">
            <a:spAutoFit/>
          </a:bodyPr>
          <a:lstStyle/>
          <a:p>
            <a:r>
              <a:rPr kumimoji="1" lang="zh-CN" altLang="en-US" dirty="0"/>
              <a:t>用户态</a:t>
            </a:r>
          </a:p>
        </p:txBody>
      </p:sp>
      <p:sp>
        <p:nvSpPr>
          <p:cNvPr id="28" name="文本框 27">
            <a:extLst>
              <a:ext uri="{FF2B5EF4-FFF2-40B4-BE49-F238E27FC236}">
                <a16:creationId xmlns:a16="http://schemas.microsoft.com/office/drawing/2014/main" id="{743F8694-6036-1791-0258-F47FD015566D}"/>
              </a:ext>
            </a:extLst>
          </p:cNvPr>
          <p:cNvSpPr txBox="1"/>
          <p:nvPr/>
        </p:nvSpPr>
        <p:spPr>
          <a:xfrm>
            <a:off x="5211217" y="1703919"/>
            <a:ext cx="977452" cy="369332"/>
          </a:xfrm>
          <a:prstGeom prst="rect">
            <a:avLst/>
          </a:prstGeom>
          <a:noFill/>
        </p:spPr>
        <p:txBody>
          <a:bodyPr wrap="square" rtlCol="0">
            <a:spAutoFit/>
          </a:bodyPr>
          <a:lstStyle/>
          <a:p>
            <a:r>
              <a:rPr kumimoji="1" lang="zh-CN" altLang="en-US" dirty="0"/>
              <a:t>内核态</a:t>
            </a:r>
          </a:p>
        </p:txBody>
      </p:sp>
      <p:sp>
        <p:nvSpPr>
          <p:cNvPr id="29" name="圆角矩形 28">
            <a:extLst>
              <a:ext uri="{FF2B5EF4-FFF2-40B4-BE49-F238E27FC236}">
                <a16:creationId xmlns:a16="http://schemas.microsoft.com/office/drawing/2014/main" id="{538F74F1-91CE-E254-0305-306CF158E70E}"/>
              </a:ext>
            </a:extLst>
          </p:cNvPr>
          <p:cNvSpPr/>
          <p:nvPr/>
        </p:nvSpPr>
        <p:spPr>
          <a:xfrm>
            <a:off x="6092238" y="3194845"/>
            <a:ext cx="4625400" cy="1559139"/>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文本框 29">
            <a:extLst>
              <a:ext uri="{FF2B5EF4-FFF2-40B4-BE49-F238E27FC236}">
                <a16:creationId xmlns:a16="http://schemas.microsoft.com/office/drawing/2014/main" id="{C0386883-E493-12F5-D627-8E1F1025F170}"/>
              </a:ext>
            </a:extLst>
          </p:cNvPr>
          <p:cNvSpPr txBox="1"/>
          <p:nvPr/>
        </p:nvSpPr>
        <p:spPr>
          <a:xfrm>
            <a:off x="10717637" y="3575490"/>
            <a:ext cx="1344314" cy="646331"/>
          </a:xfrm>
          <a:prstGeom prst="rect">
            <a:avLst/>
          </a:prstGeom>
          <a:noFill/>
        </p:spPr>
        <p:txBody>
          <a:bodyPr wrap="square" rtlCol="0">
            <a:spAutoFit/>
          </a:bodyPr>
          <a:lstStyle/>
          <a:p>
            <a:r>
              <a:rPr kumimoji="1" lang="en-US" altLang="zh-CN" dirty="0" err="1"/>
              <a:t>RendezvOS</a:t>
            </a:r>
            <a:r>
              <a:rPr kumimoji="1" lang="zh-CN" altLang="en-US" dirty="0"/>
              <a:t>框架</a:t>
            </a:r>
          </a:p>
        </p:txBody>
      </p:sp>
      <p:sp>
        <p:nvSpPr>
          <p:cNvPr id="31" name="圆角矩形 30">
            <a:extLst>
              <a:ext uri="{FF2B5EF4-FFF2-40B4-BE49-F238E27FC236}">
                <a16:creationId xmlns:a16="http://schemas.microsoft.com/office/drawing/2014/main" id="{2E7D55E9-B2DE-0453-D7E4-95E08064899A}"/>
              </a:ext>
            </a:extLst>
          </p:cNvPr>
          <p:cNvSpPr/>
          <p:nvPr/>
        </p:nvSpPr>
        <p:spPr>
          <a:xfrm>
            <a:off x="6367662" y="3355234"/>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内存管理</a:t>
            </a:r>
          </a:p>
        </p:txBody>
      </p:sp>
      <p:sp>
        <p:nvSpPr>
          <p:cNvPr id="32" name="圆角矩形 31">
            <a:extLst>
              <a:ext uri="{FF2B5EF4-FFF2-40B4-BE49-F238E27FC236}">
                <a16:creationId xmlns:a16="http://schemas.microsoft.com/office/drawing/2014/main" id="{5719F5A0-3D6C-CCCC-7BB0-42545FAEB34B}"/>
              </a:ext>
            </a:extLst>
          </p:cNvPr>
          <p:cNvSpPr/>
          <p:nvPr/>
        </p:nvSpPr>
        <p:spPr>
          <a:xfrm>
            <a:off x="7703104" y="3355234"/>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线程管理</a:t>
            </a:r>
          </a:p>
        </p:txBody>
      </p:sp>
      <p:sp>
        <p:nvSpPr>
          <p:cNvPr id="33" name="圆角矩形 32">
            <a:extLst>
              <a:ext uri="{FF2B5EF4-FFF2-40B4-BE49-F238E27FC236}">
                <a16:creationId xmlns:a16="http://schemas.microsoft.com/office/drawing/2014/main" id="{BE4C544C-BF8F-BE55-AB51-E6512F932890}"/>
              </a:ext>
            </a:extLst>
          </p:cNvPr>
          <p:cNvSpPr/>
          <p:nvPr/>
        </p:nvSpPr>
        <p:spPr>
          <a:xfrm>
            <a:off x="9038545" y="3355234"/>
            <a:ext cx="1404239"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IPC</a:t>
            </a:r>
            <a:r>
              <a:rPr kumimoji="1" lang="zh-CN" altLang="en-US" dirty="0"/>
              <a:t>管理</a:t>
            </a:r>
          </a:p>
        </p:txBody>
      </p:sp>
      <p:sp>
        <p:nvSpPr>
          <p:cNvPr id="34" name="圆角矩形 33">
            <a:extLst>
              <a:ext uri="{FF2B5EF4-FFF2-40B4-BE49-F238E27FC236}">
                <a16:creationId xmlns:a16="http://schemas.microsoft.com/office/drawing/2014/main" id="{BB4C5EAB-61D9-DCBF-902C-0EBB2CD35958}"/>
              </a:ext>
            </a:extLst>
          </p:cNvPr>
          <p:cNvSpPr/>
          <p:nvPr/>
        </p:nvSpPr>
        <p:spPr>
          <a:xfrm>
            <a:off x="6367661" y="4050881"/>
            <a:ext cx="1601003"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a:t>
            </a:r>
            <a:r>
              <a:rPr kumimoji="1" lang="en-US" altLang="zh-CN" dirty="0" err="1"/>
              <a:t>smp</a:t>
            </a:r>
            <a:r>
              <a:rPr kumimoji="1" lang="zh-CN" altLang="en-US" dirty="0"/>
              <a:t>）</a:t>
            </a:r>
            <a:r>
              <a:rPr kumimoji="1" lang="en-US" altLang="zh-CN" dirty="0"/>
              <a:t>boot</a:t>
            </a:r>
            <a:endParaRPr kumimoji="1" lang="zh-CN" altLang="en-US" dirty="0"/>
          </a:p>
        </p:txBody>
      </p:sp>
      <p:sp>
        <p:nvSpPr>
          <p:cNvPr id="35" name="圆角矩形 34">
            <a:extLst>
              <a:ext uri="{FF2B5EF4-FFF2-40B4-BE49-F238E27FC236}">
                <a16:creationId xmlns:a16="http://schemas.microsoft.com/office/drawing/2014/main" id="{163302B6-F0BC-5C50-B853-A4BE002EEA24}"/>
              </a:ext>
            </a:extLst>
          </p:cNvPr>
          <p:cNvSpPr/>
          <p:nvPr/>
        </p:nvSpPr>
        <p:spPr>
          <a:xfrm>
            <a:off x="8100138" y="4050881"/>
            <a:ext cx="759414"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工具</a:t>
            </a:r>
          </a:p>
        </p:txBody>
      </p:sp>
      <p:sp>
        <p:nvSpPr>
          <p:cNvPr id="36" name="圆角矩形 35">
            <a:extLst>
              <a:ext uri="{FF2B5EF4-FFF2-40B4-BE49-F238E27FC236}">
                <a16:creationId xmlns:a16="http://schemas.microsoft.com/office/drawing/2014/main" id="{3326E9E0-AE77-5398-9153-F7323164ADCD}"/>
              </a:ext>
            </a:extLst>
          </p:cNvPr>
          <p:cNvSpPr/>
          <p:nvPr/>
        </p:nvSpPr>
        <p:spPr>
          <a:xfrm>
            <a:off x="8991026" y="4050881"/>
            <a:ext cx="1451759"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兼容兼容层的构建系统</a:t>
            </a:r>
          </a:p>
        </p:txBody>
      </p:sp>
      <p:sp>
        <p:nvSpPr>
          <p:cNvPr id="37" name="圆角矩形 36">
            <a:extLst>
              <a:ext uri="{FF2B5EF4-FFF2-40B4-BE49-F238E27FC236}">
                <a16:creationId xmlns:a16="http://schemas.microsoft.com/office/drawing/2014/main" id="{9BD7AAEE-D681-5A89-2787-16B141C3BCDF}"/>
              </a:ext>
            </a:extLst>
          </p:cNvPr>
          <p:cNvSpPr/>
          <p:nvPr/>
        </p:nvSpPr>
        <p:spPr>
          <a:xfrm>
            <a:off x="8742402" y="1586865"/>
            <a:ext cx="1949003"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用户态线程在内核态的延伸</a:t>
            </a:r>
            <a:r>
              <a:rPr kumimoji="1" lang="en-US" altLang="zh-CN" dirty="0"/>
              <a:t>——</a:t>
            </a:r>
            <a:r>
              <a:rPr kumimoji="1" lang="en-US" altLang="zh-CN" dirty="0" err="1"/>
              <a:t>Syscall</a:t>
            </a:r>
            <a:r>
              <a:rPr kumimoji="1" lang="zh-CN" altLang="en-US" dirty="0"/>
              <a:t>兼容层和消息转发</a:t>
            </a:r>
          </a:p>
        </p:txBody>
      </p:sp>
      <p:sp>
        <p:nvSpPr>
          <p:cNvPr id="38" name="文本框 37">
            <a:extLst>
              <a:ext uri="{FF2B5EF4-FFF2-40B4-BE49-F238E27FC236}">
                <a16:creationId xmlns:a16="http://schemas.microsoft.com/office/drawing/2014/main" id="{F1D988DA-2288-80AC-5F12-AB44296AF0CB}"/>
              </a:ext>
            </a:extLst>
          </p:cNvPr>
          <p:cNvSpPr txBox="1"/>
          <p:nvPr/>
        </p:nvSpPr>
        <p:spPr>
          <a:xfrm>
            <a:off x="10837350" y="2073251"/>
            <a:ext cx="950601" cy="369332"/>
          </a:xfrm>
          <a:prstGeom prst="rect">
            <a:avLst/>
          </a:prstGeom>
          <a:noFill/>
        </p:spPr>
        <p:txBody>
          <a:bodyPr wrap="square" rtlCol="0">
            <a:spAutoFit/>
          </a:bodyPr>
          <a:lstStyle/>
          <a:p>
            <a:r>
              <a:rPr kumimoji="1" lang="zh-CN" altLang="en-US" dirty="0"/>
              <a:t>兼容层</a:t>
            </a:r>
          </a:p>
        </p:txBody>
      </p:sp>
      <p:sp>
        <p:nvSpPr>
          <p:cNvPr id="39" name="圆角矩形 38">
            <a:extLst>
              <a:ext uri="{FF2B5EF4-FFF2-40B4-BE49-F238E27FC236}">
                <a16:creationId xmlns:a16="http://schemas.microsoft.com/office/drawing/2014/main" id="{8AAEAF0B-5E73-874F-F92A-AC59530B03B0}"/>
              </a:ext>
            </a:extLst>
          </p:cNvPr>
          <p:cNvSpPr/>
          <p:nvPr/>
        </p:nvSpPr>
        <p:spPr>
          <a:xfrm>
            <a:off x="8742401" y="579656"/>
            <a:ext cx="1949003" cy="787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用户态线程</a:t>
            </a:r>
          </a:p>
        </p:txBody>
      </p:sp>
      <p:sp>
        <p:nvSpPr>
          <p:cNvPr id="40" name="圆角矩形 39">
            <a:extLst>
              <a:ext uri="{FF2B5EF4-FFF2-40B4-BE49-F238E27FC236}">
                <a16:creationId xmlns:a16="http://schemas.microsoft.com/office/drawing/2014/main" id="{59B57D92-38CB-E60A-7708-59EE737CDF88}"/>
              </a:ext>
            </a:extLst>
          </p:cNvPr>
          <p:cNvSpPr/>
          <p:nvPr/>
        </p:nvSpPr>
        <p:spPr>
          <a:xfrm>
            <a:off x="6092237" y="1586865"/>
            <a:ext cx="1033479"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单执行流的设备驱动</a:t>
            </a:r>
          </a:p>
        </p:txBody>
      </p:sp>
      <p:sp>
        <p:nvSpPr>
          <p:cNvPr id="41" name="圆角矩形 40">
            <a:extLst>
              <a:ext uri="{FF2B5EF4-FFF2-40B4-BE49-F238E27FC236}">
                <a16:creationId xmlns:a16="http://schemas.microsoft.com/office/drawing/2014/main" id="{F3F81AC8-11C1-FCE1-F5F7-D06B24383F89}"/>
              </a:ext>
            </a:extLst>
          </p:cNvPr>
          <p:cNvSpPr/>
          <p:nvPr/>
        </p:nvSpPr>
        <p:spPr>
          <a:xfrm>
            <a:off x="7151948" y="1586865"/>
            <a:ext cx="1218160"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单执行流的</a:t>
            </a:r>
            <a:r>
              <a:rPr kumimoji="1" lang="en-US" altLang="zh-CN" dirty="0" err="1"/>
              <a:t>vfs</a:t>
            </a:r>
            <a:r>
              <a:rPr kumimoji="1" lang="zh-CN" altLang="en-US" dirty="0"/>
              <a:t>等其他内核功能</a:t>
            </a:r>
          </a:p>
        </p:txBody>
      </p:sp>
      <p:sp>
        <p:nvSpPr>
          <p:cNvPr id="42" name="左右箭头 41">
            <a:extLst>
              <a:ext uri="{FF2B5EF4-FFF2-40B4-BE49-F238E27FC236}">
                <a16:creationId xmlns:a16="http://schemas.microsoft.com/office/drawing/2014/main" id="{0601D7A1-0CCF-2FA7-5BA9-167E16E205FB}"/>
              </a:ext>
            </a:extLst>
          </p:cNvPr>
          <p:cNvSpPr/>
          <p:nvPr/>
        </p:nvSpPr>
        <p:spPr>
          <a:xfrm>
            <a:off x="8362506" y="2077887"/>
            <a:ext cx="366780" cy="25687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圆角矩形 42">
            <a:extLst>
              <a:ext uri="{FF2B5EF4-FFF2-40B4-BE49-F238E27FC236}">
                <a16:creationId xmlns:a16="http://schemas.microsoft.com/office/drawing/2014/main" id="{B3BC043F-219F-F9E5-9059-99A36EF45224}"/>
              </a:ext>
            </a:extLst>
          </p:cNvPr>
          <p:cNvSpPr/>
          <p:nvPr/>
        </p:nvSpPr>
        <p:spPr>
          <a:xfrm>
            <a:off x="5665007"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cxnSp>
        <p:nvCxnSpPr>
          <p:cNvPr id="44" name="直线连接符 43">
            <a:extLst>
              <a:ext uri="{FF2B5EF4-FFF2-40B4-BE49-F238E27FC236}">
                <a16:creationId xmlns:a16="http://schemas.microsoft.com/office/drawing/2014/main" id="{CEF82189-53DC-756E-FEFD-9EE962A829DB}"/>
              </a:ext>
            </a:extLst>
          </p:cNvPr>
          <p:cNvCxnSpPr>
            <a:cxnSpLocks/>
          </p:cNvCxnSpPr>
          <p:nvPr/>
        </p:nvCxnSpPr>
        <p:spPr>
          <a:xfrm>
            <a:off x="5211215" y="5074659"/>
            <a:ext cx="5506422"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圆角矩形 44">
            <a:extLst>
              <a:ext uri="{FF2B5EF4-FFF2-40B4-BE49-F238E27FC236}">
                <a16:creationId xmlns:a16="http://schemas.microsoft.com/office/drawing/2014/main" id="{18E033BA-0E2A-4DAD-6A22-D9A2ED623EF4}"/>
              </a:ext>
            </a:extLst>
          </p:cNvPr>
          <p:cNvSpPr/>
          <p:nvPr/>
        </p:nvSpPr>
        <p:spPr>
          <a:xfrm>
            <a:off x="6963399"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46" name="圆角矩形 45">
            <a:extLst>
              <a:ext uri="{FF2B5EF4-FFF2-40B4-BE49-F238E27FC236}">
                <a16:creationId xmlns:a16="http://schemas.microsoft.com/office/drawing/2014/main" id="{DF6F3BE9-8131-EF07-E6AB-EB7602BBDEB1}"/>
              </a:ext>
            </a:extLst>
          </p:cNvPr>
          <p:cNvSpPr/>
          <p:nvPr/>
        </p:nvSpPr>
        <p:spPr>
          <a:xfrm>
            <a:off x="8261791"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47" name="圆角矩形 46">
            <a:extLst>
              <a:ext uri="{FF2B5EF4-FFF2-40B4-BE49-F238E27FC236}">
                <a16:creationId xmlns:a16="http://schemas.microsoft.com/office/drawing/2014/main" id="{D2611C1C-EB75-9E4B-F025-711CC14D50A5}"/>
              </a:ext>
            </a:extLst>
          </p:cNvPr>
          <p:cNvSpPr/>
          <p:nvPr/>
        </p:nvSpPr>
        <p:spPr>
          <a:xfrm>
            <a:off x="9560183"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48" name="文本框 47">
            <a:extLst>
              <a:ext uri="{FF2B5EF4-FFF2-40B4-BE49-F238E27FC236}">
                <a16:creationId xmlns:a16="http://schemas.microsoft.com/office/drawing/2014/main" id="{F6AAB5BF-C518-9D9F-1181-7F2B428D28CE}"/>
              </a:ext>
            </a:extLst>
          </p:cNvPr>
          <p:cNvSpPr txBox="1"/>
          <p:nvPr/>
        </p:nvSpPr>
        <p:spPr>
          <a:xfrm>
            <a:off x="10951601" y="5236500"/>
            <a:ext cx="677863" cy="369332"/>
          </a:xfrm>
          <a:prstGeom prst="rect">
            <a:avLst/>
          </a:prstGeom>
          <a:noFill/>
        </p:spPr>
        <p:txBody>
          <a:bodyPr wrap="square" rtlCol="0">
            <a:spAutoFit/>
          </a:bodyPr>
          <a:lstStyle/>
          <a:p>
            <a:r>
              <a:rPr kumimoji="1" lang="zh-CN" altLang="en-US" dirty="0"/>
              <a:t>硬件</a:t>
            </a:r>
          </a:p>
        </p:txBody>
      </p:sp>
    </p:spTree>
    <p:extLst>
      <p:ext uri="{BB962C8B-B14F-4D97-AF65-F5344CB8AC3E}">
        <p14:creationId xmlns:p14="http://schemas.microsoft.com/office/powerpoint/2010/main" val="2215069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76997-6921-9F9D-1ADB-8A6DE706BC4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E078B09-3244-974F-3E8A-00DF67D0FAA6}"/>
              </a:ext>
            </a:extLst>
          </p:cNvPr>
          <p:cNvSpPr>
            <a:spLocks noGrp="1"/>
          </p:cNvSpPr>
          <p:nvPr>
            <p:ph type="title"/>
          </p:nvPr>
        </p:nvSpPr>
        <p:spPr/>
        <p:txBody>
          <a:bodyPr/>
          <a:lstStyle/>
          <a:p>
            <a:r>
              <a:rPr lang="zh-CN" altLang="en-US" dirty="0"/>
              <a:t>设计目的和思路</a:t>
            </a:r>
          </a:p>
        </p:txBody>
      </p:sp>
      <p:sp>
        <p:nvSpPr>
          <p:cNvPr id="4" name="文本占位符 3">
            <a:extLst>
              <a:ext uri="{FF2B5EF4-FFF2-40B4-BE49-F238E27FC236}">
                <a16:creationId xmlns:a16="http://schemas.microsoft.com/office/drawing/2014/main" id="{1D95C9BF-2841-6639-CA44-E18F267ECE5B}"/>
              </a:ext>
            </a:extLst>
          </p:cNvPr>
          <p:cNvSpPr>
            <a:spLocks noGrp="1"/>
          </p:cNvSpPr>
          <p:nvPr>
            <p:ph type="body" sz="half" idx="25"/>
          </p:nvPr>
        </p:nvSpPr>
        <p:spPr/>
        <p:txBody>
          <a:bodyPr/>
          <a:lstStyle/>
          <a:p>
            <a:r>
              <a:rPr lang="en-US" altLang="zh-CN" dirty="0"/>
              <a:t>01</a:t>
            </a:r>
            <a:endParaRPr lang="zh-CN" altLang="en-US" dirty="0"/>
          </a:p>
        </p:txBody>
      </p:sp>
      <p:sp>
        <p:nvSpPr>
          <p:cNvPr id="7" name="文本占位符 6">
            <a:extLst>
              <a:ext uri="{FF2B5EF4-FFF2-40B4-BE49-F238E27FC236}">
                <a16:creationId xmlns:a16="http://schemas.microsoft.com/office/drawing/2014/main" id="{BD8B54A2-899E-8065-55D3-4EAA3B7CF107}"/>
              </a:ext>
            </a:extLst>
          </p:cNvPr>
          <p:cNvSpPr>
            <a:spLocks noGrp="1"/>
          </p:cNvSpPr>
          <p:nvPr>
            <p:ph type="body" sz="half" idx="2"/>
          </p:nvPr>
        </p:nvSpPr>
        <p:spPr>
          <a:xfrm>
            <a:off x="562536" y="1823159"/>
            <a:ext cx="5102470" cy="4716706"/>
          </a:xfrm>
        </p:spPr>
        <p:txBody>
          <a:bodyPr>
            <a:normAutofit lnSpcReduction="10000"/>
          </a:bodyPr>
          <a:lstStyle/>
          <a:p>
            <a:pPr marL="0" indent="0">
              <a:buNone/>
            </a:pPr>
            <a:r>
              <a:rPr lang="zh-CN" altLang="en-US" dirty="0"/>
              <a:t>框架的特点</a:t>
            </a:r>
            <a:endParaRPr lang="en-US" altLang="zh-CN" dirty="0"/>
          </a:p>
          <a:p>
            <a:r>
              <a:rPr lang="zh-CN" altLang="en-US" dirty="0"/>
              <a:t>可扩展的内核边界</a:t>
            </a:r>
            <a:r>
              <a:rPr lang="en-US" altLang="zh-CN" dirty="0"/>
              <a:t>——</a:t>
            </a:r>
            <a:r>
              <a:rPr lang="zh-CN" altLang="en-US" dirty="0"/>
              <a:t>我们只有一个框架，但是基于这个框架可以由</a:t>
            </a:r>
            <a:r>
              <a:rPr lang="en-US" altLang="zh-CN" dirty="0"/>
              <a:t>AI</a:t>
            </a:r>
            <a:r>
              <a:rPr lang="zh-CN" altLang="en-US" dirty="0"/>
              <a:t>自由地根据需求放不同的内核态线程</a:t>
            </a:r>
            <a:endParaRPr lang="en-US" altLang="zh-CN" dirty="0"/>
          </a:p>
          <a:p>
            <a:r>
              <a:rPr lang="en-US" altLang="zh-CN" dirty="0"/>
              <a:t>AI</a:t>
            </a:r>
            <a:r>
              <a:rPr lang="zh-CN" altLang="en-US" dirty="0"/>
              <a:t>模型生成边界可控</a:t>
            </a:r>
            <a:r>
              <a:rPr lang="en-US" altLang="zh-CN" dirty="0"/>
              <a:t>——</a:t>
            </a:r>
            <a:r>
              <a:rPr lang="zh-CN" altLang="en-US" dirty="0"/>
              <a:t>它只被允许生成单执行流的同步式的策略逻辑，关于复杂的多核并发等问题，都被收进框架内，并通过被封装好的异步无锁</a:t>
            </a:r>
            <a:r>
              <a:rPr lang="en-US" altLang="zh-CN" dirty="0"/>
              <a:t>IPC</a:t>
            </a:r>
            <a:r>
              <a:rPr lang="zh-CN" altLang="en-US" dirty="0"/>
              <a:t>和其他内核线程进行通信。</a:t>
            </a:r>
            <a:endParaRPr lang="en-US" altLang="zh-CN" dirty="0"/>
          </a:p>
          <a:p>
            <a:r>
              <a:rPr lang="zh-CN" altLang="en-US" dirty="0"/>
              <a:t>可支持不同的</a:t>
            </a:r>
            <a:r>
              <a:rPr lang="en-US" altLang="zh-CN" dirty="0" err="1"/>
              <a:t>syscall</a:t>
            </a:r>
            <a:r>
              <a:rPr lang="zh-CN" altLang="en-US" dirty="0"/>
              <a:t>兼容层</a:t>
            </a:r>
            <a:r>
              <a:rPr lang="en-US" altLang="zh-CN" dirty="0"/>
              <a:t>——</a:t>
            </a:r>
            <a:r>
              <a:rPr lang="zh-CN" altLang="en-US" dirty="0"/>
              <a:t>支持不同的内核。</a:t>
            </a:r>
            <a:endParaRPr lang="en-US" altLang="zh-CN" dirty="0"/>
          </a:p>
          <a:p>
            <a:r>
              <a:rPr lang="zh-CN" altLang="en-US" dirty="0"/>
              <a:t>一些基于</a:t>
            </a:r>
            <a:r>
              <a:rPr lang="en-US" altLang="zh-CN" dirty="0"/>
              <a:t>poll</a:t>
            </a:r>
            <a:r>
              <a:rPr lang="zh-CN" altLang="en-US" dirty="0"/>
              <a:t>的循环，可以演变为</a:t>
            </a:r>
            <a:r>
              <a:rPr lang="en-US" altLang="zh-CN" dirty="0"/>
              <a:t>send/</a:t>
            </a:r>
            <a:r>
              <a:rPr lang="en-US" altLang="zh-CN" dirty="0" err="1"/>
              <a:t>recv</a:t>
            </a:r>
            <a:r>
              <a:rPr lang="zh-CN" altLang="en-US" dirty="0"/>
              <a:t>的阻塞模式</a:t>
            </a:r>
            <a:endParaRPr lang="en-US" altLang="zh-CN" dirty="0"/>
          </a:p>
        </p:txBody>
      </p:sp>
      <p:sp>
        <p:nvSpPr>
          <p:cNvPr id="10" name="文本占位符 9">
            <a:extLst>
              <a:ext uri="{FF2B5EF4-FFF2-40B4-BE49-F238E27FC236}">
                <a16:creationId xmlns:a16="http://schemas.microsoft.com/office/drawing/2014/main" id="{DF4841BF-C7DD-381C-AFC7-8CBADCE8B5A5}"/>
              </a:ext>
            </a:extLst>
          </p:cNvPr>
          <p:cNvSpPr>
            <a:spLocks noGrp="1"/>
          </p:cNvSpPr>
          <p:nvPr>
            <p:ph type="body" sz="half" idx="24"/>
          </p:nvPr>
        </p:nvSpPr>
        <p:spPr/>
        <p:txBody>
          <a:bodyPr/>
          <a:lstStyle/>
          <a:p>
            <a:r>
              <a:rPr lang="zh-CN" altLang="en-US" dirty="0"/>
              <a:t>设计思路</a:t>
            </a:r>
          </a:p>
        </p:txBody>
      </p:sp>
      <p:sp>
        <p:nvSpPr>
          <p:cNvPr id="28" name="文本占位符 8">
            <a:extLst>
              <a:ext uri="{FF2B5EF4-FFF2-40B4-BE49-F238E27FC236}">
                <a16:creationId xmlns:a16="http://schemas.microsoft.com/office/drawing/2014/main" id="{03A1A781-302C-27C8-A006-56E2130717EB}"/>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cxnSp>
        <p:nvCxnSpPr>
          <p:cNvPr id="9" name="直线连接符 8">
            <a:extLst>
              <a:ext uri="{FF2B5EF4-FFF2-40B4-BE49-F238E27FC236}">
                <a16:creationId xmlns:a16="http://schemas.microsoft.com/office/drawing/2014/main" id="{B7955119-F36D-FDA2-08F1-2925F5778545}"/>
              </a:ext>
            </a:extLst>
          </p:cNvPr>
          <p:cNvCxnSpPr>
            <a:cxnSpLocks/>
          </p:cNvCxnSpPr>
          <p:nvPr/>
        </p:nvCxnSpPr>
        <p:spPr>
          <a:xfrm>
            <a:off x="5211215" y="1493258"/>
            <a:ext cx="55064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直线连接符 28">
            <a:extLst>
              <a:ext uri="{FF2B5EF4-FFF2-40B4-BE49-F238E27FC236}">
                <a16:creationId xmlns:a16="http://schemas.microsoft.com/office/drawing/2014/main" id="{EAEF2D5E-AFF0-44FA-221E-5DC047086824}"/>
              </a:ext>
            </a:extLst>
          </p:cNvPr>
          <p:cNvCxnSpPr>
            <a:cxnSpLocks/>
          </p:cNvCxnSpPr>
          <p:nvPr/>
        </p:nvCxnSpPr>
        <p:spPr>
          <a:xfrm>
            <a:off x="6092237" y="2987856"/>
            <a:ext cx="46254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0" name="文本框 29">
            <a:extLst>
              <a:ext uri="{FF2B5EF4-FFF2-40B4-BE49-F238E27FC236}">
                <a16:creationId xmlns:a16="http://schemas.microsoft.com/office/drawing/2014/main" id="{2D643BA8-AF98-EE3F-08B9-71D9134EA3BA}"/>
              </a:ext>
            </a:extLst>
          </p:cNvPr>
          <p:cNvSpPr txBox="1"/>
          <p:nvPr/>
        </p:nvSpPr>
        <p:spPr>
          <a:xfrm>
            <a:off x="5211213" y="892123"/>
            <a:ext cx="977455" cy="369332"/>
          </a:xfrm>
          <a:prstGeom prst="rect">
            <a:avLst/>
          </a:prstGeom>
          <a:noFill/>
        </p:spPr>
        <p:txBody>
          <a:bodyPr wrap="square" rtlCol="0">
            <a:spAutoFit/>
          </a:bodyPr>
          <a:lstStyle/>
          <a:p>
            <a:r>
              <a:rPr kumimoji="1" lang="zh-CN" altLang="en-US" dirty="0"/>
              <a:t>用户态</a:t>
            </a:r>
          </a:p>
        </p:txBody>
      </p:sp>
      <p:sp>
        <p:nvSpPr>
          <p:cNvPr id="31" name="文本框 30">
            <a:extLst>
              <a:ext uri="{FF2B5EF4-FFF2-40B4-BE49-F238E27FC236}">
                <a16:creationId xmlns:a16="http://schemas.microsoft.com/office/drawing/2014/main" id="{4A3DAEE4-66AB-D7EF-0BDC-92C91F122153}"/>
              </a:ext>
            </a:extLst>
          </p:cNvPr>
          <p:cNvSpPr txBox="1"/>
          <p:nvPr/>
        </p:nvSpPr>
        <p:spPr>
          <a:xfrm>
            <a:off x="5211217" y="1703919"/>
            <a:ext cx="977452" cy="369332"/>
          </a:xfrm>
          <a:prstGeom prst="rect">
            <a:avLst/>
          </a:prstGeom>
          <a:noFill/>
        </p:spPr>
        <p:txBody>
          <a:bodyPr wrap="square" rtlCol="0">
            <a:spAutoFit/>
          </a:bodyPr>
          <a:lstStyle/>
          <a:p>
            <a:r>
              <a:rPr kumimoji="1" lang="zh-CN" altLang="en-US" dirty="0"/>
              <a:t>内核态</a:t>
            </a:r>
          </a:p>
        </p:txBody>
      </p:sp>
      <p:sp>
        <p:nvSpPr>
          <p:cNvPr id="32" name="圆角矩形 31">
            <a:extLst>
              <a:ext uri="{FF2B5EF4-FFF2-40B4-BE49-F238E27FC236}">
                <a16:creationId xmlns:a16="http://schemas.microsoft.com/office/drawing/2014/main" id="{D49FCBDB-9C35-A7CD-3A8E-98095016F89A}"/>
              </a:ext>
            </a:extLst>
          </p:cNvPr>
          <p:cNvSpPr/>
          <p:nvPr/>
        </p:nvSpPr>
        <p:spPr>
          <a:xfrm>
            <a:off x="6092238" y="3194845"/>
            <a:ext cx="4625400" cy="1559139"/>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A4C1BBC8-3DE9-F0F2-EA70-DDDA57803539}"/>
              </a:ext>
            </a:extLst>
          </p:cNvPr>
          <p:cNvSpPr txBox="1"/>
          <p:nvPr/>
        </p:nvSpPr>
        <p:spPr>
          <a:xfrm>
            <a:off x="10717637" y="3575490"/>
            <a:ext cx="1344314" cy="646331"/>
          </a:xfrm>
          <a:prstGeom prst="rect">
            <a:avLst/>
          </a:prstGeom>
          <a:noFill/>
        </p:spPr>
        <p:txBody>
          <a:bodyPr wrap="square" rtlCol="0">
            <a:spAutoFit/>
          </a:bodyPr>
          <a:lstStyle/>
          <a:p>
            <a:r>
              <a:rPr kumimoji="1" lang="en-US" altLang="zh-CN" dirty="0" err="1"/>
              <a:t>RendezvOS</a:t>
            </a:r>
            <a:r>
              <a:rPr kumimoji="1" lang="zh-CN" altLang="en-US" dirty="0"/>
              <a:t>框架</a:t>
            </a:r>
          </a:p>
        </p:txBody>
      </p:sp>
      <p:sp>
        <p:nvSpPr>
          <p:cNvPr id="34" name="圆角矩形 33">
            <a:extLst>
              <a:ext uri="{FF2B5EF4-FFF2-40B4-BE49-F238E27FC236}">
                <a16:creationId xmlns:a16="http://schemas.microsoft.com/office/drawing/2014/main" id="{FA7E24D1-0955-D3DE-3376-E8484E46502A}"/>
              </a:ext>
            </a:extLst>
          </p:cNvPr>
          <p:cNvSpPr/>
          <p:nvPr/>
        </p:nvSpPr>
        <p:spPr>
          <a:xfrm>
            <a:off x="6367662" y="3355234"/>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内存管理</a:t>
            </a:r>
          </a:p>
        </p:txBody>
      </p:sp>
      <p:sp>
        <p:nvSpPr>
          <p:cNvPr id="35" name="圆角矩形 34">
            <a:extLst>
              <a:ext uri="{FF2B5EF4-FFF2-40B4-BE49-F238E27FC236}">
                <a16:creationId xmlns:a16="http://schemas.microsoft.com/office/drawing/2014/main" id="{2860FEBF-813D-037F-57EB-E0C55E3D88A1}"/>
              </a:ext>
            </a:extLst>
          </p:cNvPr>
          <p:cNvSpPr/>
          <p:nvPr/>
        </p:nvSpPr>
        <p:spPr>
          <a:xfrm>
            <a:off x="7703104" y="3355234"/>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线程管理</a:t>
            </a:r>
          </a:p>
        </p:txBody>
      </p:sp>
      <p:sp>
        <p:nvSpPr>
          <p:cNvPr id="36" name="圆角矩形 35">
            <a:extLst>
              <a:ext uri="{FF2B5EF4-FFF2-40B4-BE49-F238E27FC236}">
                <a16:creationId xmlns:a16="http://schemas.microsoft.com/office/drawing/2014/main" id="{0E1D5965-8F83-9C6E-46B2-A0D05CE01476}"/>
              </a:ext>
            </a:extLst>
          </p:cNvPr>
          <p:cNvSpPr/>
          <p:nvPr/>
        </p:nvSpPr>
        <p:spPr>
          <a:xfrm>
            <a:off x="9038545" y="3355234"/>
            <a:ext cx="1404239"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IPC</a:t>
            </a:r>
            <a:r>
              <a:rPr kumimoji="1" lang="zh-CN" altLang="en-US" dirty="0"/>
              <a:t>管理</a:t>
            </a:r>
          </a:p>
        </p:txBody>
      </p:sp>
      <p:sp>
        <p:nvSpPr>
          <p:cNvPr id="37" name="圆角矩形 36">
            <a:extLst>
              <a:ext uri="{FF2B5EF4-FFF2-40B4-BE49-F238E27FC236}">
                <a16:creationId xmlns:a16="http://schemas.microsoft.com/office/drawing/2014/main" id="{CEDA25C3-0328-F596-ECCF-EB16ECA4950D}"/>
              </a:ext>
            </a:extLst>
          </p:cNvPr>
          <p:cNvSpPr/>
          <p:nvPr/>
        </p:nvSpPr>
        <p:spPr>
          <a:xfrm>
            <a:off x="6367661" y="4050881"/>
            <a:ext cx="1601003"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a:t>
            </a:r>
            <a:r>
              <a:rPr kumimoji="1" lang="en-US" altLang="zh-CN" dirty="0" err="1"/>
              <a:t>smp</a:t>
            </a:r>
            <a:r>
              <a:rPr kumimoji="1" lang="zh-CN" altLang="en-US" dirty="0"/>
              <a:t>）</a:t>
            </a:r>
            <a:r>
              <a:rPr kumimoji="1" lang="en-US" altLang="zh-CN" dirty="0"/>
              <a:t>boot</a:t>
            </a:r>
            <a:endParaRPr kumimoji="1" lang="zh-CN" altLang="en-US" dirty="0"/>
          </a:p>
        </p:txBody>
      </p:sp>
      <p:sp>
        <p:nvSpPr>
          <p:cNvPr id="38" name="圆角矩形 37">
            <a:extLst>
              <a:ext uri="{FF2B5EF4-FFF2-40B4-BE49-F238E27FC236}">
                <a16:creationId xmlns:a16="http://schemas.microsoft.com/office/drawing/2014/main" id="{ECBCA59F-ACBE-5CFC-A5BE-2106C6CBF41F}"/>
              </a:ext>
            </a:extLst>
          </p:cNvPr>
          <p:cNvSpPr/>
          <p:nvPr/>
        </p:nvSpPr>
        <p:spPr>
          <a:xfrm>
            <a:off x="8100138" y="4050881"/>
            <a:ext cx="759414"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工具</a:t>
            </a:r>
          </a:p>
        </p:txBody>
      </p:sp>
      <p:sp>
        <p:nvSpPr>
          <p:cNvPr id="39" name="圆角矩形 38">
            <a:extLst>
              <a:ext uri="{FF2B5EF4-FFF2-40B4-BE49-F238E27FC236}">
                <a16:creationId xmlns:a16="http://schemas.microsoft.com/office/drawing/2014/main" id="{E7B799F2-CEFC-16FC-BF1A-57A2F2BB29F9}"/>
              </a:ext>
            </a:extLst>
          </p:cNvPr>
          <p:cNvSpPr/>
          <p:nvPr/>
        </p:nvSpPr>
        <p:spPr>
          <a:xfrm>
            <a:off x="8991026" y="4050881"/>
            <a:ext cx="1451759"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兼容兼容层的构建系统</a:t>
            </a:r>
          </a:p>
        </p:txBody>
      </p:sp>
      <p:sp>
        <p:nvSpPr>
          <p:cNvPr id="40" name="圆角矩形 39">
            <a:extLst>
              <a:ext uri="{FF2B5EF4-FFF2-40B4-BE49-F238E27FC236}">
                <a16:creationId xmlns:a16="http://schemas.microsoft.com/office/drawing/2014/main" id="{F212F9F8-7F32-DC1E-3021-49742C2CD010}"/>
              </a:ext>
            </a:extLst>
          </p:cNvPr>
          <p:cNvSpPr/>
          <p:nvPr/>
        </p:nvSpPr>
        <p:spPr>
          <a:xfrm>
            <a:off x="8742402" y="1586865"/>
            <a:ext cx="1949003"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用户态线程在内核态的延伸</a:t>
            </a:r>
            <a:r>
              <a:rPr kumimoji="1" lang="en-US" altLang="zh-CN" dirty="0"/>
              <a:t>——</a:t>
            </a:r>
            <a:r>
              <a:rPr kumimoji="1" lang="en-US" altLang="zh-CN" dirty="0" err="1"/>
              <a:t>Syscall</a:t>
            </a:r>
            <a:r>
              <a:rPr kumimoji="1" lang="zh-CN" altLang="en-US" dirty="0"/>
              <a:t>兼容层和消息转发</a:t>
            </a:r>
          </a:p>
        </p:txBody>
      </p:sp>
      <p:sp>
        <p:nvSpPr>
          <p:cNvPr id="41" name="文本框 40">
            <a:extLst>
              <a:ext uri="{FF2B5EF4-FFF2-40B4-BE49-F238E27FC236}">
                <a16:creationId xmlns:a16="http://schemas.microsoft.com/office/drawing/2014/main" id="{14BF85AF-BC76-BB04-1338-2ED1F8E02492}"/>
              </a:ext>
            </a:extLst>
          </p:cNvPr>
          <p:cNvSpPr txBox="1"/>
          <p:nvPr/>
        </p:nvSpPr>
        <p:spPr>
          <a:xfrm>
            <a:off x="10837350" y="2073251"/>
            <a:ext cx="950601" cy="369332"/>
          </a:xfrm>
          <a:prstGeom prst="rect">
            <a:avLst/>
          </a:prstGeom>
          <a:noFill/>
        </p:spPr>
        <p:txBody>
          <a:bodyPr wrap="square" rtlCol="0">
            <a:spAutoFit/>
          </a:bodyPr>
          <a:lstStyle/>
          <a:p>
            <a:r>
              <a:rPr kumimoji="1" lang="zh-CN" altLang="en-US" dirty="0"/>
              <a:t>兼容层</a:t>
            </a:r>
          </a:p>
        </p:txBody>
      </p:sp>
      <p:sp>
        <p:nvSpPr>
          <p:cNvPr id="42" name="圆角矩形 41">
            <a:extLst>
              <a:ext uri="{FF2B5EF4-FFF2-40B4-BE49-F238E27FC236}">
                <a16:creationId xmlns:a16="http://schemas.microsoft.com/office/drawing/2014/main" id="{C686A761-C06A-B448-B921-AE4B0AD3DBC7}"/>
              </a:ext>
            </a:extLst>
          </p:cNvPr>
          <p:cNvSpPr/>
          <p:nvPr/>
        </p:nvSpPr>
        <p:spPr>
          <a:xfrm>
            <a:off x="8742401" y="579656"/>
            <a:ext cx="1949003" cy="787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用户态线程</a:t>
            </a:r>
          </a:p>
        </p:txBody>
      </p:sp>
      <p:sp>
        <p:nvSpPr>
          <p:cNvPr id="43" name="圆角矩形 42">
            <a:extLst>
              <a:ext uri="{FF2B5EF4-FFF2-40B4-BE49-F238E27FC236}">
                <a16:creationId xmlns:a16="http://schemas.microsoft.com/office/drawing/2014/main" id="{D6238666-D360-5904-ED94-D7CF31D30879}"/>
              </a:ext>
            </a:extLst>
          </p:cNvPr>
          <p:cNvSpPr/>
          <p:nvPr/>
        </p:nvSpPr>
        <p:spPr>
          <a:xfrm>
            <a:off x="6092237" y="1586865"/>
            <a:ext cx="1033479"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单执行流的设备驱动</a:t>
            </a:r>
          </a:p>
        </p:txBody>
      </p:sp>
      <p:sp>
        <p:nvSpPr>
          <p:cNvPr id="44" name="圆角矩形 43">
            <a:extLst>
              <a:ext uri="{FF2B5EF4-FFF2-40B4-BE49-F238E27FC236}">
                <a16:creationId xmlns:a16="http://schemas.microsoft.com/office/drawing/2014/main" id="{D162739A-EDD5-0190-1DEE-888356822B6C}"/>
              </a:ext>
            </a:extLst>
          </p:cNvPr>
          <p:cNvSpPr/>
          <p:nvPr/>
        </p:nvSpPr>
        <p:spPr>
          <a:xfrm>
            <a:off x="7151948" y="1586865"/>
            <a:ext cx="1218160" cy="1238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单执行流的</a:t>
            </a:r>
            <a:r>
              <a:rPr kumimoji="1" lang="en-US" altLang="zh-CN" dirty="0" err="1"/>
              <a:t>vfs</a:t>
            </a:r>
            <a:r>
              <a:rPr kumimoji="1" lang="zh-CN" altLang="en-US" dirty="0"/>
              <a:t>等其他内核功能</a:t>
            </a:r>
          </a:p>
        </p:txBody>
      </p:sp>
      <p:sp>
        <p:nvSpPr>
          <p:cNvPr id="45" name="左右箭头 44">
            <a:extLst>
              <a:ext uri="{FF2B5EF4-FFF2-40B4-BE49-F238E27FC236}">
                <a16:creationId xmlns:a16="http://schemas.microsoft.com/office/drawing/2014/main" id="{90850DB2-E31F-9F24-7D7C-7FBA9D1C70E5}"/>
              </a:ext>
            </a:extLst>
          </p:cNvPr>
          <p:cNvSpPr/>
          <p:nvPr/>
        </p:nvSpPr>
        <p:spPr>
          <a:xfrm>
            <a:off x="8362506" y="2077887"/>
            <a:ext cx="366780" cy="25687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圆角矩形 45">
            <a:extLst>
              <a:ext uri="{FF2B5EF4-FFF2-40B4-BE49-F238E27FC236}">
                <a16:creationId xmlns:a16="http://schemas.microsoft.com/office/drawing/2014/main" id="{EE4BAB1F-392B-5CFF-BED8-D09BD0FC3C0B}"/>
              </a:ext>
            </a:extLst>
          </p:cNvPr>
          <p:cNvSpPr/>
          <p:nvPr/>
        </p:nvSpPr>
        <p:spPr>
          <a:xfrm>
            <a:off x="5665007"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cxnSp>
        <p:nvCxnSpPr>
          <p:cNvPr id="47" name="直线连接符 46">
            <a:extLst>
              <a:ext uri="{FF2B5EF4-FFF2-40B4-BE49-F238E27FC236}">
                <a16:creationId xmlns:a16="http://schemas.microsoft.com/office/drawing/2014/main" id="{E5FB9BB6-F01A-84B8-DB7F-6830AFE784EC}"/>
              </a:ext>
            </a:extLst>
          </p:cNvPr>
          <p:cNvCxnSpPr>
            <a:cxnSpLocks/>
          </p:cNvCxnSpPr>
          <p:nvPr/>
        </p:nvCxnSpPr>
        <p:spPr>
          <a:xfrm>
            <a:off x="5211215" y="5074659"/>
            <a:ext cx="5506422" cy="0"/>
          </a:xfrm>
          <a:prstGeom prst="line">
            <a:avLst/>
          </a:prstGeom>
        </p:spPr>
        <p:style>
          <a:lnRef idx="2">
            <a:schemeClr val="accent1"/>
          </a:lnRef>
          <a:fillRef idx="0">
            <a:schemeClr val="accent1"/>
          </a:fillRef>
          <a:effectRef idx="1">
            <a:schemeClr val="accent1"/>
          </a:effectRef>
          <a:fontRef idx="minor">
            <a:schemeClr val="tx1"/>
          </a:fontRef>
        </p:style>
      </p:cxnSp>
      <p:sp>
        <p:nvSpPr>
          <p:cNvPr id="48" name="圆角矩形 47">
            <a:extLst>
              <a:ext uri="{FF2B5EF4-FFF2-40B4-BE49-F238E27FC236}">
                <a16:creationId xmlns:a16="http://schemas.microsoft.com/office/drawing/2014/main" id="{198854A6-389C-AA31-0E64-31EA57E73E2A}"/>
              </a:ext>
            </a:extLst>
          </p:cNvPr>
          <p:cNvSpPr/>
          <p:nvPr/>
        </p:nvSpPr>
        <p:spPr>
          <a:xfrm>
            <a:off x="6963399"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49" name="圆角矩形 48">
            <a:extLst>
              <a:ext uri="{FF2B5EF4-FFF2-40B4-BE49-F238E27FC236}">
                <a16:creationId xmlns:a16="http://schemas.microsoft.com/office/drawing/2014/main" id="{0F368134-7863-03A7-C851-85F7CBA7B5E1}"/>
              </a:ext>
            </a:extLst>
          </p:cNvPr>
          <p:cNvSpPr/>
          <p:nvPr/>
        </p:nvSpPr>
        <p:spPr>
          <a:xfrm>
            <a:off x="8261791"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50" name="圆角矩形 49">
            <a:extLst>
              <a:ext uri="{FF2B5EF4-FFF2-40B4-BE49-F238E27FC236}">
                <a16:creationId xmlns:a16="http://schemas.microsoft.com/office/drawing/2014/main" id="{18AC3FA0-ECDB-9DA9-DB0B-BE8F0E275CEF}"/>
              </a:ext>
            </a:extLst>
          </p:cNvPr>
          <p:cNvSpPr/>
          <p:nvPr/>
        </p:nvSpPr>
        <p:spPr>
          <a:xfrm>
            <a:off x="9560183" y="5236500"/>
            <a:ext cx="1156448" cy="53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SMP</a:t>
            </a:r>
            <a:r>
              <a:rPr kumimoji="1" lang="zh-CN" altLang="en-US" dirty="0"/>
              <a:t>核心</a:t>
            </a:r>
          </a:p>
        </p:txBody>
      </p:sp>
      <p:sp>
        <p:nvSpPr>
          <p:cNvPr id="51" name="文本框 50">
            <a:extLst>
              <a:ext uri="{FF2B5EF4-FFF2-40B4-BE49-F238E27FC236}">
                <a16:creationId xmlns:a16="http://schemas.microsoft.com/office/drawing/2014/main" id="{887A9277-6126-F6EE-270E-4FC383472873}"/>
              </a:ext>
            </a:extLst>
          </p:cNvPr>
          <p:cNvSpPr txBox="1"/>
          <p:nvPr/>
        </p:nvSpPr>
        <p:spPr>
          <a:xfrm>
            <a:off x="11050862" y="5319463"/>
            <a:ext cx="677863" cy="369332"/>
          </a:xfrm>
          <a:prstGeom prst="rect">
            <a:avLst/>
          </a:prstGeom>
          <a:noFill/>
        </p:spPr>
        <p:txBody>
          <a:bodyPr wrap="square" rtlCol="0">
            <a:spAutoFit/>
          </a:bodyPr>
          <a:lstStyle/>
          <a:p>
            <a:r>
              <a:rPr kumimoji="1" lang="zh-CN" altLang="en-US" dirty="0"/>
              <a:t>硬件</a:t>
            </a:r>
          </a:p>
        </p:txBody>
      </p:sp>
    </p:spTree>
    <p:extLst>
      <p:ext uri="{BB962C8B-B14F-4D97-AF65-F5344CB8AC3E}">
        <p14:creationId xmlns:p14="http://schemas.microsoft.com/office/powerpoint/2010/main" val="3160068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49C2-17C9-9FA9-828E-3429C07AF9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C1B726E-038F-DB65-65ED-DC73F9F79CDB}"/>
              </a:ext>
            </a:extLst>
          </p:cNvPr>
          <p:cNvSpPr>
            <a:spLocks noGrp="1"/>
          </p:cNvSpPr>
          <p:nvPr>
            <p:ph type="title"/>
          </p:nvPr>
        </p:nvSpPr>
        <p:spPr>
          <a:xfrm>
            <a:off x="8151496" y="5034280"/>
            <a:ext cx="2412514" cy="796290"/>
          </a:xfrm>
        </p:spPr>
        <p:txBody>
          <a:bodyPr>
            <a:normAutofit fontScale="90000"/>
          </a:bodyPr>
          <a:lstStyle/>
          <a:p>
            <a:r>
              <a:rPr lang="zh-CN" altLang="en-US" dirty="0"/>
              <a:t>内核框架关键机制</a:t>
            </a:r>
          </a:p>
        </p:txBody>
      </p:sp>
      <p:sp>
        <p:nvSpPr>
          <p:cNvPr id="4" name="文本占位符 3">
            <a:extLst>
              <a:ext uri="{FF2B5EF4-FFF2-40B4-BE49-F238E27FC236}">
                <a16:creationId xmlns:a16="http://schemas.microsoft.com/office/drawing/2014/main" id="{7C0AC4F4-D980-605E-DEEB-087F680FCC36}"/>
              </a:ext>
            </a:extLst>
          </p:cNvPr>
          <p:cNvSpPr>
            <a:spLocks noGrp="1"/>
          </p:cNvSpPr>
          <p:nvPr>
            <p:ph type="body" idx="13"/>
          </p:nvPr>
        </p:nvSpPr>
        <p:spPr/>
        <p:txBody>
          <a:bodyPr/>
          <a:lstStyle/>
          <a:p>
            <a:r>
              <a:rPr lang="en-US" altLang="zh-CN" dirty="0"/>
              <a:t>02</a:t>
            </a:r>
            <a:endParaRPr lang="zh-CN" altLang="en-US" dirty="0"/>
          </a:p>
        </p:txBody>
      </p:sp>
    </p:spTree>
    <p:extLst>
      <p:ext uri="{BB962C8B-B14F-4D97-AF65-F5344CB8AC3E}">
        <p14:creationId xmlns:p14="http://schemas.microsoft.com/office/powerpoint/2010/main" val="2076544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8D91-C428-2E36-0DDD-13E47542BCE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8DB592D-DED8-DAAC-C150-D106555E7CBE}"/>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2153BAFB-AAEC-8885-42C0-2AD0FE2152C5}"/>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150CDD1E-F58D-A4FE-65AE-FF8E71A72513}"/>
              </a:ext>
            </a:extLst>
          </p:cNvPr>
          <p:cNvSpPr>
            <a:spLocks noGrp="1"/>
          </p:cNvSpPr>
          <p:nvPr>
            <p:ph type="body" sz="half" idx="2"/>
          </p:nvPr>
        </p:nvSpPr>
        <p:spPr>
          <a:xfrm>
            <a:off x="566058" y="1844675"/>
            <a:ext cx="3352798" cy="4150995"/>
          </a:xfrm>
        </p:spPr>
        <p:txBody>
          <a:bodyPr/>
          <a:lstStyle/>
          <a:p>
            <a:pPr marL="0" indent="0">
              <a:buNone/>
            </a:pPr>
            <a:r>
              <a:rPr lang="zh-CN" altLang="en-US" dirty="0"/>
              <a:t>整个内存框架主要包括四部分</a:t>
            </a:r>
            <a:endParaRPr lang="en-US" altLang="zh-CN" dirty="0"/>
          </a:p>
          <a:p>
            <a:r>
              <a:rPr lang="zh-CN" altLang="en-US" dirty="0"/>
              <a:t>多</a:t>
            </a:r>
            <a:r>
              <a:rPr lang="en-US" altLang="zh-CN" dirty="0"/>
              <a:t>zone</a:t>
            </a:r>
            <a:r>
              <a:rPr lang="zh-CN" altLang="en-US" dirty="0"/>
              <a:t>的物理页面管理器</a:t>
            </a:r>
            <a:endParaRPr lang="en-US" altLang="zh-CN" dirty="0"/>
          </a:p>
          <a:p>
            <a:r>
              <a:rPr lang="zh-CN" altLang="en-US" dirty="0"/>
              <a:t>按需映射的映射器</a:t>
            </a:r>
            <a:endParaRPr lang="en-US" altLang="zh-CN" dirty="0"/>
          </a:p>
          <a:p>
            <a:r>
              <a:rPr lang="en-US" altLang="zh-CN" dirty="0"/>
              <a:t>Radix</a:t>
            </a:r>
            <a:r>
              <a:rPr lang="zh-CN" altLang="en-US" dirty="0"/>
              <a:t> </a:t>
            </a:r>
            <a:r>
              <a:rPr lang="en-US" altLang="zh-CN" dirty="0"/>
              <a:t>tree</a:t>
            </a:r>
            <a:r>
              <a:rPr lang="zh-CN" altLang="en-US" dirty="0"/>
              <a:t>的带树锁的虚拟页面管理器</a:t>
            </a:r>
            <a:endParaRPr lang="en-US" altLang="zh-CN" dirty="0"/>
          </a:p>
          <a:p>
            <a:r>
              <a:rPr lang="zh-CN" altLang="en-US" dirty="0"/>
              <a:t>（仅限内核的）</a:t>
            </a:r>
            <a:r>
              <a:rPr lang="en-US" altLang="zh-CN" dirty="0" err="1"/>
              <a:t>percpu</a:t>
            </a:r>
            <a:r>
              <a:rPr lang="zh-CN" altLang="en-US" dirty="0"/>
              <a:t>内核对象分配器。</a:t>
            </a:r>
          </a:p>
        </p:txBody>
      </p:sp>
      <p:sp>
        <p:nvSpPr>
          <p:cNvPr id="10" name="文本占位符 9">
            <a:extLst>
              <a:ext uri="{FF2B5EF4-FFF2-40B4-BE49-F238E27FC236}">
                <a16:creationId xmlns:a16="http://schemas.microsoft.com/office/drawing/2014/main" id="{67BBA886-A388-EF72-35E2-A672FA69A215}"/>
              </a:ext>
            </a:extLst>
          </p:cNvPr>
          <p:cNvSpPr>
            <a:spLocks noGrp="1"/>
          </p:cNvSpPr>
          <p:nvPr>
            <p:ph type="body" sz="half" idx="24"/>
          </p:nvPr>
        </p:nvSpPr>
        <p:spPr>
          <a:xfrm>
            <a:off x="880110" y="980440"/>
            <a:ext cx="6892290" cy="606425"/>
          </a:xfrm>
        </p:spPr>
        <p:txBody>
          <a:bodyPr>
            <a:normAutofit/>
          </a:bodyPr>
          <a:lstStyle/>
          <a:p>
            <a:r>
              <a:rPr lang="zh-CN" altLang="en-US" dirty="0"/>
              <a:t>内存框架</a:t>
            </a:r>
          </a:p>
        </p:txBody>
      </p:sp>
      <p:sp>
        <p:nvSpPr>
          <p:cNvPr id="2" name="文本占位符 8">
            <a:extLst>
              <a:ext uri="{FF2B5EF4-FFF2-40B4-BE49-F238E27FC236}">
                <a16:creationId xmlns:a16="http://schemas.microsoft.com/office/drawing/2014/main" id="{40B711CD-575A-FEC2-DD13-38D3BE9454EC}"/>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
        <p:nvSpPr>
          <p:cNvPr id="49" name="矩形 48">
            <a:extLst>
              <a:ext uri="{FF2B5EF4-FFF2-40B4-BE49-F238E27FC236}">
                <a16:creationId xmlns:a16="http://schemas.microsoft.com/office/drawing/2014/main" id="{707F1089-4F74-D9CD-7080-00FFF5771C9D}"/>
              </a:ext>
            </a:extLst>
          </p:cNvPr>
          <p:cNvSpPr/>
          <p:nvPr/>
        </p:nvSpPr>
        <p:spPr>
          <a:xfrm>
            <a:off x="6636657" y="709506"/>
            <a:ext cx="2455333"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物理页面管理器</a:t>
            </a:r>
          </a:p>
        </p:txBody>
      </p:sp>
      <p:sp>
        <p:nvSpPr>
          <p:cNvPr id="50" name="矩形 49">
            <a:extLst>
              <a:ext uri="{FF2B5EF4-FFF2-40B4-BE49-F238E27FC236}">
                <a16:creationId xmlns:a16="http://schemas.microsoft.com/office/drawing/2014/main" id="{FF41AAFB-4B1B-D6EB-706E-E104C3DEF3C5}"/>
              </a:ext>
            </a:extLst>
          </p:cNvPr>
          <p:cNvSpPr/>
          <p:nvPr/>
        </p:nvSpPr>
        <p:spPr>
          <a:xfrm>
            <a:off x="3918858" y="2072640"/>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Map</a:t>
            </a:r>
            <a:r>
              <a:rPr kumimoji="1" lang="zh-CN" altLang="en-US" dirty="0"/>
              <a:t> </a:t>
            </a:r>
            <a:r>
              <a:rPr kumimoji="1" lang="en-US" altLang="zh-CN" dirty="0"/>
              <a:t>handler</a:t>
            </a:r>
            <a:endParaRPr kumimoji="1" lang="zh-CN" altLang="en-US" dirty="0"/>
          </a:p>
        </p:txBody>
      </p:sp>
      <p:sp>
        <p:nvSpPr>
          <p:cNvPr id="51" name="矩形 50">
            <a:extLst>
              <a:ext uri="{FF2B5EF4-FFF2-40B4-BE49-F238E27FC236}">
                <a16:creationId xmlns:a16="http://schemas.microsoft.com/office/drawing/2014/main" id="{2552F173-FA41-7242-57F0-4BD30E5BD0D6}"/>
              </a:ext>
            </a:extLst>
          </p:cNvPr>
          <p:cNvSpPr/>
          <p:nvPr/>
        </p:nvSpPr>
        <p:spPr>
          <a:xfrm>
            <a:off x="6306457" y="2072640"/>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Map</a:t>
            </a:r>
            <a:r>
              <a:rPr kumimoji="1" lang="zh-CN" altLang="en-US" dirty="0"/>
              <a:t> </a:t>
            </a:r>
            <a:r>
              <a:rPr kumimoji="1" lang="en-US" altLang="zh-CN" dirty="0"/>
              <a:t>handler</a:t>
            </a:r>
            <a:endParaRPr kumimoji="1" lang="zh-CN" altLang="en-US" dirty="0"/>
          </a:p>
        </p:txBody>
      </p:sp>
      <p:sp>
        <p:nvSpPr>
          <p:cNvPr id="52" name="矩形 51">
            <a:extLst>
              <a:ext uri="{FF2B5EF4-FFF2-40B4-BE49-F238E27FC236}">
                <a16:creationId xmlns:a16="http://schemas.microsoft.com/office/drawing/2014/main" id="{B98644CE-D58F-7059-D9D5-4C4B81D63B26}"/>
              </a:ext>
            </a:extLst>
          </p:cNvPr>
          <p:cNvSpPr/>
          <p:nvPr/>
        </p:nvSpPr>
        <p:spPr>
          <a:xfrm>
            <a:off x="9896323" y="2072640"/>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Map</a:t>
            </a:r>
            <a:r>
              <a:rPr kumimoji="1" lang="zh-CN" altLang="en-US" dirty="0"/>
              <a:t> </a:t>
            </a:r>
            <a:r>
              <a:rPr kumimoji="1" lang="en-US" altLang="zh-CN" dirty="0"/>
              <a:t>handler</a:t>
            </a:r>
            <a:endParaRPr kumimoji="1" lang="zh-CN" altLang="en-US" dirty="0"/>
          </a:p>
        </p:txBody>
      </p:sp>
      <p:sp>
        <p:nvSpPr>
          <p:cNvPr id="53" name="文本框 52">
            <a:extLst>
              <a:ext uri="{FF2B5EF4-FFF2-40B4-BE49-F238E27FC236}">
                <a16:creationId xmlns:a16="http://schemas.microsoft.com/office/drawing/2014/main" id="{95F8302F-7FFE-2AEC-02AB-2701B6EBD336}"/>
              </a:ext>
            </a:extLst>
          </p:cNvPr>
          <p:cNvSpPr txBox="1"/>
          <p:nvPr/>
        </p:nvSpPr>
        <p:spPr>
          <a:xfrm>
            <a:off x="8118323" y="2158907"/>
            <a:ext cx="1642536" cy="369332"/>
          </a:xfrm>
          <a:prstGeom prst="rect">
            <a:avLst/>
          </a:prstGeom>
          <a:noFill/>
        </p:spPr>
        <p:txBody>
          <a:bodyPr wrap="square" rtlCol="0">
            <a:spAutoFit/>
          </a:bodyPr>
          <a:lstStyle/>
          <a:p>
            <a:r>
              <a:rPr kumimoji="1" lang="en-US" altLang="zh-CN" dirty="0"/>
              <a:t>……</a:t>
            </a:r>
            <a:endParaRPr kumimoji="1" lang="zh-CN" altLang="en-US" dirty="0"/>
          </a:p>
        </p:txBody>
      </p:sp>
      <p:sp>
        <p:nvSpPr>
          <p:cNvPr id="54" name="矩形 53">
            <a:extLst>
              <a:ext uri="{FF2B5EF4-FFF2-40B4-BE49-F238E27FC236}">
                <a16:creationId xmlns:a16="http://schemas.microsoft.com/office/drawing/2014/main" id="{3C9145F1-6DFB-DDAA-8BBE-F07EF02D2D72}"/>
              </a:ext>
            </a:extLst>
          </p:cNvPr>
          <p:cNvSpPr/>
          <p:nvPr/>
        </p:nvSpPr>
        <p:spPr>
          <a:xfrm>
            <a:off x="3918858" y="3308772"/>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Radix</a:t>
            </a:r>
            <a:r>
              <a:rPr kumimoji="1" lang="zh-CN" altLang="en-US" dirty="0"/>
              <a:t> </a:t>
            </a:r>
            <a:r>
              <a:rPr kumimoji="1" lang="en-US" altLang="zh-CN" dirty="0"/>
              <a:t>tree</a:t>
            </a:r>
            <a:r>
              <a:rPr kumimoji="1" lang="zh-CN" altLang="en-US" dirty="0"/>
              <a:t>虚拟页面管理器</a:t>
            </a:r>
          </a:p>
        </p:txBody>
      </p:sp>
      <p:sp>
        <p:nvSpPr>
          <p:cNvPr id="55" name="矩形 54">
            <a:extLst>
              <a:ext uri="{FF2B5EF4-FFF2-40B4-BE49-F238E27FC236}">
                <a16:creationId xmlns:a16="http://schemas.microsoft.com/office/drawing/2014/main" id="{B5ABD476-787F-26F8-CECC-9AA1E5F9919E}"/>
              </a:ext>
            </a:extLst>
          </p:cNvPr>
          <p:cNvSpPr/>
          <p:nvPr/>
        </p:nvSpPr>
        <p:spPr>
          <a:xfrm>
            <a:off x="3918858" y="4544904"/>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percpu</a:t>
            </a:r>
            <a:r>
              <a:rPr kumimoji="1" lang="zh-CN" altLang="en-US" dirty="0"/>
              <a:t>内核对象分配器</a:t>
            </a:r>
          </a:p>
        </p:txBody>
      </p:sp>
      <p:sp>
        <p:nvSpPr>
          <p:cNvPr id="56" name="矩形 55">
            <a:extLst>
              <a:ext uri="{FF2B5EF4-FFF2-40B4-BE49-F238E27FC236}">
                <a16:creationId xmlns:a16="http://schemas.microsoft.com/office/drawing/2014/main" id="{4C84C470-D9D5-8D19-CE5E-21AA89EA1C0E}"/>
              </a:ext>
            </a:extLst>
          </p:cNvPr>
          <p:cNvSpPr/>
          <p:nvPr/>
        </p:nvSpPr>
        <p:spPr>
          <a:xfrm>
            <a:off x="6306457" y="3308771"/>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Radix</a:t>
            </a:r>
            <a:r>
              <a:rPr kumimoji="1" lang="zh-CN" altLang="en-US" dirty="0"/>
              <a:t> </a:t>
            </a:r>
            <a:r>
              <a:rPr kumimoji="1" lang="en-US" altLang="zh-CN" dirty="0"/>
              <a:t>tree</a:t>
            </a:r>
            <a:r>
              <a:rPr kumimoji="1" lang="zh-CN" altLang="en-US" dirty="0"/>
              <a:t>虚拟页面管理器</a:t>
            </a:r>
          </a:p>
        </p:txBody>
      </p:sp>
      <p:sp>
        <p:nvSpPr>
          <p:cNvPr id="57" name="矩形 56">
            <a:extLst>
              <a:ext uri="{FF2B5EF4-FFF2-40B4-BE49-F238E27FC236}">
                <a16:creationId xmlns:a16="http://schemas.microsoft.com/office/drawing/2014/main" id="{1E2A2D3D-AB9A-A8A5-C2DE-6A2983556D15}"/>
              </a:ext>
            </a:extLst>
          </p:cNvPr>
          <p:cNvSpPr/>
          <p:nvPr/>
        </p:nvSpPr>
        <p:spPr>
          <a:xfrm>
            <a:off x="9896323" y="3308770"/>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Radix</a:t>
            </a:r>
            <a:r>
              <a:rPr kumimoji="1" lang="zh-CN" altLang="en-US" dirty="0"/>
              <a:t> </a:t>
            </a:r>
            <a:r>
              <a:rPr kumimoji="1" lang="en-US" altLang="zh-CN" dirty="0"/>
              <a:t>tree</a:t>
            </a:r>
            <a:r>
              <a:rPr kumimoji="1" lang="zh-CN" altLang="en-US" dirty="0"/>
              <a:t>虚拟页面管理器</a:t>
            </a:r>
          </a:p>
        </p:txBody>
      </p:sp>
      <p:sp>
        <p:nvSpPr>
          <p:cNvPr id="58" name="矩形 57">
            <a:extLst>
              <a:ext uri="{FF2B5EF4-FFF2-40B4-BE49-F238E27FC236}">
                <a16:creationId xmlns:a16="http://schemas.microsoft.com/office/drawing/2014/main" id="{6A46C2C2-5B54-15D1-793E-54B539B79D74}"/>
              </a:ext>
            </a:extLst>
          </p:cNvPr>
          <p:cNvSpPr/>
          <p:nvPr/>
        </p:nvSpPr>
        <p:spPr>
          <a:xfrm>
            <a:off x="6306457" y="4544904"/>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percpu</a:t>
            </a:r>
            <a:r>
              <a:rPr kumimoji="1" lang="zh-CN" altLang="en-US" dirty="0"/>
              <a:t>内核对象分配器</a:t>
            </a:r>
          </a:p>
        </p:txBody>
      </p:sp>
      <p:sp>
        <p:nvSpPr>
          <p:cNvPr id="59" name="矩形 58">
            <a:extLst>
              <a:ext uri="{FF2B5EF4-FFF2-40B4-BE49-F238E27FC236}">
                <a16:creationId xmlns:a16="http://schemas.microsoft.com/office/drawing/2014/main" id="{C88ABA3D-451A-DE9E-F384-69BB5CE79A75}"/>
              </a:ext>
            </a:extLst>
          </p:cNvPr>
          <p:cNvSpPr/>
          <p:nvPr/>
        </p:nvSpPr>
        <p:spPr>
          <a:xfrm>
            <a:off x="9896323" y="4544898"/>
            <a:ext cx="1557866"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percpu</a:t>
            </a:r>
            <a:r>
              <a:rPr kumimoji="1" lang="zh-CN" altLang="en-US" dirty="0"/>
              <a:t>内核对象分配器</a:t>
            </a:r>
          </a:p>
        </p:txBody>
      </p:sp>
      <p:cxnSp>
        <p:nvCxnSpPr>
          <p:cNvPr id="60" name="直线箭头连接符 59">
            <a:extLst>
              <a:ext uri="{FF2B5EF4-FFF2-40B4-BE49-F238E27FC236}">
                <a16:creationId xmlns:a16="http://schemas.microsoft.com/office/drawing/2014/main" id="{4863BC52-5B7B-AEE0-6EEF-48BE382F54AC}"/>
              </a:ext>
            </a:extLst>
          </p:cNvPr>
          <p:cNvCxnSpPr>
            <a:stCxn id="49" idx="2"/>
            <a:endCxn id="50" idx="0"/>
          </p:cNvCxnSpPr>
          <p:nvPr/>
        </p:nvCxnSpPr>
        <p:spPr>
          <a:xfrm flipH="1">
            <a:off x="4697791" y="1251373"/>
            <a:ext cx="3166533" cy="821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直线箭头连接符 60">
            <a:extLst>
              <a:ext uri="{FF2B5EF4-FFF2-40B4-BE49-F238E27FC236}">
                <a16:creationId xmlns:a16="http://schemas.microsoft.com/office/drawing/2014/main" id="{0ECC8F0E-A8CC-DD6E-90CF-64F82A4C60BA}"/>
              </a:ext>
            </a:extLst>
          </p:cNvPr>
          <p:cNvCxnSpPr>
            <a:cxnSpLocks/>
            <a:stCxn id="49" idx="2"/>
            <a:endCxn id="51" idx="0"/>
          </p:cNvCxnSpPr>
          <p:nvPr/>
        </p:nvCxnSpPr>
        <p:spPr>
          <a:xfrm flipH="1">
            <a:off x="7085390" y="1251373"/>
            <a:ext cx="778934" cy="821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直线箭头连接符 61">
            <a:extLst>
              <a:ext uri="{FF2B5EF4-FFF2-40B4-BE49-F238E27FC236}">
                <a16:creationId xmlns:a16="http://schemas.microsoft.com/office/drawing/2014/main" id="{4E5647E9-D61F-DC81-0EFF-5911965B579B}"/>
              </a:ext>
            </a:extLst>
          </p:cNvPr>
          <p:cNvCxnSpPr>
            <a:cxnSpLocks/>
            <a:stCxn id="49" idx="2"/>
            <a:endCxn id="52" idx="0"/>
          </p:cNvCxnSpPr>
          <p:nvPr/>
        </p:nvCxnSpPr>
        <p:spPr>
          <a:xfrm>
            <a:off x="7864324" y="1251373"/>
            <a:ext cx="2810932" cy="821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直线箭头连接符 62">
            <a:extLst>
              <a:ext uri="{FF2B5EF4-FFF2-40B4-BE49-F238E27FC236}">
                <a16:creationId xmlns:a16="http://schemas.microsoft.com/office/drawing/2014/main" id="{E9555C37-604F-368D-F8F5-3CA289DA10EF}"/>
              </a:ext>
            </a:extLst>
          </p:cNvPr>
          <p:cNvCxnSpPr>
            <a:cxnSpLocks/>
            <a:stCxn id="50" idx="2"/>
            <a:endCxn id="54" idx="0"/>
          </p:cNvCxnSpPr>
          <p:nvPr/>
        </p:nvCxnSpPr>
        <p:spPr>
          <a:xfrm>
            <a:off x="4697791" y="2614507"/>
            <a:ext cx="0" cy="694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直线箭头连接符 63">
            <a:extLst>
              <a:ext uri="{FF2B5EF4-FFF2-40B4-BE49-F238E27FC236}">
                <a16:creationId xmlns:a16="http://schemas.microsoft.com/office/drawing/2014/main" id="{53D01A47-63BD-8B45-73A6-D8FFFD881899}"/>
              </a:ext>
            </a:extLst>
          </p:cNvPr>
          <p:cNvCxnSpPr>
            <a:cxnSpLocks/>
            <a:stCxn id="51" idx="2"/>
            <a:endCxn id="56" idx="0"/>
          </p:cNvCxnSpPr>
          <p:nvPr/>
        </p:nvCxnSpPr>
        <p:spPr>
          <a:xfrm>
            <a:off x="7085390" y="2614507"/>
            <a:ext cx="0" cy="694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直线箭头连接符 64">
            <a:extLst>
              <a:ext uri="{FF2B5EF4-FFF2-40B4-BE49-F238E27FC236}">
                <a16:creationId xmlns:a16="http://schemas.microsoft.com/office/drawing/2014/main" id="{D696CBF5-9000-9D82-DB08-BCADE7E1F951}"/>
              </a:ext>
            </a:extLst>
          </p:cNvPr>
          <p:cNvCxnSpPr>
            <a:cxnSpLocks/>
            <a:stCxn id="52" idx="2"/>
            <a:endCxn id="57" idx="0"/>
          </p:cNvCxnSpPr>
          <p:nvPr/>
        </p:nvCxnSpPr>
        <p:spPr>
          <a:xfrm>
            <a:off x="10675256" y="2614507"/>
            <a:ext cx="0" cy="694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直线箭头连接符 65">
            <a:extLst>
              <a:ext uri="{FF2B5EF4-FFF2-40B4-BE49-F238E27FC236}">
                <a16:creationId xmlns:a16="http://schemas.microsoft.com/office/drawing/2014/main" id="{8BEB730C-C024-343E-CF38-625BDCD646B1}"/>
              </a:ext>
            </a:extLst>
          </p:cNvPr>
          <p:cNvCxnSpPr>
            <a:cxnSpLocks/>
          </p:cNvCxnSpPr>
          <p:nvPr/>
        </p:nvCxnSpPr>
        <p:spPr>
          <a:xfrm>
            <a:off x="4697791" y="3850637"/>
            <a:ext cx="0" cy="694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直线箭头连接符 66">
            <a:extLst>
              <a:ext uri="{FF2B5EF4-FFF2-40B4-BE49-F238E27FC236}">
                <a16:creationId xmlns:a16="http://schemas.microsoft.com/office/drawing/2014/main" id="{0E1DDCA4-CEFA-4B15-0C60-B8EBEEC075FB}"/>
              </a:ext>
            </a:extLst>
          </p:cNvPr>
          <p:cNvCxnSpPr>
            <a:cxnSpLocks/>
          </p:cNvCxnSpPr>
          <p:nvPr/>
        </p:nvCxnSpPr>
        <p:spPr>
          <a:xfrm>
            <a:off x="7085390" y="3850637"/>
            <a:ext cx="0" cy="694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直线箭头连接符 67">
            <a:extLst>
              <a:ext uri="{FF2B5EF4-FFF2-40B4-BE49-F238E27FC236}">
                <a16:creationId xmlns:a16="http://schemas.microsoft.com/office/drawing/2014/main" id="{85CAFFF9-382C-F945-3E59-5DA7913A231C}"/>
              </a:ext>
            </a:extLst>
          </p:cNvPr>
          <p:cNvCxnSpPr>
            <a:cxnSpLocks/>
          </p:cNvCxnSpPr>
          <p:nvPr/>
        </p:nvCxnSpPr>
        <p:spPr>
          <a:xfrm>
            <a:off x="10641388" y="3850635"/>
            <a:ext cx="0" cy="694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肘形连接符 68">
            <a:extLst>
              <a:ext uri="{FF2B5EF4-FFF2-40B4-BE49-F238E27FC236}">
                <a16:creationId xmlns:a16="http://schemas.microsoft.com/office/drawing/2014/main" id="{32D0CE8A-EF30-52DE-853C-0E7AD1AE1D09}"/>
              </a:ext>
            </a:extLst>
          </p:cNvPr>
          <p:cNvCxnSpPr>
            <a:stCxn id="55" idx="2"/>
            <a:endCxn id="58" idx="2"/>
          </p:cNvCxnSpPr>
          <p:nvPr/>
        </p:nvCxnSpPr>
        <p:spPr>
          <a:xfrm rot="16200000" flipH="1">
            <a:off x="5891590" y="3892971"/>
            <a:ext cx="12700" cy="2387599"/>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文本框 72">
            <a:extLst>
              <a:ext uri="{FF2B5EF4-FFF2-40B4-BE49-F238E27FC236}">
                <a16:creationId xmlns:a16="http://schemas.microsoft.com/office/drawing/2014/main" id="{2D62DB7A-0DF2-4F7F-F5DA-721992ED8BC8}"/>
              </a:ext>
            </a:extLst>
          </p:cNvPr>
          <p:cNvSpPr txBox="1"/>
          <p:nvPr/>
        </p:nvSpPr>
        <p:spPr>
          <a:xfrm>
            <a:off x="4539343" y="5399314"/>
            <a:ext cx="2710543" cy="923330"/>
          </a:xfrm>
          <a:prstGeom prst="rect">
            <a:avLst/>
          </a:prstGeom>
          <a:noFill/>
        </p:spPr>
        <p:txBody>
          <a:bodyPr wrap="square" rtlCol="0">
            <a:spAutoFit/>
          </a:bodyPr>
          <a:lstStyle/>
          <a:p>
            <a:r>
              <a:rPr kumimoji="1" lang="zh-CN" altLang="en-US" dirty="0"/>
              <a:t>无锁式地把非自己核心的内核对象归还给对应核心的分配器</a:t>
            </a:r>
          </a:p>
        </p:txBody>
      </p:sp>
    </p:spTree>
    <p:extLst>
      <p:ext uri="{BB962C8B-B14F-4D97-AF65-F5344CB8AC3E}">
        <p14:creationId xmlns:p14="http://schemas.microsoft.com/office/powerpoint/2010/main" val="848759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FFD18-C6E5-172E-00B8-9CBF48CB2112}"/>
            </a:ext>
          </a:extLst>
        </p:cNvPr>
        <p:cNvGrpSpPr/>
        <p:nvPr/>
      </p:nvGrpSpPr>
      <p:grpSpPr>
        <a:xfrm>
          <a:off x="0" y="0"/>
          <a:ext cx="0" cy="0"/>
          <a:chOff x="0" y="0"/>
          <a:chExt cx="0" cy="0"/>
        </a:xfrm>
      </p:grpSpPr>
      <p:sp>
        <p:nvSpPr>
          <p:cNvPr id="32" name="圆角矩形 31">
            <a:extLst>
              <a:ext uri="{FF2B5EF4-FFF2-40B4-BE49-F238E27FC236}">
                <a16:creationId xmlns:a16="http://schemas.microsoft.com/office/drawing/2014/main" id="{AF164AA0-7FDA-4D5C-94DB-252E02F78D1C}"/>
              </a:ext>
            </a:extLst>
          </p:cNvPr>
          <p:cNvSpPr/>
          <p:nvPr/>
        </p:nvSpPr>
        <p:spPr>
          <a:xfrm>
            <a:off x="926701" y="4671422"/>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3" name="标题 2">
            <a:extLst>
              <a:ext uri="{FF2B5EF4-FFF2-40B4-BE49-F238E27FC236}">
                <a16:creationId xmlns:a16="http://schemas.microsoft.com/office/drawing/2014/main" id="{FEE73118-24F5-4102-56B2-DB49955C10F9}"/>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60A08BA9-AEA7-774C-F214-DE4D1B71944E}"/>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81B3A5B3-3B77-FFEB-9888-5B649B91F915}"/>
              </a:ext>
            </a:extLst>
          </p:cNvPr>
          <p:cNvSpPr>
            <a:spLocks noGrp="1"/>
          </p:cNvSpPr>
          <p:nvPr>
            <p:ph type="body" sz="half" idx="2"/>
          </p:nvPr>
        </p:nvSpPr>
        <p:spPr>
          <a:xfrm>
            <a:off x="1082357" y="1516635"/>
            <a:ext cx="9171305" cy="1508125"/>
          </a:xfrm>
        </p:spPr>
        <p:txBody>
          <a:bodyPr>
            <a:normAutofit fontScale="85000" lnSpcReduction="20000"/>
          </a:bodyPr>
          <a:lstStyle/>
          <a:p>
            <a:pPr marL="0" indent="0">
              <a:buNone/>
            </a:pPr>
            <a:r>
              <a:rPr lang="zh-CN" altLang="en-US" dirty="0"/>
              <a:t>这个思路上很简单（主要是它只是一些优化，不是面向</a:t>
            </a:r>
            <a:r>
              <a:rPr lang="en-US" altLang="zh-CN" dirty="0"/>
              <a:t>AI</a:t>
            </a:r>
            <a:r>
              <a:rPr lang="zh-CN" altLang="en-US" dirty="0"/>
              <a:t>的核心机制），所以略作介绍，</a:t>
            </a:r>
            <a:r>
              <a:rPr lang="en-US" altLang="zh-CN" dirty="0"/>
              <a:t>buddy</a:t>
            </a:r>
            <a:r>
              <a:rPr lang="zh-CN" altLang="en-US" dirty="0"/>
              <a:t>分配器，本来需要维护大小为</a:t>
            </a:r>
            <a:r>
              <a:rPr lang="en-US" altLang="zh-CN" dirty="0"/>
              <a:t>1</a:t>
            </a:r>
            <a:r>
              <a:rPr lang="zh-CN" altLang="en-US" dirty="0"/>
              <a:t>，</a:t>
            </a:r>
            <a:r>
              <a:rPr lang="en-US" altLang="zh-CN" dirty="0"/>
              <a:t>2</a:t>
            </a:r>
            <a:r>
              <a:rPr lang="zh-CN" altLang="en-US" dirty="0"/>
              <a:t>，</a:t>
            </a:r>
            <a:r>
              <a:rPr lang="en-US" altLang="zh-CN" dirty="0"/>
              <a:t>4</a:t>
            </a:r>
            <a:r>
              <a:rPr lang="zh-CN" altLang="en-US" dirty="0"/>
              <a:t>，</a:t>
            </a:r>
            <a:r>
              <a:rPr lang="en-US" altLang="zh-CN" dirty="0"/>
              <a:t>8…</a:t>
            </a:r>
            <a:r>
              <a:rPr lang="zh-CN" altLang="en-US" dirty="0"/>
              <a:t> </a:t>
            </a:r>
            <a:r>
              <a:rPr lang="en-US" altLang="zh-CN" dirty="0"/>
              <a:t>2</a:t>
            </a:r>
            <a:r>
              <a:rPr lang="zh-CN" altLang="en-US" dirty="0"/>
              <a:t>的</a:t>
            </a:r>
            <a:r>
              <a:rPr lang="en-US" altLang="zh-CN" dirty="0"/>
              <a:t>k</a:t>
            </a:r>
            <a:r>
              <a:rPr lang="zh-CN" altLang="en-US" dirty="0"/>
              <a:t>次的各一个链表。</a:t>
            </a:r>
            <a:endParaRPr lang="en-US" altLang="zh-CN" dirty="0"/>
          </a:p>
          <a:p>
            <a:pPr marL="0" indent="0">
              <a:buNone/>
            </a:pPr>
            <a:r>
              <a:rPr lang="zh-CN" altLang="en-US" dirty="0"/>
              <a:t>我做的事情就是把它用树状数组表示，只需要维护一半的空间，同时操作更简单。</a:t>
            </a:r>
            <a:endParaRPr lang="en-US" altLang="zh-CN" dirty="0"/>
          </a:p>
          <a:p>
            <a:pPr marL="0" indent="0">
              <a:buNone/>
            </a:pPr>
            <a:r>
              <a:rPr lang="zh-CN" altLang="en-US" dirty="0"/>
              <a:t>这个例子里，</a:t>
            </a:r>
            <a:r>
              <a:rPr lang="en-US" altLang="zh-CN" dirty="0"/>
              <a:t>1</a:t>
            </a:r>
            <a:r>
              <a:rPr lang="zh-CN" altLang="en-US" dirty="0"/>
              <a:t>号页面被分配，那传统来说，</a:t>
            </a:r>
            <a:r>
              <a:rPr lang="en-US" altLang="zh-CN" dirty="0"/>
              <a:t>4</a:t>
            </a:r>
            <a:r>
              <a:rPr lang="zh-CN" altLang="en-US" dirty="0"/>
              <a:t>级别的链表</a:t>
            </a:r>
            <a:r>
              <a:rPr lang="en-US" altLang="zh-CN" dirty="0"/>
              <a:t>node</a:t>
            </a:r>
            <a:r>
              <a:rPr lang="zh-CN" altLang="en-US" dirty="0"/>
              <a:t>要标记分配出去，</a:t>
            </a:r>
            <a:r>
              <a:rPr lang="en-US" altLang="zh-CN" dirty="0"/>
              <a:t>2</a:t>
            </a:r>
            <a:r>
              <a:rPr lang="zh-CN" altLang="en-US" dirty="0"/>
              <a:t>级别的第一个和</a:t>
            </a:r>
            <a:r>
              <a:rPr lang="en-US" altLang="zh-CN" dirty="0"/>
              <a:t>1</a:t>
            </a:r>
            <a:r>
              <a:rPr lang="zh-CN" altLang="en-US" dirty="0"/>
              <a:t>级别的第一个都要表示为分配出去。但是压缩成数状数组，我只需要</a:t>
            </a:r>
            <a:r>
              <a:rPr lang="en-US" altLang="zh-CN" dirty="0"/>
              <a:t>page0</a:t>
            </a:r>
            <a:r>
              <a:rPr lang="zh-CN" altLang="en-US" dirty="0"/>
              <a:t>记录</a:t>
            </a:r>
            <a:r>
              <a:rPr lang="en-US" altLang="zh-CN" dirty="0"/>
              <a:t>level1</a:t>
            </a:r>
            <a:r>
              <a:rPr lang="zh-CN" altLang="en-US" dirty="0"/>
              <a:t>，</a:t>
            </a:r>
            <a:r>
              <a:rPr lang="en-US" altLang="zh-CN" dirty="0"/>
              <a:t>page2</a:t>
            </a:r>
            <a:r>
              <a:rPr lang="zh-CN" altLang="en-US" dirty="0"/>
              <a:t>记录</a:t>
            </a:r>
            <a:r>
              <a:rPr lang="en-US" altLang="zh-CN" dirty="0"/>
              <a:t>level2</a:t>
            </a:r>
            <a:r>
              <a:rPr lang="zh-CN" altLang="en-US" dirty="0"/>
              <a:t>即可。</a:t>
            </a:r>
          </a:p>
        </p:txBody>
      </p:sp>
      <p:sp>
        <p:nvSpPr>
          <p:cNvPr id="10" name="文本占位符 9">
            <a:extLst>
              <a:ext uri="{FF2B5EF4-FFF2-40B4-BE49-F238E27FC236}">
                <a16:creationId xmlns:a16="http://schemas.microsoft.com/office/drawing/2014/main" id="{AD161F75-41D2-9A96-999F-1CC4B77152CB}"/>
              </a:ext>
            </a:extLst>
          </p:cNvPr>
          <p:cNvSpPr>
            <a:spLocks noGrp="1"/>
          </p:cNvSpPr>
          <p:nvPr>
            <p:ph type="body" sz="half" idx="24"/>
          </p:nvPr>
        </p:nvSpPr>
        <p:spPr>
          <a:xfrm>
            <a:off x="880109" y="980440"/>
            <a:ext cx="7193373" cy="725697"/>
          </a:xfrm>
        </p:spPr>
        <p:txBody>
          <a:bodyPr>
            <a:normAutofit/>
          </a:bodyPr>
          <a:lstStyle/>
          <a:p>
            <a:r>
              <a:rPr lang="zh-CN" altLang="en-US" dirty="0"/>
              <a:t>基于数状数组实现的</a:t>
            </a:r>
            <a:r>
              <a:rPr lang="en-US" altLang="zh-CN" dirty="0"/>
              <a:t>buddy</a:t>
            </a:r>
            <a:r>
              <a:rPr lang="zh-CN" altLang="en-US" dirty="0"/>
              <a:t>物理内存分配</a:t>
            </a:r>
          </a:p>
        </p:txBody>
      </p:sp>
      <p:sp>
        <p:nvSpPr>
          <p:cNvPr id="2" name="文本占位符 8">
            <a:extLst>
              <a:ext uri="{FF2B5EF4-FFF2-40B4-BE49-F238E27FC236}">
                <a16:creationId xmlns:a16="http://schemas.microsoft.com/office/drawing/2014/main" id="{186990A9-E9BE-4A72-D52B-B276036086CC}"/>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
        <p:nvSpPr>
          <p:cNvPr id="5" name="圆角矩形 4">
            <a:extLst>
              <a:ext uri="{FF2B5EF4-FFF2-40B4-BE49-F238E27FC236}">
                <a16:creationId xmlns:a16="http://schemas.microsoft.com/office/drawing/2014/main" id="{F299F9AB-5FAC-DC66-28B9-A2754FC16E61}"/>
              </a:ext>
            </a:extLst>
          </p:cNvPr>
          <p:cNvSpPr/>
          <p:nvPr/>
        </p:nvSpPr>
        <p:spPr>
          <a:xfrm>
            <a:off x="928370" y="5471268"/>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6" name="圆角矩形 5">
            <a:extLst>
              <a:ext uri="{FF2B5EF4-FFF2-40B4-BE49-F238E27FC236}">
                <a16:creationId xmlns:a16="http://schemas.microsoft.com/office/drawing/2014/main" id="{5D87F15B-4F50-8CAF-9B87-A26FAF49C170}"/>
              </a:ext>
            </a:extLst>
          </p:cNvPr>
          <p:cNvSpPr/>
          <p:nvPr/>
        </p:nvSpPr>
        <p:spPr>
          <a:xfrm>
            <a:off x="1748472" y="5471268"/>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8" name="圆角矩形 7">
            <a:extLst>
              <a:ext uri="{FF2B5EF4-FFF2-40B4-BE49-F238E27FC236}">
                <a16:creationId xmlns:a16="http://schemas.microsoft.com/office/drawing/2014/main" id="{DFB3EC92-C6C9-C3D9-8296-B4268A85C60C}"/>
              </a:ext>
            </a:extLst>
          </p:cNvPr>
          <p:cNvSpPr/>
          <p:nvPr/>
        </p:nvSpPr>
        <p:spPr>
          <a:xfrm>
            <a:off x="2568574" y="5471268"/>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9" name="圆角矩形 8">
            <a:extLst>
              <a:ext uri="{FF2B5EF4-FFF2-40B4-BE49-F238E27FC236}">
                <a16:creationId xmlns:a16="http://schemas.microsoft.com/office/drawing/2014/main" id="{D7273EB3-75D8-4901-62CA-76AE91FC4DAF}"/>
              </a:ext>
            </a:extLst>
          </p:cNvPr>
          <p:cNvSpPr/>
          <p:nvPr/>
        </p:nvSpPr>
        <p:spPr>
          <a:xfrm>
            <a:off x="3388676" y="5471268"/>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16" name="圆角矩形 15">
            <a:extLst>
              <a:ext uri="{FF2B5EF4-FFF2-40B4-BE49-F238E27FC236}">
                <a16:creationId xmlns:a16="http://schemas.microsoft.com/office/drawing/2014/main" id="{79653D15-7BF7-9036-C0F6-4C73A498C48E}"/>
              </a:ext>
            </a:extLst>
          </p:cNvPr>
          <p:cNvSpPr/>
          <p:nvPr/>
        </p:nvSpPr>
        <p:spPr>
          <a:xfrm>
            <a:off x="1748472" y="4671422"/>
            <a:ext cx="762000" cy="59871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17" name="圆角矩形 16">
            <a:extLst>
              <a:ext uri="{FF2B5EF4-FFF2-40B4-BE49-F238E27FC236}">
                <a16:creationId xmlns:a16="http://schemas.microsoft.com/office/drawing/2014/main" id="{E94254B5-DFC1-1A97-287E-948B5756F7F9}"/>
              </a:ext>
            </a:extLst>
          </p:cNvPr>
          <p:cNvSpPr/>
          <p:nvPr/>
        </p:nvSpPr>
        <p:spPr>
          <a:xfrm>
            <a:off x="2568574" y="4671422"/>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18" name="圆角矩形 17">
            <a:extLst>
              <a:ext uri="{FF2B5EF4-FFF2-40B4-BE49-F238E27FC236}">
                <a16:creationId xmlns:a16="http://schemas.microsoft.com/office/drawing/2014/main" id="{B21255C1-9F5F-315D-E407-ACF9DD128F13}"/>
              </a:ext>
            </a:extLst>
          </p:cNvPr>
          <p:cNvSpPr/>
          <p:nvPr/>
        </p:nvSpPr>
        <p:spPr>
          <a:xfrm>
            <a:off x="3388676" y="4671422"/>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19" name="圆角矩形 18">
            <a:extLst>
              <a:ext uri="{FF2B5EF4-FFF2-40B4-BE49-F238E27FC236}">
                <a16:creationId xmlns:a16="http://schemas.microsoft.com/office/drawing/2014/main" id="{28C0AC5F-2208-9578-5ACA-6932B3C3528D}"/>
              </a:ext>
            </a:extLst>
          </p:cNvPr>
          <p:cNvSpPr/>
          <p:nvPr/>
        </p:nvSpPr>
        <p:spPr>
          <a:xfrm>
            <a:off x="928370" y="3871577"/>
            <a:ext cx="762000" cy="59871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20" name="圆角矩形 19">
            <a:extLst>
              <a:ext uri="{FF2B5EF4-FFF2-40B4-BE49-F238E27FC236}">
                <a16:creationId xmlns:a16="http://schemas.microsoft.com/office/drawing/2014/main" id="{3C0966AA-3295-1765-ECFC-5CE79B983615}"/>
              </a:ext>
            </a:extLst>
          </p:cNvPr>
          <p:cNvSpPr/>
          <p:nvPr/>
        </p:nvSpPr>
        <p:spPr>
          <a:xfrm>
            <a:off x="928370" y="3071732"/>
            <a:ext cx="762000" cy="59871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21" name="圆角矩形 20">
            <a:extLst>
              <a:ext uri="{FF2B5EF4-FFF2-40B4-BE49-F238E27FC236}">
                <a16:creationId xmlns:a16="http://schemas.microsoft.com/office/drawing/2014/main" id="{1485453E-37D8-6C12-C31B-7FE3A311D70B}"/>
              </a:ext>
            </a:extLst>
          </p:cNvPr>
          <p:cNvSpPr/>
          <p:nvPr/>
        </p:nvSpPr>
        <p:spPr>
          <a:xfrm>
            <a:off x="2568574" y="3871577"/>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node</a:t>
            </a:r>
            <a:endParaRPr kumimoji="1" lang="zh-CN" altLang="en-US" dirty="0"/>
          </a:p>
        </p:txBody>
      </p:sp>
      <p:sp>
        <p:nvSpPr>
          <p:cNvPr id="22" name="文本框 21">
            <a:extLst>
              <a:ext uri="{FF2B5EF4-FFF2-40B4-BE49-F238E27FC236}">
                <a16:creationId xmlns:a16="http://schemas.microsoft.com/office/drawing/2014/main" id="{8389F9D0-5C5E-4595-5209-49FFF8494BCA}"/>
              </a:ext>
            </a:extLst>
          </p:cNvPr>
          <p:cNvSpPr txBox="1"/>
          <p:nvPr/>
        </p:nvSpPr>
        <p:spPr>
          <a:xfrm>
            <a:off x="154940" y="3071732"/>
            <a:ext cx="607060" cy="369332"/>
          </a:xfrm>
          <a:prstGeom prst="rect">
            <a:avLst/>
          </a:prstGeom>
          <a:noFill/>
        </p:spPr>
        <p:txBody>
          <a:bodyPr wrap="square" rtlCol="0">
            <a:spAutoFit/>
          </a:bodyPr>
          <a:lstStyle/>
          <a:p>
            <a:r>
              <a:rPr kumimoji="1" lang="en-US" altLang="zh-CN" dirty="0"/>
              <a:t>4</a:t>
            </a:r>
            <a:endParaRPr kumimoji="1" lang="zh-CN" altLang="en-US" dirty="0"/>
          </a:p>
        </p:txBody>
      </p:sp>
      <p:sp>
        <p:nvSpPr>
          <p:cNvPr id="23" name="文本框 22">
            <a:extLst>
              <a:ext uri="{FF2B5EF4-FFF2-40B4-BE49-F238E27FC236}">
                <a16:creationId xmlns:a16="http://schemas.microsoft.com/office/drawing/2014/main" id="{265F12B4-0026-F404-859A-A3BDAB93FFF6}"/>
              </a:ext>
            </a:extLst>
          </p:cNvPr>
          <p:cNvSpPr txBox="1"/>
          <p:nvPr/>
        </p:nvSpPr>
        <p:spPr>
          <a:xfrm>
            <a:off x="154940" y="3959841"/>
            <a:ext cx="607060" cy="369332"/>
          </a:xfrm>
          <a:prstGeom prst="rect">
            <a:avLst/>
          </a:prstGeom>
          <a:noFill/>
        </p:spPr>
        <p:txBody>
          <a:bodyPr wrap="square" rtlCol="0">
            <a:spAutoFit/>
          </a:bodyPr>
          <a:lstStyle/>
          <a:p>
            <a:r>
              <a:rPr kumimoji="1" lang="en-US" altLang="zh-CN" dirty="0"/>
              <a:t>2</a:t>
            </a:r>
            <a:endParaRPr kumimoji="1" lang="zh-CN" altLang="en-US" dirty="0"/>
          </a:p>
        </p:txBody>
      </p:sp>
      <p:sp>
        <p:nvSpPr>
          <p:cNvPr id="24" name="文本框 23">
            <a:extLst>
              <a:ext uri="{FF2B5EF4-FFF2-40B4-BE49-F238E27FC236}">
                <a16:creationId xmlns:a16="http://schemas.microsoft.com/office/drawing/2014/main" id="{B48A8186-2DBD-14E0-EB55-1598516FD817}"/>
              </a:ext>
            </a:extLst>
          </p:cNvPr>
          <p:cNvSpPr txBox="1"/>
          <p:nvPr/>
        </p:nvSpPr>
        <p:spPr>
          <a:xfrm>
            <a:off x="154940" y="4847950"/>
            <a:ext cx="607060" cy="369332"/>
          </a:xfrm>
          <a:prstGeom prst="rect">
            <a:avLst/>
          </a:prstGeom>
          <a:noFill/>
        </p:spPr>
        <p:txBody>
          <a:bodyPr wrap="square" rtlCol="0">
            <a:spAutoFit/>
          </a:bodyPr>
          <a:lstStyle/>
          <a:p>
            <a:r>
              <a:rPr kumimoji="1" lang="en-US" altLang="zh-CN" dirty="0"/>
              <a:t>1</a:t>
            </a:r>
            <a:endParaRPr kumimoji="1" lang="zh-CN" altLang="en-US" dirty="0"/>
          </a:p>
        </p:txBody>
      </p:sp>
      <p:sp>
        <p:nvSpPr>
          <p:cNvPr id="25" name="右箭头 24">
            <a:extLst>
              <a:ext uri="{FF2B5EF4-FFF2-40B4-BE49-F238E27FC236}">
                <a16:creationId xmlns:a16="http://schemas.microsoft.com/office/drawing/2014/main" id="{F99AD6BD-B2C1-A666-0AD6-D401570E0B5E}"/>
              </a:ext>
            </a:extLst>
          </p:cNvPr>
          <p:cNvSpPr/>
          <p:nvPr/>
        </p:nvSpPr>
        <p:spPr>
          <a:xfrm>
            <a:off x="762000" y="3476472"/>
            <a:ext cx="3388676" cy="11469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右箭头 25">
            <a:extLst>
              <a:ext uri="{FF2B5EF4-FFF2-40B4-BE49-F238E27FC236}">
                <a16:creationId xmlns:a16="http://schemas.microsoft.com/office/drawing/2014/main" id="{C3833B2D-2125-9BAD-FF43-362F8D7038D2}"/>
              </a:ext>
            </a:extLst>
          </p:cNvPr>
          <p:cNvSpPr/>
          <p:nvPr/>
        </p:nvSpPr>
        <p:spPr>
          <a:xfrm>
            <a:off x="761284" y="4288024"/>
            <a:ext cx="3388676" cy="11469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右箭头 26">
            <a:extLst>
              <a:ext uri="{FF2B5EF4-FFF2-40B4-BE49-F238E27FC236}">
                <a16:creationId xmlns:a16="http://schemas.microsoft.com/office/drawing/2014/main" id="{5E073CB4-94A3-81BC-F15C-51FF8A5268FB}"/>
              </a:ext>
            </a:extLst>
          </p:cNvPr>
          <p:cNvSpPr/>
          <p:nvPr/>
        </p:nvSpPr>
        <p:spPr>
          <a:xfrm>
            <a:off x="762000" y="5087870"/>
            <a:ext cx="3388676" cy="114691"/>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F3D8FE90-08BF-8D88-40E0-BD4474B043C9}"/>
              </a:ext>
            </a:extLst>
          </p:cNvPr>
          <p:cNvSpPr txBox="1"/>
          <p:nvPr/>
        </p:nvSpPr>
        <p:spPr>
          <a:xfrm>
            <a:off x="1081641" y="6144705"/>
            <a:ext cx="607060" cy="369332"/>
          </a:xfrm>
          <a:prstGeom prst="rect">
            <a:avLst/>
          </a:prstGeom>
          <a:noFill/>
        </p:spPr>
        <p:txBody>
          <a:bodyPr wrap="square" rtlCol="0">
            <a:spAutoFit/>
          </a:bodyPr>
          <a:lstStyle/>
          <a:p>
            <a:r>
              <a:rPr kumimoji="1" lang="en-US" altLang="zh-CN" dirty="0"/>
              <a:t>0</a:t>
            </a:r>
            <a:endParaRPr kumimoji="1" lang="zh-CN" altLang="en-US" dirty="0"/>
          </a:p>
        </p:txBody>
      </p:sp>
      <p:sp>
        <p:nvSpPr>
          <p:cNvPr id="29" name="文本框 28">
            <a:extLst>
              <a:ext uri="{FF2B5EF4-FFF2-40B4-BE49-F238E27FC236}">
                <a16:creationId xmlns:a16="http://schemas.microsoft.com/office/drawing/2014/main" id="{D2EC2698-0452-A457-07DB-4C1091A4FAC8}"/>
              </a:ext>
            </a:extLst>
          </p:cNvPr>
          <p:cNvSpPr txBox="1"/>
          <p:nvPr/>
        </p:nvSpPr>
        <p:spPr>
          <a:xfrm>
            <a:off x="1903412" y="6144705"/>
            <a:ext cx="607060" cy="369332"/>
          </a:xfrm>
          <a:prstGeom prst="rect">
            <a:avLst/>
          </a:prstGeom>
          <a:noFill/>
        </p:spPr>
        <p:txBody>
          <a:bodyPr wrap="square" rtlCol="0">
            <a:spAutoFit/>
          </a:bodyPr>
          <a:lstStyle/>
          <a:p>
            <a:r>
              <a:rPr kumimoji="1" lang="en-US" altLang="zh-CN" dirty="0"/>
              <a:t>1</a:t>
            </a:r>
            <a:endParaRPr kumimoji="1" lang="zh-CN" altLang="en-US" dirty="0"/>
          </a:p>
        </p:txBody>
      </p:sp>
      <p:sp>
        <p:nvSpPr>
          <p:cNvPr id="30" name="文本框 29">
            <a:extLst>
              <a:ext uri="{FF2B5EF4-FFF2-40B4-BE49-F238E27FC236}">
                <a16:creationId xmlns:a16="http://schemas.microsoft.com/office/drawing/2014/main" id="{418B3B5A-79E9-2B7F-78C5-CB29CDF18043}"/>
              </a:ext>
            </a:extLst>
          </p:cNvPr>
          <p:cNvSpPr txBox="1"/>
          <p:nvPr/>
        </p:nvSpPr>
        <p:spPr>
          <a:xfrm>
            <a:off x="2725183" y="6144705"/>
            <a:ext cx="607060" cy="369332"/>
          </a:xfrm>
          <a:prstGeom prst="rect">
            <a:avLst/>
          </a:prstGeom>
          <a:noFill/>
        </p:spPr>
        <p:txBody>
          <a:bodyPr wrap="square" rtlCol="0">
            <a:spAutoFit/>
          </a:bodyPr>
          <a:lstStyle/>
          <a:p>
            <a:r>
              <a:rPr kumimoji="1" lang="en-US" altLang="zh-CN" dirty="0"/>
              <a:t>2</a:t>
            </a:r>
            <a:endParaRPr kumimoji="1" lang="zh-CN" altLang="en-US" dirty="0"/>
          </a:p>
        </p:txBody>
      </p:sp>
      <p:sp>
        <p:nvSpPr>
          <p:cNvPr id="31" name="文本框 30">
            <a:extLst>
              <a:ext uri="{FF2B5EF4-FFF2-40B4-BE49-F238E27FC236}">
                <a16:creationId xmlns:a16="http://schemas.microsoft.com/office/drawing/2014/main" id="{47A6DAEF-CCF0-E15B-8FB7-870AA558738A}"/>
              </a:ext>
            </a:extLst>
          </p:cNvPr>
          <p:cNvSpPr txBox="1"/>
          <p:nvPr/>
        </p:nvSpPr>
        <p:spPr>
          <a:xfrm>
            <a:off x="3546954" y="6144705"/>
            <a:ext cx="607060" cy="369332"/>
          </a:xfrm>
          <a:prstGeom prst="rect">
            <a:avLst/>
          </a:prstGeom>
          <a:noFill/>
        </p:spPr>
        <p:txBody>
          <a:bodyPr wrap="square" rtlCol="0">
            <a:spAutoFit/>
          </a:bodyPr>
          <a:lstStyle/>
          <a:p>
            <a:r>
              <a:rPr kumimoji="1" lang="en-US" altLang="zh-CN" dirty="0"/>
              <a:t>3</a:t>
            </a:r>
            <a:endParaRPr kumimoji="1" lang="zh-CN" altLang="en-US" dirty="0"/>
          </a:p>
        </p:txBody>
      </p:sp>
      <p:sp>
        <p:nvSpPr>
          <p:cNvPr id="33" name="圆角矩形 32">
            <a:extLst>
              <a:ext uri="{FF2B5EF4-FFF2-40B4-BE49-F238E27FC236}">
                <a16:creationId xmlns:a16="http://schemas.microsoft.com/office/drawing/2014/main" id="{48B4512A-6347-7106-A0D3-234238EB480E}"/>
              </a:ext>
            </a:extLst>
          </p:cNvPr>
          <p:cNvSpPr/>
          <p:nvPr/>
        </p:nvSpPr>
        <p:spPr>
          <a:xfrm>
            <a:off x="7064613" y="4402715"/>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level1</a:t>
            </a:r>
            <a:endParaRPr kumimoji="1" lang="zh-CN" altLang="en-US" dirty="0"/>
          </a:p>
        </p:txBody>
      </p:sp>
      <p:sp>
        <p:nvSpPr>
          <p:cNvPr id="34" name="圆角矩形 33">
            <a:extLst>
              <a:ext uri="{FF2B5EF4-FFF2-40B4-BE49-F238E27FC236}">
                <a16:creationId xmlns:a16="http://schemas.microsoft.com/office/drawing/2014/main" id="{27AF380E-8537-1C12-6127-173ADD49BFAB}"/>
              </a:ext>
            </a:extLst>
          </p:cNvPr>
          <p:cNvSpPr/>
          <p:nvPr/>
        </p:nvSpPr>
        <p:spPr>
          <a:xfrm>
            <a:off x="7066282" y="5202561"/>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35" name="圆角矩形 34">
            <a:extLst>
              <a:ext uri="{FF2B5EF4-FFF2-40B4-BE49-F238E27FC236}">
                <a16:creationId xmlns:a16="http://schemas.microsoft.com/office/drawing/2014/main" id="{4776F281-54C2-7258-CD9E-05180D449D39}"/>
              </a:ext>
            </a:extLst>
          </p:cNvPr>
          <p:cNvSpPr/>
          <p:nvPr/>
        </p:nvSpPr>
        <p:spPr>
          <a:xfrm>
            <a:off x="7886384" y="5202561"/>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36" name="圆角矩形 35">
            <a:extLst>
              <a:ext uri="{FF2B5EF4-FFF2-40B4-BE49-F238E27FC236}">
                <a16:creationId xmlns:a16="http://schemas.microsoft.com/office/drawing/2014/main" id="{D3168418-234D-1466-64B7-799445A7D6C9}"/>
              </a:ext>
            </a:extLst>
          </p:cNvPr>
          <p:cNvSpPr/>
          <p:nvPr/>
        </p:nvSpPr>
        <p:spPr>
          <a:xfrm>
            <a:off x="8706486" y="5202561"/>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37" name="圆角矩形 36">
            <a:extLst>
              <a:ext uri="{FF2B5EF4-FFF2-40B4-BE49-F238E27FC236}">
                <a16:creationId xmlns:a16="http://schemas.microsoft.com/office/drawing/2014/main" id="{1CA07DCE-A6E3-3FB8-AFDF-3F5045EAB48C}"/>
              </a:ext>
            </a:extLst>
          </p:cNvPr>
          <p:cNvSpPr/>
          <p:nvPr/>
        </p:nvSpPr>
        <p:spPr>
          <a:xfrm>
            <a:off x="9526588" y="5202561"/>
            <a:ext cx="762000" cy="59871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sp>
        <p:nvSpPr>
          <p:cNvPr id="38" name="圆角矩形 37">
            <a:extLst>
              <a:ext uri="{FF2B5EF4-FFF2-40B4-BE49-F238E27FC236}">
                <a16:creationId xmlns:a16="http://schemas.microsoft.com/office/drawing/2014/main" id="{4B907955-8FED-EF21-62EA-2819197DCC31}"/>
              </a:ext>
            </a:extLst>
          </p:cNvPr>
          <p:cNvSpPr/>
          <p:nvPr/>
        </p:nvSpPr>
        <p:spPr>
          <a:xfrm>
            <a:off x="7886384" y="4402715"/>
            <a:ext cx="762000" cy="59871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alloc</a:t>
            </a:r>
            <a:endParaRPr kumimoji="1" lang="zh-CN" altLang="en-US" dirty="0"/>
          </a:p>
        </p:txBody>
      </p:sp>
      <p:sp>
        <p:nvSpPr>
          <p:cNvPr id="39" name="圆角矩形 38">
            <a:extLst>
              <a:ext uri="{FF2B5EF4-FFF2-40B4-BE49-F238E27FC236}">
                <a16:creationId xmlns:a16="http://schemas.microsoft.com/office/drawing/2014/main" id="{2A72EA1D-87A5-3F06-49A1-AE8FFC13BC41}"/>
              </a:ext>
            </a:extLst>
          </p:cNvPr>
          <p:cNvSpPr/>
          <p:nvPr/>
        </p:nvSpPr>
        <p:spPr>
          <a:xfrm>
            <a:off x="8706486" y="4402715"/>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level2</a:t>
            </a:r>
            <a:endParaRPr kumimoji="1" lang="zh-CN" altLang="en-US" dirty="0"/>
          </a:p>
        </p:txBody>
      </p:sp>
      <p:sp>
        <p:nvSpPr>
          <p:cNvPr id="40" name="圆角矩形 39">
            <a:extLst>
              <a:ext uri="{FF2B5EF4-FFF2-40B4-BE49-F238E27FC236}">
                <a16:creationId xmlns:a16="http://schemas.microsoft.com/office/drawing/2014/main" id="{4D63F9C6-5285-5B89-BCDE-3FD29DF27C42}"/>
              </a:ext>
            </a:extLst>
          </p:cNvPr>
          <p:cNvSpPr/>
          <p:nvPr/>
        </p:nvSpPr>
        <p:spPr>
          <a:xfrm>
            <a:off x="9526588" y="4402715"/>
            <a:ext cx="762000" cy="5987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1" name="文本框 40">
            <a:extLst>
              <a:ext uri="{FF2B5EF4-FFF2-40B4-BE49-F238E27FC236}">
                <a16:creationId xmlns:a16="http://schemas.microsoft.com/office/drawing/2014/main" id="{2331DE81-9A8A-79E2-AA34-47CB7A911860}"/>
              </a:ext>
            </a:extLst>
          </p:cNvPr>
          <p:cNvSpPr txBox="1"/>
          <p:nvPr/>
        </p:nvSpPr>
        <p:spPr>
          <a:xfrm>
            <a:off x="6292852" y="4579243"/>
            <a:ext cx="607060" cy="369332"/>
          </a:xfrm>
          <a:prstGeom prst="rect">
            <a:avLst/>
          </a:prstGeom>
          <a:noFill/>
        </p:spPr>
        <p:txBody>
          <a:bodyPr wrap="square" rtlCol="0">
            <a:spAutoFit/>
          </a:bodyPr>
          <a:lstStyle/>
          <a:p>
            <a:r>
              <a:rPr kumimoji="1" lang="en-US" altLang="zh-CN" dirty="0"/>
              <a:t>1</a:t>
            </a:r>
            <a:endParaRPr kumimoji="1" lang="zh-CN" altLang="en-US" dirty="0"/>
          </a:p>
        </p:txBody>
      </p:sp>
      <p:sp>
        <p:nvSpPr>
          <p:cNvPr id="43" name="文本框 42">
            <a:extLst>
              <a:ext uri="{FF2B5EF4-FFF2-40B4-BE49-F238E27FC236}">
                <a16:creationId xmlns:a16="http://schemas.microsoft.com/office/drawing/2014/main" id="{E0EACCE7-752E-9E14-6ACF-3FAE896088ED}"/>
              </a:ext>
            </a:extLst>
          </p:cNvPr>
          <p:cNvSpPr txBox="1"/>
          <p:nvPr/>
        </p:nvSpPr>
        <p:spPr>
          <a:xfrm>
            <a:off x="7219553" y="5875998"/>
            <a:ext cx="607060" cy="369332"/>
          </a:xfrm>
          <a:prstGeom prst="rect">
            <a:avLst/>
          </a:prstGeom>
          <a:noFill/>
        </p:spPr>
        <p:txBody>
          <a:bodyPr wrap="square" rtlCol="0">
            <a:spAutoFit/>
          </a:bodyPr>
          <a:lstStyle/>
          <a:p>
            <a:r>
              <a:rPr kumimoji="1" lang="en-US" altLang="zh-CN" dirty="0"/>
              <a:t>0</a:t>
            </a:r>
            <a:endParaRPr kumimoji="1" lang="zh-CN" altLang="en-US" dirty="0"/>
          </a:p>
        </p:txBody>
      </p:sp>
      <p:sp>
        <p:nvSpPr>
          <p:cNvPr id="44" name="文本框 43">
            <a:extLst>
              <a:ext uri="{FF2B5EF4-FFF2-40B4-BE49-F238E27FC236}">
                <a16:creationId xmlns:a16="http://schemas.microsoft.com/office/drawing/2014/main" id="{B6341137-7095-3590-7B2F-989AFFEEA87C}"/>
              </a:ext>
            </a:extLst>
          </p:cNvPr>
          <p:cNvSpPr txBox="1"/>
          <p:nvPr/>
        </p:nvSpPr>
        <p:spPr>
          <a:xfrm>
            <a:off x="8041324" y="5875998"/>
            <a:ext cx="607060" cy="369332"/>
          </a:xfrm>
          <a:prstGeom prst="rect">
            <a:avLst/>
          </a:prstGeom>
          <a:noFill/>
        </p:spPr>
        <p:txBody>
          <a:bodyPr wrap="square" rtlCol="0">
            <a:spAutoFit/>
          </a:bodyPr>
          <a:lstStyle/>
          <a:p>
            <a:r>
              <a:rPr kumimoji="1" lang="en-US" altLang="zh-CN" dirty="0"/>
              <a:t>1</a:t>
            </a:r>
            <a:endParaRPr kumimoji="1" lang="zh-CN" altLang="en-US" dirty="0"/>
          </a:p>
        </p:txBody>
      </p:sp>
      <p:sp>
        <p:nvSpPr>
          <p:cNvPr id="45" name="文本框 44">
            <a:extLst>
              <a:ext uri="{FF2B5EF4-FFF2-40B4-BE49-F238E27FC236}">
                <a16:creationId xmlns:a16="http://schemas.microsoft.com/office/drawing/2014/main" id="{6B53F1C7-8F64-6169-4F90-D68925217881}"/>
              </a:ext>
            </a:extLst>
          </p:cNvPr>
          <p:cNvSpPr txBox="1"/>
          <p:nvPr/>
        </p:nvSpPr>
        <p:spPr>
          <a:xfrm>
            <a:off x="8863095" y="5875998"/>
            <a:ext cx="607060" cy="369332"/>
          </a:xfrm>
          <a:prstGeom prst="rect">
            <a:avLst/>
          </a:prstGeom>
          <a:noFill/>
        </p:spPr>
        <p:txBody>
          <a:bodyPr wrap="square" rtlCol="0">
            <a:spAutoFit/>
          </a:bodyPr>
          <a:lstStyle/>
          <a:p>
            <a:r>
              <a:rPr kumimoji="1" lang="en-US" altLang="zh-CN" dirty="0"/>
              <a:t>2</a:t>
            </a:r>
            <a:endParaRPr kumimoji="1" lang="zh-CN" altLang="en-US" dirty="0"/>
          </a:p>
        </p:txBody>
      </p:sp>
      <p:sp>
        <p:nvSpPr>
          <p:cNvPr id="46" name="文本框 45">
            <a:extLst>
              <a:ext uri="{FF2B5EF4-FFF2-40B4-BE49-F238E27FC236}">
                <a16:creationId xmlns:a16="http://schemas.microsoft.com/office/drawing/2014/main" id="{64BF514B-FBB7-A417-03F3-74BB03FEA208}"/>
              </a:ext>
            </a:extLst>
          </p:cNvPr>
          <p:cNvSpPr txBox="1"/>
          <p:nvPr/>
        </p:nvSpPr>
        <p:spPr>
          <a:xfrm>
            <a:off x="9684866" y="5875998"/>
            <a:ext cx="607060" cy="369332"/>
          </a:xfrm>
          <a:prstGeom prst="rect">
            <a:avLst/>
          </a:prstGeom>
          <a:noFill/>
        </p:spPr>
        <p:txBody>
          <a:bodyPr wrap="square" rtlCol="0">
            <a:spAutoFit/>
          </a:bodyPr>
          <a:lstStyle/>
          <a:p>
            <a:r>
              <a:rPr kumimoji="1" lang="en-US" altLang="zh-CN" dirty="0"/>
              <a:t>3</a:t>
            </a:r>
            <a:endParaRPr kumimoji="1" lang="zh-CN" altLang="en-US" dirty="0"/>
          </a:p>
        </p:txBody>
      </p:sp>
    </p:spTree>
    <p:extLst>
      <p:ext uri="{BB962C8B-B14F-4D97-AF65-F5344CB8AC3E}">
        <p14:creationId xmlns:p14="http://schemas.microsoft.com/office/powerpoint/2010/main" val="391386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4C300-41EA-7F5A-17D1-17D348496EB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FDF4405-D904-D538-C08B-B6EBA91B3471}"/>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84BEE96F-32A4-E7D6-094F-59F481568700}"/>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8D9AA4AD-71B6-AB0E-B43E-05F57DB26527}"/>
              </a:ext>
            </a:extLst>
          </p:cNvPr>
          <p:cNvSpPr>
            <a:spLocks noGrp="1"/>
          </p:cNvSpPr>
          <p:nvPr>
            <p:ph type="body" sz="half" idx="2"/>
          </p:nvPr>
        </p:nvSpPr>
        <p:spPr>
          <a:xfrm>
            <a:off x="1100667" y="1726565"/>
            <a:ext cx="9171305" cy="4150995"/>
          </a:xfrm>
        </p:spPr>
        <p:txBody>
          <a:bodyPr/>
          <a:lstStyle/>
          <a:p>
            <a:pPr marL="0" indent="0">
              <a:buNone/>
            </a:pPr>
            <a:r>
              <a:rPr lang="zh-CN" altLang="en-US" dirty="0"/>
              <a:t>在</a:t>
            </a:r>
            <a:r>
              <a:rPr lang="en-US" altLang="zh-CN" dirty="0"/>
              <a:t>2024</a:t>
            </a:r>
            <a:r>
              <a:rPr lang="zh-CN" altLang="en-US" dirty="0"/>
              <a:t>秋冬学期的期中题目中，我展示过对应的自映射映射方案设计。</a:t>
            </a:r>
            <a:endParaRPr lang="en-US" altLang="zh-CN" dirty="0"/>
          </a:p>
          <a:p>
            <a:pPr marL="0" indent="0">
              <a:buNone/>
            </a:pPr>
            <a:r>
              <a:rPr lang="zh-CN" altLang="en-US" dirty="0"/>
              <a:t>简单来说，用自映射窗口的页表项反复指向多级页表，然后修改，从而维护整个页表。</a:t>
            </a:r>
            <a:endParaRPr lang="en-US" altLang="zh-CN" dirty="0"/>
          </a:p>
        </p:txBody>
      </p:sp>
      <p:sp>
        <p:nvSpPr>
          <p:cNvPr id="10" name="文本占位符 9">
            <a:extLst>
              <a:ext uri="{FF2B5EF4-FFF2-40B4-BE49-F238E27FC236}">
                <a16:creationId xmlns:a16="http://schemas.microsoft.com/office/drawing/2014/main" id="{DCE11030-30B7-E613-8B3E-3245CB5E7B23}"/>
              </a:ext>
            </a:extLst>
          </p:cNvPr>
          <p:cNvSpPr>
            <a:spLocks noGrp="1"/>
          </p:cNvSpPr>
          <p:nvPr>
            <p:ph type="body" sz="half" idx="24"/>
          </p:nvPr>
        </p:nvSpPr>
        <p:spPr>
          <a:xfrm>
            <a:off x="880110" y="980440"/>
            <a:ext cx="6892290" cy="606425"/>
          </a:xfrm>
        </p:spPr>
        <p:txBody>
          <a:bodyPr>
            <a:normAutofit/>
          </a:bodyPr>
          <a:lstStyle/>
          <a:p>
            <a:r>
              <a:rPr lang="zh-CN" altLang="en-US" dirty="0"/>
              <a:t>基于自映射机制的按需内存分配映射机制</a:t>
            </a:r>
          </a:p>
        </p:txBody>
      </p:sp>
      <p:sp>
        <p:nvSpPr>
          <p:cNvPr id="2" name="文本占位符 8">
            <a:extLst>
              <a:ext uri="{FF2B5EF4-FFF2-40B4-BE49-F238E27FC236}">
                <a16:creationId xmlns:a16="http://schemas.microsoft.com/office/drawing/2014/main" id="{C49121C7-1903-199B-49C0-931558642352}"/>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
        <p:nvSpPr>
          <p:cNvPr id="5" name="矩形 4">
            <a:extLst>
              <a:ext uri="{FF2B5EF4-FFF2-40B4-BE49-F238E27FC236}">
                <a16:creationId xmlns:a16="http://schemas.microsoft.com/office/drawing/2014/main" id="{C94DBECD-F2E2-20E9-5EBB-B4E2D71FAB79}"/>
              </a:ext>
            </a:extLst>
          </p:cNvPr>
          <p:cNvSpPr/>
          <p:nvPr/>
        </p:nvSpPr>
        <p:spPr>
          <a:xfrm>
            <a:off x="1100667" y="3884085"/>
            <a:ext cx="872067" cy="33866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L0</a:t>
            </a:r>
            <a:endParaRPr kumimoji="1" lang="zh-CN" altLang="en-US" dirty="0"/>
          </a:p>
        </p:txBody>
      </p:sp>
      <p:sp>
        <p:nvSpPr>
          <p:cNvPr id="6" name="矩形 5">
            <a:extLst>
              <a:ext uri="{FF2B5EF4-FFF2-40B4-BE49-F238E27FC236}">
                <a16:creationId xmlns:a16="http://schemas.microsoft.com/office/drawing/2014/main" id="{3EE3906E-FB25-0D85-F972-D19A59BD6252}"/>
              </a:ext>
            </a:extLst>
          </p:cNvPr>
          <p:cNvSpPr/>
          <p:nvPr/>
        </p:nvSpPr>
        <p:spPr>
          <a:xfrm>
            <a:off x="749300" y="4620685"/>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L1</a:t>
            </a:r>
            <a:endParaRPr kumimoji="1" lang="zh-CN" altLang="en-US" dirty="0"/>
          </a:p>
        </p:txBody>
      </p:sp>
      <p:sp>
        <p:nvSpPr>
          <p:cNvPr id="8" name="矩形 7">
            <a:extLst>
              <a:ext uri="{FF2B5EF4-FFF2-40B4-BE49-F238E27FC236}">
                <a16:creationId xmlns:a16="http://schemas.microsoft.com/office/drawing/2014/main" id="{120E4338-4FC6-EB45-BF1E-E5C895DDC3D7}"/>
              </a:ext>
            </a:extLst>
          </p:cNvPr>
          <p:cNvSpPr/>
          <p:nvPr/>
        </p:nvSpPr>
        <p:spPr>
          <a:xfrm>
            <a:off x="499533" y="5372101"/>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L2</a:t>
            </a:r>
            <a:endParaRPr kumimoji="1" lang="zh-CN" altLang="en-US" dirty="0"/>
          </a:p>
        </p:txBody>
      </p:sp>
      <p:sp>
        <p:nvSpPr>
          <p:cNvPr id="9" name="矩形 8">
            <a:extLst>
              <a:ext uri="{FF2B5EF4-FFF2-40B4-BE49-F238E27FC236}">
                <a16:creationId xmlns:a16="http://schemas.microsoft.com/office/drawing/2014/main" id="{E5AC8AC5-57D8-3F12-5421-285ABC3B3725}"/>
              </a:ext>
            </a:extLst>
          </p:cNvPr>
          <p:cNvSpPr/>
          <p:nvPr/>
        </p:nvSpPr>
        <p:spPr>
          <a:xfrm>
            <a:off x="228600" y="6138334"/>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cxnSp>
        <p:nvCxnSpPr>
          <p:cNvPr id="11" name="直线箭头连接符 10">
            <a:extLst>
              <a:ext uri="{FF2B5EF4-FFF2-40B4-BE49-F238E27FC236}">
                <a16:creationId xmlns:a16="http://schemas.microsoft.com/office/drawing/2014/main" id="{F066BCF6-C64C-B618-94A4-22BEE6E8BE47}"/>
              </a:ext>
            </a:extLst>
          </p:cNvPr>
          <p:cNvCxnSpPr>
            <a:cxnSpLocks/>
          </p:cNvCxnSpPr>
          <p:nvPr/>
        </p:nvCxnSpPr>
        <p:spPr>
          <a:xfrm flipH="1">
            <a:off x="749300" y="4222752"/>
            <a:ext cx="436033" cy="397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线箭头连接符 11">
            <a:extLst>
              <a:ext uri="{FF2B5EF4-FFF2-40B4-BE49-F238E27FC236}">
                <a16:creationId xmlns:a16="http://schemas.microsoft.com/office/drawing/2014/main" id="{AE184725-C4DB-C3EF-A007-6E4376DF3524}"/>
              </a:ext>
            </a:extLst>
          </p:cNvPr>
          <p:cNvCxnSpPr>
            <a:cxnSpLocks/>
          </p:cNvCxnSpPr>
          <p:nvPr/>
        </p:nvCxnSpPr>
        <p:spPr>
          <a:xfrm flipH="1">
            <a:off x="499533" y="4988985"/>
            <a:ext cx="342902" cy="383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线箭头连接符 12">
            <a:extLst>
              <a:ext uri="{FF2B5EF4-FFF2-40B4-BE49-F238E27FC236}">
                <a16:creationId xmlns:a16="http://schemas.microsoft.com/office/drawing/2014/main" id="{6FEE9A1C-23DD-4EE9-5406-98745E10748F}"/>
              </a:ext>
            </a:extLst>
          </p:cNvPr>
          <p:cNvCxnSpPr>
            <a:cxnSpLocks/>
          </p:cNvCxnSpPr>
          <p:nvPr/>
        </p:nvCxnSpPr>
        <p:spPr>
          <a:xfrm flipH="1">
            <a:off x="228600" y="5710768"/>
            <a:ext cx="381000" cy="427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矩形 13">
            <a:extLst>
              <a:ext uri="{FF2B5EF4-FFF2-40B4-BE49-F238E27FC236}">
                <a16:creationId xmlns:a16="http://schemas.microsoft.com/office/drawing/2014/main" id="{72A08525-9ADC-D822-E1D6-7464F8A77B49}"/>
              </a:ext>
            </a:extLst>
          </p:cNvPr>
          <p:cNvSpPr/>
          <p:nvPr/>
        </p:nvSpPr>
        <p:spPr>
          <a:xfrm>
            <a:off x="2320637" y="5061528"/>
            <a:ext cx="903044" cy="66405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自映射窗口</a:t>
            </a:r>
          </a:p>
        </p:txBody>
      </p:sp>
      <p:cxnSp>
        <p:nvCxnSpPr>
          <p:cNvPr id="15" name="肘形连接符 14">
            <a:extLst>
              <a:ext uri="{FF2B5EF4-FFF2-40B4-BE49-F238E27FC236}">
                <a16:creationId xmlns:a16="http://schemas.microsoft.com/office/drawing/2014/main" id="{3E94069C-4059-580A-D323-4CBA98A6395A}"/>
              </a:ext>
            </a:extLst>
          </p:cNvPr>
          <p:cNvCxnSpPr>
            <a:cxnSpLocks/>
            <a:stCxn id="14" idx="2"/>
            <a:endCxn id="5" idx="3"/>
          </p:cNvCxnSpPr>
          <p:nvPr/>
        </p:nvCxnSpPr>
        <p:spPr>
          <a:xfrm rot="5400000" flipH="1">
            <a:off x="1536364" y="4489790"/>
            <a:ext cx="1672165" cy="799425"/>
          </a:xfrm>
          <a:prstGeom prst="bentConnector4">
            <a:avLst>
              <a:gd name="adj1" fmla="val -13671"/>
              <a:gd name="adj2" fmla="val 7824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直线箭头连接符 15">
            <a:extLst>
              <a:ext uri="{FF2B5EF4-FFF2-40B4-BE49-F238E27FC236}">
                <a16:creationId xmlns:a16="http://schemas.microsoft.com/office/drawing/2014/main" id="{3FC600BA-E1D1-263C-2DF5-D1C06DAF22AA}"/>
              </a:ext>
            </a:extLst>
          </p:cNvPr>
          <p:cNvCxnSpPr>
            <a:cxnSpLocks/>
          </p:cNvCxnSpPr>
          <p:nvPr/>
        </p:nvCxnSpPr>
        <p:spPr>
          <a:xfrm>
            <a:off x="1750483" y="4237568"/>
            <a:ext cx="616337" cy="79586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7" name="矩形 16">
            <a:extLst>
              <a:ext uri="{FF2B5EF4-FFF2-40B4-BE49-F238E27FC236}">
                <a16:creationId xmlns:a16="http://schemas.microsoft.com/office/drawing/2014/main" id="{0BF967FF-B043-3770-2DFF-32BC1CC7EA3A}"/>
              </a:ext>
            </a:extLst>
          </p:cNvPr>
          <p:cNvSpPr/>
          <p:nvPr/>
        </p:nvSpPr>
        <p:spPr>
          <a:xfrm>
            <a:off x="4245360" y="3884085"/>
            <a:ext cx="872067" cy="33866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L0</a:t>
            </a:r>
            <a:endParaRPr kumimoji="1" lang="zh-CN" altLang="en-US" dirty="0"/>
          </a:p>
        </p:txBody>
      </p:sp>
      <p:sp>
        <p:nvSpPr>
          <p:cNvPr id="18" name="矩形 17">
            <a:extLst>
              <a:ext uri="{FF2B5EF4-FFF2-40B4-BE49-F238E27FC236}">
                <a16:creationId xmlns:a16="http://schemas.microsoft.com/office/drawing/2014/main" id="{60D1ED77-7EF8-0E89-ED00-B86B98B0A085}"/>
              </a:ext>
            </a:extLst>
          </p:cNvPr>
          <p:cNvSpPr/>
          <p:nvPr/>
        </p:nvSpPr>
        <p:spPr>
          <a:xfrm>
            <a:off x="3893993" y="4620685"/>
            <a:ext cx="872067" cy="33866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L1</a:t>
            </a:r>
            <a:endParaRPr kumimoji="1" lang="zh-CN" altLang="en-US" dirty="0"/>
          </a:p>
        </p:txBody>
      </p:sp>
      <p:sp>
        <p:nvSpPr>
          <p:cNvPr id="19" name="矩形 18">
            <a:extLst>
              <a:ext uri="{FF2B5EF4-FFF2-40B4-BE49-F238E27FC236}">
                <a16:creationId xmlns:a16="http://schemas.microsoft.com/office/drawing/2014/main" id="{B6F40667-39F7-9D58-0D26-AF74077E366F}"/>
              </a:ext>
            </a:extLst>
          </p:cNvPr>
          <p:cNvSpPr/>
          <p:nvPr/>
        </p:nvSpPr>
        <p:spPr>
          <a:xfrm>
            <a:off x="3644226" y="5372101"/>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L2</a:t>
            </a:r>
            <a:endParaRPr kumimoji="1" lang="zh-CN" altLang="en-US" dirty="0"/>
          </a:p>
        </p:txBody>
      </p:sp>
      <p:sp>
        <p:nvSpPr>
          <p:cNvPr id="20" name="矩形 19">
            <a:extLst>
              <a:ext uri="{FF2B5EF4-FFF2-40B4-BE49-F238E27FC236}">
                <a16:creationId xmlns:a16="http://schemas.microsoft.com/office/drawing/2014/main" id="{9FCE28FF-7A4F-3232-44EF-A23A4ABEB90D}"/>
              </a:ext>
            </a:extLst>
          </p:cNvPr>
          <p:cNvSpPr/>
          <p:nvPr/>
        </p:nvSpPr>
        <p:spPr>
          <a:xfrm>
            <a:off x="3373293" y="6138334"/>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cxnSp>
        <p:nvCxnSpPr>
          <p:cNvPr id="21" name="直线箭头连接符 20">
            <a:extLst>
              <a:ext uri="{FF2B5EF4-FFF2-40B4-BE49-F238E27FC236}">
                <a16:creationId xmlns:a16="http://schemas.microsoft.com/office/drawing/2014/main" id="{B5A6CB00-DBC3-9FE0-EF9D-AA1A1D1D564A}"/>
              </a:ext>
            </a:extLst>
          </p:cNvPr>
          <p:cNvCxnSpPr>
            <a:cxnSpLocks/>
          </p:cNvCxnSpPr>
          <p:nvPr/>
        </p:nvCxnSpPr>
        <p:spPr>
          <a:xfrm flipH="1">
            <a:off x="3893993" y="4222752"/>
            <a:ext cx="436033" cy="397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线箭头连接符 21">
            <a:extLst>
              <a:ext uri="{FF2B5EF4-FFF2-40B4-BE49-F238E27FC236}">
                <a16:creationId xmlns:a16="http://schemas.microsoft.com/office/drawing/2014/main" id="{A4B547BF-FEFB-410D-D854-C8D909D29DDA}"/>
              </a:ext>
            </a:extLst>
          </p:cNvPr>
          <p:cNvCxnSpPr>
            <a:cxnSpLocks/>
          </p:cNvCxnSpPr>
          <p:nvPr/>
        </p:nvCxnSpPr>
        <p:spPr>
          <a:xfrm flipH="1">
            <a:off x="3644226" y="4988985"/>
            <a:ext cx="342902" cy="383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直线箭头连接符 22">
            <a:extLst>
              <a:ext uri="{FF2B5EF4-FFF2-40B4-BE49-F238E27FC236}">
                <a16:creationId xmlns:a16="http://schemas.microsoft.com/office/drawing/2014/main" id="{3796199D-CF84-517F-9540-5309A57B41F3}"/>
              </a:ext>
            </a:extLst>
          </p:cNvPr>
          <p:cNvCxnSpPr>
            <a:cxnSpLocks/>
          </p:cNvCxnSpPr>
          <p:nvPr/>
        </p:nvCxnSpPr>
        <p:spPr>
          <a:xfrm flipH="1">
            <a:off x="3373293" y="5710768"/>
            <a:ext cx="381000" cy="427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矩形 23">
            <a:extLst>
              <a:ext uri="{FF2B5EF4-FFF2-40B4-BE49-F238E27FC236}">
                <a16:creationId xmlns:a16="http://schemas.microsoft.com/office/drawing/2014/main" id="{707C4E76-4C43-3E7E-F63C-623D5BCCBDED}"/>
              </a:ext>
            </a:extLst>
          </p:cNvPr>
          <p:cNvSpPr/>
          <p:nvPr/>
        </p:nvSpPr>
        <p:spPr>
          <a:xfrm>
            <a:off x="5465330" y="5061528"/>
            <a:ext cx="903044" cy="66405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自映射窗口</a:t>
            </a:r>
          </a:p>
        </p:txBody>
      </p:sp>
      <p:cxnSp>
        <p:nvCxnSpPr>
          <p:cNvPr id="25" name="肘形连接符 24">
            <a:extLst>
              <a:ext uri="{FF2B5EF4-FFF2-40B4-BE49-F238E27FC236}">
                <a16:creationId xmlns:a16="http://schemas.microsoft.com/office/drawing/2014/main" id="{7A34A2D3-92EB-077A-C9C9-12B486CDAEBA}"/>
              </a:ext>
            </a:extLst>
          </p:cNvPr>
          <p:cNvCxnSpPr>
            <a:cxnSpLocks/>
            <a:stCxn id="24" idx="2"/>
            <a:endCxn id="18" idx="3"/>
          </p:cNvCxnSpPr>
          <p:nvPr/>
        </p:nvCxnSpPr>
        <p:spPr>
          <a:xfrm rot="5400000" flipH="1">
            <a:off x="4873673" y="4682406"/>
            <a:ext cx="935565" cy="1150792"/>
          </a:xfrm>
          <a:prstGeom prst="bentConnector4">
            <a:avLst>
              <a:gd name="adj1" fmla="val -24434"/>
              <a:gd name="adj2" fmla="val 6961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直线箭头连接符 25">
            <a:extLst>
              <a:ext uri="{FF2B5EF4-FFF2-40B4-BE49-F238E27FC236}">
                <a16:creationId xmlns:a16="http://schemas.microsoft.com/office/drawing/2014/main" id="{E26F52B8-21E8-560C-83D2-61CD9624CEB9}"/>
              </a:ext>
            </a:extLst>
          </p:cNvPr>
          <p:cNvCxnSpPr>
            <a:cxnSpLocks/>
          </p:cNvCxnSpPr>
          <p:nvPr/>
        </p:nvCxnSpPr>
        <p:spPr>
          <a:xfrm>
            <a:off x="4895176" y="4237568"/>
            <a:ext cx="616337" cy="79586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27" name="矩形 26">
            <a:extLst>
              <a:ext uri="{FF2B5EF4-FFF2-40B4-BE49-F238E27FC236}">
                <a16:creationId xmlns:a16="http://schemas.microsoft.com/office/drawing/2014/main" id="{AF98BA46-69C3-8C40-204B-ACA438BF9E85}"/>
              </a:ext>
            </a:extLst>
          </p:cNvPr>
          <p:cNvSpPr/>
          <p:nvPr/>
        </p:nvSpPr>
        <p:spPr>
          <a:xfrm>
            <a:off x="7390053" y="3884085"/>
            <a:ext cx="872067" cy="33866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L0</a:t>
            </a:r>
            <a:endParaRPr kumimoji="1" lang="zh-CN" altLang="en-US" dirty="0"/>
          </a:p>
        </p:txBody>
      </p:sp>
      <p:sp>
        <p:nvSpPr>
          <p:cNvPr id="28" name="矩形 27">
            <a:extLst>
              <a:ext uri="{FF2B5EF4-FFF2-40B4-BE49-F238E27FC236}">
                <a16:creationId xmlns:a16="http://schemas.microsoft.com/office/drawing/2014/main" id="{E511E9A3-2AA9-7499-5216-1106E5A3F76A}"/>
              </a:ext>
            </a:extLst>
          </p:cNvPr>
          <p:cNvSpPr/>
          <p:nvPr/>
        </p:nvSpPr>
        <p:spPr>
          <a:xfrm>
            <a:off x="7038686" y="4620685"/>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L1</a:t>
            </a:r>
            <a:endParaRPr kumimoji="1" lang="zh-CN" altLang="en-US" dirty="0"/>
          </a:p>
        </p:txBody>
      </p:sp>
      <p:sp>
        <p:nvSpPr>
          <p:cNvPr id="29" name="矩形 28">
            <a:extLst>
              <a:ext uri="{FF2B5EF4-FFF2-40B4-BE49-F238E27FC236}">
                <a16:creationId xmlns:a16="http://schemas.microsoft.com/office/drawing/2014/main" id="{7845C343-3C8D-ABEF-7BAB-4C7EDA1CFF26}"/>
              </a:ext>
            </a:extLst>
          </p:cNvPr>
          <p:cNvSpPr/>
          <p:nvPr/>
        </p:nvSpPr>
        <p:spPr>
          <a:xfrm>
            <a:off x="6788919" y="5372101"/>
            <a:ext cx="872067" cy="33866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L2</a:t>
            </a:r>
            <a:endParaRPr kumimoji="1" lang="zh-CN" altLang="en-US" dirty="0"/>
          </a:p>
        </p:txBody>
      </p:sp>
      <p:sp>
        <p:nvSpPr>
          <p:cNvPr id="30" name="矩形 29">
            <a:extLst>
              <a:ext uri="{FF2B5EF4-FFF2-40B4-BE49-F238E27FC236}">
                <a16:creationId xmlns:a16="http://schemas.microsoft.com/office/drawing/2014/main" id="{34E8EB11-CA99-C20F-4CE3-6FAEA532BF49}"/>
              </a:ext>
            </a:extLst>
          </p:cNvPr>
          <p:cNvSpPr/>
          <p:nvPr/>
        </p:nvSpPr>
        <p:spPr>
          <a:xfrm>
            <a:off x="6517986" y="6138334"/>
            <a:ext cx="872067" cy="338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page</a:t>
            </a:r>
            <a:endParaRPr kumimoji="1" lang="zh-CN" altLang="en-US" dirty="0"/>
          </a:p>
        </p:txBody>
      </p:sp>
      <p:cxnSp>
        <p:nvCxnSpPr>
          <p:cNvPr id="31" name="直线箭头连接符 30">
            <a:extLst>
              <a:ext uri="{FF2B5EF4-FFF2-40B4-BE49-F238E27FC236}">
                <a16:creationId xmlns:a16="http://schemas.microsoft.com/office/drawing/2014/main" id="{4E89B7E9-832C-C584-4111-B6EF71A98812}"/>
              </a:ext>
            </a:extLst>
          </p:cNvPr>
          <p:cNvCxnSpPr>
            <a:cxnSpLocks/>
          </p:cNvCxnSpPr>
          <p:nvPr/>
        </p:nvCxnSpPr>
        <p:spPr>
          <a:xfrm flipH="1">
            <a:off x="7038686" y="4222752"/>
            <a:ext cx="436033" cy="397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线箭头连接符 31">
            <a:extLst>
              <a:ext uri="{FF2B5EF4-FFF2-40B4-BE49-F238E27FC236}">
                <a16:creationId xmlns:a16="http://schemas.microsoft.com/office/drawing/2014/main" id="{2C626BD6-4729-78A4-BD35-38B90045B782}"/>
              </a:ext>
            </a:extLst>
          </p:cNvPr>
          <p:cNvCxnSpPr>
            <a:cxnSpLocks/>
          </p:cNvCxnSpPr>
          <p:nvPr/>
        </p:nvCxnSpPr>
        <p:spPr>
          <a:xfrm flipH="1">
            <a:off x="6788919" y="4988985"/>
            <a:ext cx="342902" cy="383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直线箭头连接符 32">
            <a:extLst>
              <a:ext uri="{FF2B5EF4-FFF2-40B4-BE49-F238E27FC236}">
                <a16:creationId xmlns:a16="http://schemas.microsoft.com/office/drawing/2014/main" id="{B8A93769-0E04-5124-D5E2-0B1EA88B9FA9}"/>
              </a:ext>
            </a:extLst>
          </p:cNvPr>
          <p:cNvCxnSpPr>
            <a:cxnSpLocks/>
          </p:cNvCxnSpPr>
          <p:nvPr/>
        </p:nvCxnSpPr>
        <p:spPr>
          <a:xfrm flipH="1">
            <a:off x="6517986" y="5710768"/>
            <a:ext cx="381000" cy="427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6FD3603A-B404-14FD-1DED-08855EA9616D}"/>
              </a:ext>
            </a:extLst>
          </p:cNvPr>
          <p:cNvSpPr/>
          <p:nvPr/>
        </p:nvSpPr>
        <p:spPr>
          <a:xfrm>
            <a:off x="8610023" y="5061528"/>
            <a:ext cx="903044" cy="66405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自映射窗口</a:t>
            </a:r>
          </a:p>
        </p:txBody>
      </p:sp>
      <p:cxnSp>
        <p:nvCxnSpPr>
          <p:cNvPr id="35" name="肘形连接符 34">
            <a:extLst>
              <a:ext uri="{FF2B5EF4-FFF2-40B4-BE49-F238E27FC236}">
                <a16:creationId xmlns:a16="http://schemas.microsoft.com/office/drawing/2014/main" id="{01ACF021-4A55-1F5B-5C94-B9D8179B9578}"/>
              </a:ext>
            </a:extLst>
          </p:cNvPr>
          <p:cNvCxnSpPr>
            <a:cxnSpLocks/>
            <a:stCxn id="34" idx="2"/>
            <a:endCxn id="29" idx="3"/>
          </p:cNvCxnSpPr>
          <p:nvPr/>
        </p:nvCxnSpPr>
        <p:spPr>
          <a:xfrm rot="5400000" flipH="1">
            <a:off x="8269191" y="4933231"/>
            <a:ext cx="184149" cy="1400559"/>
          </a:xfrm>
          <a:prstGeom prst="bentConnector4">
            <a:avLst>
              <a:gd name="adj1" fmla="val -124139"/>
              <a:gd name="adj2" fmla="val 6611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直线箭头连接符 35">
            <a:extLst>
              <a:ext uri="{FF2B5EF4-FFF2-40B4-BE49-F238E27FC236}">
                <a16:creationId xmlns:a16="http://schemas.microsoft.com/office/drawing/2014/main" id="{7A1B7ACC-A402-A32A-55ED-F5B8F064B5DB}"/>
              </a:ext>
            </a:extLst>
          </p:cNvPr>
          <p:cNvCxnSpPr>
            <a:cxnSpLocks/>
          </p:cNvCxnSpPr>
          <p:nvPr/>
        </p:nvCxnSpPr>
        <p:spPr>
          <a:xfrm>
            <a:off x="8039869" y="4237568"/>
            <a:ext cx="616337" cy="79586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4482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BF70A-DA05-326B-7BFF-DB6EC3B68A0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A6EEABE-0F2D-7C7D-4CE3-00770C54A857}"/>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C988C162-0193-501B-6849-A85AAD715CC1}"/>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E98A4274-6319-E3F6-EE37-FDCFCB6006A4}"/>
              </a:ext>
            </a:extLst>
          </p:cNvPr>
          <p:cNvSpPr>
            <a:spLocks noGrp="1"/>
          </p:cNvSpPr>
          <p:nvPr>
            <p:ph type="body" sz="half" idx="2"/>
          </p:nvPr>
        </p:nvSpPr>
        <p:spPr>
          <a:xfrm>
            <a:off x="1100667" y="1726565"/>
            <a:ext cx="9171305" cy="4641578"/>
          </a:xfrm>
        </p:spPr>
        <p:txBody>
          <a:bodyPr/>
          <a:lstStyle/>
          <a:p>
            <a:pPr marL="0" indent="0">
              <a:buNone/>
            </a:pPr>
            <a:r>
              <a:rPr lang="zh-CN" altLang="en-US" dirty="0"/>
              <a:t>这种设计的优点在于可以允许动态分配并映射。</a:t>
            </a:r>
            <a:r>
              <a:rPr lang="en-US" altLang="zh-CN" dirty="0"/>
              <a:t>——</a:t>
            </a:r>
            <a:r>
              <a:rPr lang="zh-CN" altLang="en-US" dirty="0"/>
              <a:t>动态分配并映射主要的问题其实还是鸡生蛋问题，如果允许动态分配并映射，必须考虑页表自身页面分配，以及分配后写入页表项（到哪个地址写入）的问题。</a:t>
            </a:r>
            <a:endParaRPr lang="en-US" altLang="zh-CN" dirty="0"/>
          </a:p>
          <a:p>
            <a:pPr marL="0" indent="0">
              <a:buNone/>
            </a:pPr>
            <a:r>
              <a:rPr lang="zh-CN" altLang="en-US" dirty="0"/>
              <a:t>采用这种自映射机制，可以完成，动态分配一个物理页面，并进行映射，在这个过程中如果存在需要分配并映射中间级的页表页面，那么映射器可以将中间级页表页面映射为一个叶子，从而进行读写。并且，在完成映射之后，无法再修改整个页表（因为除了映射窗口之外，没有任何页表页面存在映射）。</a:t>
            </a:r>
            <a:endParaRPr lang="en-US" altLang="zh-CN" dirty="0"/>
          </a:p>
          <a:p>
            <a:pPr marL="0" indent="0">
              <a:buNone/>
            </a:pPr>
            <a:r>
              <a:rPr lang="zh-CN" altLang="en-US" dirty="0"/>
              <a:t>为什么需要动态分配并映射？对比其他内核，一开始就映射了所有内核页面，可能错误的使用了其他页面的内存而仍正常工作，导致错误的隐蔽性，如果按照动态按需分配（不需要就释放掉），那么理论上虽然可能仍使用一个</a:t>
            </a:r>
            <a:r>
              <a:rPr lang="en-US" altLang="zh-CN" dirty="0"/>
              <a:t>4K</a:t>
            </a:r>
            <a:r>
              <a:rPr lang="zh-CN" altLang="en-US" dirty="0"/>
              <a:t>页内的错误内存，但在实际各类执行环境下可以很快暴露。</a:t>
            </a:r>
            <a:r>
              <a:rPr lang="en-US" altLang="zh-CN" b="1" dirty="0"/>
              <a:t>——</a:t>
            </a:r>
            <a:r>
              <a:rPr lang="zh-CN" altLang="en-US" b="1" dirty="0"/>
              <a:t>快速暴露内存问题，有助于解决</a:t>
            </a:r>
            <a:r>
              <a:rPr lang="en-US" altLang="zh-CN" b="1" dirty="0"/>
              <a:t>AI</a:t>
            </a:r>
            <a:r>
              <a:rPr lang="zh-CN" altLang="en-US" b="1" dirty="0"/>
              <a:t>写的代码的内存鲁棒性问题</a:t>
            </a:r>
            <a:endParaRPr lang="en-US" altLang="zh-CN" b="1" dirty="0"/>
          </a:p>
        </p:txBody>
      </p:sp>
      <p:sp>
        <p:nvSpPr>
          <p:cNvPr id="10" name="文本占位符 9">
            <a:extLst>
              <a:ext uri="{FF2B5EF4-FFF2-40B4-BE49-F238E27FC236}">
                <a16:creationId xmlns:a16="http://schemas.microsoft.com/office/drawing/2014/main" id="{67E98E18-487E-85DE-8672-CEB13B03BEA2}"/>
              </a:ext>
            </a:extLst>
          </p:cNvPr>
          <p:cNvSpPr>
            <a:spLocks noGrp="1"/>
          </p:cNvSpPr>
          <p:nvPr>
            <p:ph type="body" sz="half" idx="24"/>
          </p:nvPr>
        </p:nvSpPr>
        <p:spPr>
          <a:xfrm>
            <a:off x="880110" y="980440"/>
            <a:ext cx="6892290" cy="606425"/>
          </a:xfrm>
        </p:spPr>
        <p:txBody>
          <a:bodyPr>
            <a:normAutofit/>
          </a:bodyPr>
          <a:lstStyle/>
          <a:p>
            <a:r>
              <a:rPr lang="zh-CN" altLang="en-US" dirty="0"/>
              <a:t>基于自映射机制的按需内存分配映射机制</a:t>
            </a:r>
          </a:p>
        </p:txBody>
      </p:sp>
      <p:sp>
        <p:nvSpPr>
          <p:cNvPr id="2" name="文本占位符 8">
            <a:extLst>
              <a:ext uri="{FF2B5EF4-FFF2-40B4-BE49-F238E27FC236}">
                <a16:creationId xmlns:a16="http://schemas.microsoft.com/office/drawing/2014/main" id="{9466224E-DDBD-7B61-0095-23B9E57BF3EB}"/>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201892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F71EB-8389-47AD-B0AF-CBA79B91610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320DD97-FB92-2762-9A7A-F859A58AF33A}"/>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0178D319-5514-82BE-41E3-04711EB47486}"/>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5DC5A879-631F-BDE1-68C3-B6BEF675387A}"/>
              </a:ext>
            </a:extLst>
          </p:cNvPr>
          <p:cNvSpPr>
            <a:spLocks noGrp="1"/>
          </p:cNvSpPr>
          <p:nvPr>
            <p:ph type="body" sz="half" idx="2"/>
          </p:nvPr>
        </p:nvSpPr>
        <p:spPr>
          <a:xfrm>
            <a:off x="1100667" y="1726565"/>
            <a:ext cx="9171305" cy="4641578"/>
          </a:xfrm>
        </p:spPr>
        <p:txBody>
          <a:bodyPr/>
          <a:lstStyle/>
          <a:p>
            <a:pPr marL="0" indent="0">
              <a:buNone/>
            </a:pPr>
            <a:r>
              <a:rPr kumimoji="1" lang="zh-CN" altLang="en-US" dirty="0"/>
              <a:t>其他内存错误检测方案：</a:t>
            </a:r>
            <a:endParaRPr kumimoji="1" lang="en-US" altLang="zh-CN" dirty="0"/>
          </a:p>
          <a:p>
            <a:pPr marL="0" indent="0">
              <a:buNone/>
            </a:pPr>
            <a:r>
              <a:rPr kumimoji="1" lang="en-US" altLang="zh-CN" dirty="0"/>
              <a:t>1</a:t>
            </a:r>
            <a:r>
              <a:rPr kumimoji="1" lang="zh-CN" altLang="en-US" dirty="0"/>
              <a:t>、</a:t>
            </a:r>
            <a:r>
              <a:rPr kumimoji="1" lang="en-US" altLang="zh-CN" dirty="0"/>
              <a:t>KASAN</a:t>
            </a:r>
            <a:r>
              <a:rPr kumimoji="1" lang="zh-CN" altLang="en-US" dirty="0"/>
              <a:t>：不是即时的，然后内存开销还大，主要是很重</a:t>
            </a:r>
            <a:endParaRPr kumimoji="1" lang="en-US" altLang="zh-CN" dirty="0"/>
          </a:p>
          <a:p>
            <a:pPr marL="0" indent="0">
              <a:buNone/>
            </a:pPr>
            <a:r>
              <a:rPr kumimoji="1" lang="en-US" altLang="zh-CN" dirty="0"/>
              <a:t>2</a:t>
            </a:r>
            <a:r>
              <a:rPr kumimoji="1" lang="zh-CN" altLang="en-US" dirty="0"/>
              <a:t>、</a:t>
            </a:r>
            <a:r>
              <a:rPr kumimoji="1" lang="en-US" altLang="zh-CN" dirty="0"/>
              <a:t>KFENCE</a:t>
            </a:r>
            <a:r>
              <a:rPr kumimoji="1" lang="zh-CN" altLang="en-US" dirty="0"/>
              <a:t>：只能保证部分对象周围插个桩</a:t>
            </a:r>
            <a:endParaRPr kumimoji="1" lang="en-US" altLang="zh-CN" dirty="0"/>
          </a:p>
          <a:p>
            <a:pPr marL="0" indent="0">
              <a:buNone/>
            </a:pPr>
            <a:r>
              <a:rPr kumimoji="1" lang="en-US" altLang="zh-CN" dirty="0"/>
              <a:t>3</a:t>
            </a:r>
            <a:r>
              <a:rPr kumimoji="1" lang="zh-CN" altLang="en-US" dirty="0"/>
              <a:t>、只读页面：可读性本身就是个问题。假设我释放的时候把某个页面改成只读，考虑这样一个情形，代码中释放页面之前忘记释放链表节点了。节点</a:t>
            </a:r>
            <a:r>
              <a:rPr kumimoji="1" lang="en-US" altLang="zh-CN" dirty="0"/>
              <a:t>A</a:t>
            </a:r>
            <a:r>
              <a:rPr kumimoji="1" lang="zh-CN" altLang="en-US" dirty="0"/>
              <a:t>在页面</a:t>
            </a:r>
            <a:r>
              <a:rPr kumimoji="1" lang="en-US" altLang="zh-CN" dirty="0"/>
              <a:t>x</a:t>
            </a:r>
            <a:r>
              <a:rPr kumimoji="1" lang="zh-CN" altLang="en-US" dirty="0"/>
              <a:t>，其后继节点</a:t>
            </a:r>
            <a:r>
              <a:rPr kumimoji="1" lang="en-US" altLang="zh-CN" dirty="0"/>
              <a:t>B</a:t>
            </a:r>
            <a:r>
              <a:rPr kumimoji="1" lang="zh-CN" altLang="en-US" dirty="0"/>
              <a:t>在页面</a:t>
            </a:r>
            <a:r>
              <a:rPr kumimoji="1" lang="en-US" altLang="zh-CN" dirty="0"/>
              <a:t>y</a:t>
            </a:r>
            <a:r>
              <a:rPr kumimoji="1" lang="zh-CN" altLang="en-US" dirty="0"/>
              <a:t>上，</a:t>
            </a:r>
            <a:r>
              <a:rPr kumimoji="1" lang="en-US" altLang="zh-CN" dirty="0"/>
              <a:t>B</a:t>
            </a:r>
            <a:r>
              <a:rPr kumimoji="1" lang="zh-CN" altLang="en-US" dirty="0"/>
              <a:t>的后继节点</a:t>
            </a:r>
            <a:r>
              <a:rPr kumimoji="1" lang="en-US" altLang="zh-CN" dirty="0"/>
              <a:t>C</a:t>
            </a:r>
            <a:r>
              <a:rPr kumimoji="1" lang="zh-CN" altLang="en-US" dirty="0"/>
              <a:t>在页面</a:t>
            </a:r>
            <a:r>
              <a:rPr kumimoji="1" lang="en-US" altLang="zh-CN" dirty="0"/>
              <a:t>z</a:t>
            </a:r>
            <a:r>
              <a:rPr kumimoji="1" lang="zh-CN" altLang="en-US" dirty="0"/>
              <a:t>上，现在一个核心释放了页面</a:t>
            </a:r>
            <a:r>
              <a:rPr kumimoji="1" lang="en-US" altLang="zh-CN" dirty="0"/>
              <a:t>y</a:t>
            </a:r>
            <a:r>
              <a:rPr kumimoji="1" lang="zh-CN" altLang="en-US" dirty="0"/>
              <a:t>，另一个核心仍然可以通过读访问到后继节点</a:t>
            </a:r>
            <a:r>
              <a:rPr kumimoji="1" lang="en-US" altLang="zh-CN" dirty="0"/>
              <a:t>C</a:t>
            </a:r>
            <a:r>
              <a:rPr kumimoji="1" lang="zh-CN" altLang="en-US" dirty="0"/>
              <a:t>。那我前面这个</a:t>
            </a:r>
            <a:r>
              <a:rPr kumimoji="1" lang="en-US" altLang="zh-CN" dirty="0"/>
              <a:t>bug</a:t>
            </a:r>
            <a:r>
              <a:rPr kumimoji="1" lang="zh-CN" altLang="en-US" dirty="0"/>
              <a:t>岂不是就被隐藏起来了。</a:t>
            </a:r>
            <a:endParaRPr kumimoji="1" lang="en-US" altLang="zh-CN" dirty="0"/>
          </a:p>
          <a:p>
            <a:pPr marL="0" indent="0">
              <a:buNone/>
            </a:pPr>
            <a:r>
              <a:rPr kumimoji="1" lang="en-US" altLang="zh-CN" dirty="0"/>
              <a:t>4</a:t>
            </a:r>
            <a:r>
              <a:rPr kumimoji="1" lang="zh-CN" altLang="en-US" dirty="0"/>
              <a:t>、</a:t>
            </a:r>
            <a:r>
              <a:rPr kumimoji="1" lang="en-US" altLang="zh-CN" dirty="0"/>
              <a:t>MPK</a:t>
            </a:r>
            <a:r>
              <a:rPr kumimoji="1" lang="zh-CN" altLang="en-US" dirty="0"/>
              <a:t>，你别的不说，总共</a:t>
            </a:r>
            <a:r>
              <a:rPr kumimoji="1" lang="en-US" altLang="zh-CN" dirty="0"/>
              <a:t>16</a:t>
            </a:r>
            <a:r>
              <a:rPr kumimoji="1" lang="zh-CN" altLang="en-US" dirty="0"/>
              <a:t>个域，</a:t>
            </a:r>
            <a:r>
              <a:rPr kumimoji="1" lang="en-US" altLang="zh-CN" dirty="0"/>
              <a:t>CPU</a:t>
            </a:r>
            <a:r>
              <a:rPr kumimoji="1" lang="zh-CN" altLang="en-US" dirty="0"/>
              <a:t>间同步还有问题，每个</a:t>
            </a:r>
            <a:r>
              <a:rPr kumimoji="1" lang="en-US" altLang="zh-CN" dirty="0"/>
              <a:t>CPU</a:t>
            </a:r>
            <a:r>
              <a:rPr kumimoji="1" lang="zh-CN" altLang="en-US" dirty="0"/>
              <a:t>各管各的。</a:t>
            </a:r>
            <a:endParaRPr kumimoji="1" lang="en-US" altLang="zh-CN" dirty="0"/>
          </a:p>
          <a:p>
            <a:pPr marL="0" indent="0">
              <a:buNone/>
            </a:pPr>
            <a:endParaRPr lang="en-US" altLang="zh-CN" b="1" dirty="0"/>
          </a:p>
        </p:txBody>
      </p:sp>
      <p:sp>
        <p:nvSpPr>
          <p:cNvPr id="10" name="文本占位符 9">
            <a:extLst>
              <a:ext uri="{FF2B5EF4-FFF2-40B4-BE49-F238E27FC236}">
                <a16:creationId xmlns:a16="http://schemas.microsoft.com/office/drawing/2014/main" id="{243B5378-C60E-79A4-FF9F-CA6A4EF0CBDA}"/>
              </a:ext>
            </a:extLst>
          </p:cNvPr>
          <p:cNvSpPr>
            <a:spLocks noGrp="1"/>
          </p:cNvSpPr>
          <p:nvPr>
            <p:ph type="body" sz="half" idx="24"/>
          </p:nvPr>
        </p:nvSpPr>
        <p:spPr>
          <a:xfrm>
            <a:off x="880110" y="980440"/>
            <a:ext cx="6892290" cy="606425"/>
          </a:xfrm>
        </p:spPr>
        <p:txBody>
          <a:bodyPr>
            <a:normAutofit/>
          </a:bodyPr>
          <a:lstStyle/>
          <a:p>
            <a:r>
              <a:rPr lang="zh-CN" altLang="en-US" dirty="0"/>
              <a:t>基于自映射机制的按需内存分配映射机制</a:t>
            </a:r>
          </a:p>
        </p:txBody>
      </p:sp>
      <p:sp>
        <p:nvSpPr>
          <p:cNvPr id="2" name="文本占位符 8">
            <a:extLst>
              <a:ext uri="{FF2B5EF4-FFF2-40B4-BE49-F238E27FC236}">
                <a16:creationId xmlns:a16="http://schemas.microsoft.com/office/drawing/2014/main" id="{BE5385FF-5E9C-EEDE-3D45-93F1FE109B18}"/>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469699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AD6EC-E39E-E08F-9B96-B16A5B73D5C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D69C7B1-A9E6-F416-2EF2-B927CCA56152}"/>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4761C85D-01E8-19A7-C096-40CC00B8ABAE}"/>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859A1027-D754-146D-A8E2-7BF3FAEC4C83}"/>
              </a:ext>
            </a:extLst>
          </p:cNvPr>
          <p:cNvSpPr>
            <a:spLocks noGrp="1"/>
          </p:cNvSpPr>
          <p:nvPr>
            <p:ph type="body" sz="half" idx="2"/>
          </p:nvPr>
        </p:nvSpPr>
        <p:spPr/>
        <p:txBody>
          <a:bodyPr/>
          <a:lstStyle/>
          <a:p>
            <a:pPr marL="0" indent="0">
              <a:buNone/>
            </a:pPr>
            <a:r>
              <a:rPr lang="en-US" altLang="zh-CN" dirty="0"/>
              <a:t>Radix</a:t>
            </a:r>
            <a:r>
              <a:rPr lang="zh-CN" altLang="en-US" dirty="0"/>
              <a:t> </a:t>
            </a:r>
            <a:r>
              <a:rPr lang="en-US" altLang="zh-CN" dirty="0"/>
              <a:t>tree</a:t>
            </a:r>
            <a:r>
              <a:rPr lang="zh-CN" altLang="en-US" dirty="0"/>
              <a:t>用于内存管理是很常见的设计，在此不再赘述。</a:t>
            </a:r>
            <a:endParaRPr lang="en-US" altLang="zh-CN" dirty="0"/>
          </a:p>
          <a:p>
            <a:pPr marL="0" indent="0">
              <a:buNone/>
            </a:pPr>
            <a:r>
              <a:rPr lang="zh-CN" altLang="en-US" dirty="0"/>
              <a:t>但是可能存在同一个地址空间，多个线程同时改虚拟内存空间分配情况的问题，因此我加了个树锁（实际上一把大锁保平安我也不确定是不是会更好。）</a:t>
            </a:r>
          </a:p>
        </p:txBody>
      </p:sp>
      <p:sp>
        <p:nvSpPr>
          <p:cNvPr id="10" name="文本占位符 9">
            <a:extLst>
              <a:ext uri="{FF2B5EF4-FFF2-40B4-BE49-F238E27FC236}">
                <a16:creationId xmlns:a16="http://schemas.microsoft.com/office/drawing/2014/main" id="{DB046DE9-7C04-18A1-FF33-0D88E2523C4C}"/>
              </a:ext>
            </a:extLst>
          </p:cNvPr>
          <p:cNvSpPr>
            <a:spLocks noGrp="1"/>
          </p:cNvSpPr>
          <p:nvPr>
            <p:ph type="body" sz="half" idx="24"/>
          </p:nvPr>
        </p:nvSpPr>
        <p:spPr>
          <a:xfrm>
            <a:off x="880110" y="980440"/>
            <a:ext cx="6892290" cy="606425"/>
          </a:xfrm>
        </p:spPr>
        <p:txBody>
          <a:bodyPr>
            <a:normAutofit/>
          </a:bodyPr>
          <a:lstStyle/>
          <a:p>
            <a:r>
              <a:rPr lang="zh-CN" altLang="en-US" dirty="0"/>
              <a:t>基于</a:t>
            </a:r>
            <a:r>
              <a:rPr lang="en-US" altLang="zh-CN" dirty="0"/>
              <a:t>radix</a:t>
            </a:r>
            <a:r>
              <a:rPr lang="zh-CN" altLang="en-US" dirty="0"/>
              <a:t> </a:t>
            </a:r>
            <a:r>
              <a:rPr lang="en-US" altLang="zh-CN" dirty="0"/>
              <a:t>tree</a:t>
            </a:r>
            <a:r>
              <a:rPr lang="zh-CN" altLang="en-US" dirty="0"/>
              <a:t>及树锁的虚拟内存管理</a:t>
            </a:r>
          </a:p>
        </p:txBody>
      </p:sp>
      <p:sp>
        <p:nvSpPr>
          <p:cNvPr id="2" name="文本占位符 8">
            <a:extLst>
              <a:ext uri="{FF2B5EF4-FFF2-40B4-BE49-F238E27FC236}">
                <a16:creationId xmlns:a16="http://schemas.microsoft.com/office/drawing/2014/main" id="{1A6EEE0F-9E9C-FFB3-2749-2D9A007974D3}"/>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3812302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B4AB2-2EEC-0BDF-6D4B-5A3056E1E16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AE8985F-DEFA-D4B4-C6D4-8B833C673B2E}"/>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8A23E7CA-CE5B-5AE1-96D1-2290FBCDADD8}"/>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D5C0D60D-E93C-16C1-45D2-F74E3B9AC9FD}"/>
              </a:ext>
            </a:extLst>
          </p:cNvPr>
          <p:cNvSpPr>
            <a:spLocks noGrp="1"/>
          </p:cNvSpPr>
          <p:nvPr>
            <p:ph type="body" sz="half" idx="2"/>
          </p:nvPr>
        </p:nvSpPr>
        <p:spPr>
          <a:xfrm>
            <a:off x="1082357" y="1586865"/>
            <a:ext cx="10129929" cy="4476478"/>
          </a:xfrm>
        </p:spPr>
        <p:txBody>
          <a:bodyPr>
            <a:normAutofit/>
          </a:bodyPr>
          <a:lstStyle/>
          <a:p>
            <a:pPr marL="0" indent="0">
              <a:buNone/>
            </a:pPr>
            <a:r>
              <a:rPr lang="zh-CN" altLang="en-US" dirty="0"/>
              <a:t>之所以做成</a:t>
            </a:r>
            <a:r>
              <a:rPr lang="en-US" altLang="zh-CN" dirty="0" err="1"/>
              <a:t>percpu</a:t>
            </a:r>
            <a:r>
              <a:rPr lang="zh-CN" altLang="en-US" dirty="0"/>
              <a:t>的内核对象分配器，有几个考量。</a:t>
            </a:r>
            <a:endParaRPr lang="en-US" altLang="zh-CN" dirty="0"/>
          </a:p>
          <a:p>
            <a:pPr marL="0" indent="0">
              <a:buNone/>
            </a:pPr>
            <a:r>
              <a:rPr lang="zh-CN" altLang="en-US" dirty="0"/>
              <a:t>第一，同步加一把大锁锁死内核分配器的性能上难以接受。</a:t>
            </a:r>
            <a:endParaRPr lang="en-US" altLang="zh-CN" dirty="0"/>
          </a:p>
          <a:p>
            <a:pPr marL="0" indent="0">
              <a:buNone/>
            </a:pPr>
            <a:r>
              <a:rPr lang="zh-CN" altLang="en-US" dirty="0"/>
              <a:t>第二，如果用</a:t>
            </a:r>
            <a:r>
              <a:rPr lang="en-US" altLang="zh-CN" dirty="0" err="1"/>
              <a:t>cpu</a:t>
            </a:r>
            <a:r>
              <a:rPr lang="zh-CN" altLang="en-US" dirty="0"/>
              <a:t>本地缓存一部分页面，然后向大的内核分配器加锁，还不如干脆做成</a:t>
            </a:r>
            <a:r>
              <a:rPr lang="en-US" altLang="zh-CN" dirty="0" err="1"/>
              <a:t>percpu</a:t>
            </a:r>
            <a:r>
              <a:rPr lang="zh-CN" altLang="en-US" dirty="0"/>
              <a:t>的分配器。本地无需加锁，只需按照按需分配并映射的框架，给物理内存分配器加锁即可。具体算法实现没啥说的，关键是，如果通过</a:t>
            </a:r>
            <a:r>
              <a:rPr lang="en-US" altLang="zh-CN" dirty="0"/>
              <a:t>IPC</a:t>
            </a:r>
            <a:r>
              <a:rPr lang="zh-CN" altLang="en-US" dirty="0"/>
              <a:t>，一个核心获取了另一个核心上分配的内存的所有权，它必须合理地归还。</a:t>
            </a:r>
            <a:endParaRPr lang="en-US" altLang="zh-CN" dirty="0"/>
          </a:p>
          <a:p>
            <a:pPr marL="0" indent="0">
              <a:buNone/>
            </a:pPr>
            <a:r>
              <a:rPr lang="zh-CN" altLang="en-US" dirty="0"/>
              <a:t>因此，我们继续使用</a:t>
            </a:r>
            <a:r>
              <a:rPr lang="en-US" altLang="zh-CN" dirty="0" err="1"/>
              <a:t>msq</a:t>
            </a:r>
            <a:r>
              <a:rPr lang="zh-CN" altLang="en-US" dirty="0"/>
              <a:t>无锁队列，每个</a:t>
            </a:r>
            <a:r>
              <a:rPr lang="en-US" altLang="zh-CN" dirty="0" err="1"/>
              <a:t>percpu</a:t>
            </a:r>
            <a:r>
              <a:rPr lang="zh-CN" altLang="en-US" dirty="0"/>
              <a:t>分配器上均有一个无锁队列，挂着给到其他核心，然后其他核心分配器还给他的内存。每次</a:t>
            </a:r>
            <a:r>
              <a:rPr lang="en-US" altLang="zh-CN" dirty="0" err="1"/>
              <a:t>alloc</a:t>
            </a:r>
            <a:r>
              <a:rPr lang="zh-CN" altLang="en-US" dirty="0"/>
              <a:t>和</a:t>
            </a:r>
            <a:r>
              <a:rPr lang="en-US" altLang="zh-CN" dirty="0"/>
              <a:t>free</a:t>
            </a:r>
            <a:r>
              <a:rPr lang="zh-CN" altLang="en-US" dirty="0"/>
              <a:t>都检查一下队列上是否有需要归还的内存。</a:t>
            </a:r>
            <a:r>
              <a:rPr lang="en-US" altLang="zh-CN" dirty="0"/>
              <a:t>Free</a:t>
            </a:r>
            <a:r>
              <a:rPr lang="zh-CN" altLang="en-US" dirty="0"/>
              <a:t>的时候如果检查到不是自己核心的内存，就挂到对应核心的队列上</a:t>
            </a:r>
            <a:r>
              <a:rPr lang="en-US" altLang="zh-CN" dirty="0"/>
              <a:t>——</a:t>
            </a:r>
            <a:r>
              <a:rPr lang="en-US" altLang="zh-CN" b="1" dirty="0"/>
              <a:t>AI</a:t>
            </a:r>
            <a:r>
              <a:rPr lang="zh-CN" altLang="en-US" b="1" dirty="0"/>
              <a:t>写的代码只需要关心从本地</a:t>
            </a:r>
            <a:r>
              <a:rPr lang="en-US" altLang="zh-CN" b="1" dirty="0" err="1"/>
              <a:t>percpu</a:t>
            </a:r>
            <a:r>
              <a:rPr lang="zh-CN" altLang="en-US" b="1" dirty="0"/>
              <a:t>分配器拿和放回，无需关心内存到底是哪个核心的。</a:t>
            </a:r>
            <a:endParaRPr lang="en-US" altLang="zh-CN" b="1" dirty="0"/>
          </a:p>
          <a:p>
            <a:pPr marL="0" indent="0">
              <a:buNone/>
            </a:pPr>
            <a:r>
              <a:rPr lang="en-US" altLang="zh-CN" dirty="0"/>
              <a:t>——</a:t>
            </a:r>
            <a:r>
              <a:rPr lang="zh-CN" altLang="en-US" dirty="0"/>
              <a:t>会有一个核心长期不</a:t>
            </a:r>
            <a:r>
              <a:rPr lang="en-US" altLang="zh-CN" dirty="0"/>
              <a:t>free/</a:t>
            </a:r>
            <a:r>
              <a:rPr lang="en-US" altLang="zh-CN" dirty="0" err="1"/>
              <a:t>alloc</a:t>
            </a:r>
            <a:r>
              <a:rPr lang="zh-CN" altLang="en-US" dirty="0"/>
              <a:t>，队列越挂越长的问题，所以需要的时候</a:t>
            </a:r>
            <a:r>
              <a:rPr lang="en-US" altLang="zh-CN" dirty="0" err="1"/>
              <a:t>alloc</a:t>
            </a:r>
            <a:r>
              <a:rPr lang="zh-CN" altLang="en-US" dirty="0"/>
              <a:t>一下以清理队列。</a:t>
            </a:r>
          </a:p>
        </p:txBody>
      </p:sp>
      <p:sp>
        <p:nvSpPr>
          <p:cNvPr id="10" name="文本占位符 9">
            <a:extLst>
              <a:ext uri="{FF2B5EF4-FFF2-40B4-BE49-F238E27FC236}">
                <a16:creationId xmlns:a16="http://schemas.microsoft.com/office/drawing/2014/main" id="{3B8BE605-B3CB-562C-0771-2E8A578C62D5}"/>
              </a:ext>
            </a:extLst>
          </p:cNvPr>
          <p:cNvSpPr>
            <a:spLocks noGrp="1"/>
          </p:cNvSpPr>
          <p:nvPr>
            <p:ph type="body" sz="half" idx="24"/>
          </p:nvPr>
        </p:nvSpPr>
        <p:spPr>
          <a:xfrm>
            <a:off x="880110" y="980440"/>
            <a:ext cx="6892290" cy="606425"/>
          </a:xfrm>
        </p:spPr>
        <p:txBody>
          <a:bodyPr>
            <a:normAutofit/>
          </a:bodyPr>
          <a:lstStyle/>
          <a:p>
            <a:r>
              <a:rPr lang="en-US" altLang="zh-CN" dirty="0" err="1"/>
              <a:t>percpu</a:t>
            </a:r>
            <a:r>
              <a:rPr lang="zh-CN" altLang="en-US" dirty="0"/>
              <a:t>的内核对象分配器</a:t>
            </a:r>
          </a:p>
        </p:txBody>
      </p:sp>
      <p:sp>
        <p:nvSpPr>
          <p:cNvPr id="2" name="文本占位符 8">
            <a:extLst>
              <a:ext uri="{FF2B5EF4-FFF2-40B4-BE49-F238E27FC236}">
                <a16:creationId xmlns:a16="http://schemas.microsoft.com/office/drawing/2014/main" id="{B55DFB57-196C-23F2-37B5-B63D57B0493F}"/>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2273934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FFAD-3E85-2E67-DED9-8DB8F72B79C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E16EE-AA68-0FF8-E5A2-F19A27E52345}"/>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E93E9F18-BFA5-8B9C-A2E6-9D31C703B8B2}"/>
              </a:ext>
            </a:extLst>
          </p:cNvPr>
          <p:cNvSpPr>
            <a:spLocks noGrp="1"/>
          </p:cNvSpPr>
          <p:nvPr>
            <p:ph type="body" sz="half" idx="25"/>
          </p:nvPr>
        </p:nvSpPr>
        <p:spPr/>
        <p:txBody>
          <a:bodyPr/>
          <a:lstStyle/>
          <a:p>
            <a:r>
              <a:rPr lang="en-US" altLang="zh-CN" dirty="0"/>
              <a:t>02</a:t>
            </a:r>
            <a:endParaRPr lang="zh-CN" altLang="en-US" dirty="0"/>
          </a:p>
        </p:txBody>
      </p:sp>
      <p:sp>
        <p:nvSpPr>
          <p:cNvPr id="10" name="文本占位符 9">
            <a:extLst>
              <a:ext uri="{FF2B5EF4-FFF2-40B4-BE49-F238E27FC236}">
                <a16:creationId xmlns:a16="http://schemas.microsoft.com/office/drawing/2014/main" id="{85288B6A-8F10-FAF4-BF35-FDF1A1E11E7A}"/>
              </a:ext>
            </a:extLst>
          </p:cNvPr>
          <p:cNvSpPr>
            <a:spLocks noGrp="1"/>
          </p:cNvSpPr>
          <p:nvPr>
            <p:ph type="body" sz="half" idx="24"/>
          </p:nvPr>
        </p:nvSpPr>
        <p:spPr>
          <a:xfrm>
            <a:off x="880110" y="980440"/>
            <a:ext cx="6892290" cy="606425"/>
          </a:xfrm>
        </p:spPr>
        <p:txBody>
          <a:bodyPr>
            <a:normAutofit/>
          </a:bodyPr>
          <a:lstStyle/>
          <a:p>
            <a:r>
              <a:rPr lang="zh-CN" altLang="en-US" dirty="0"/>
              <a:t>无锁</a:t>
            </a:r>
            <a:r>
              <a:rPr lang="en-US" altLang="zh-CN" dirty="0"/>
              <a:t>IPC</a:t>
            </a:r>
            <a:r>
              <a:rPr lang="zh-CN" altLang="en-US" dirty="0"/>
              <a:t>和锁的执行流模型同构</a:t>
            </a:r>
          </a:p>
        </p:txBody>
      </p:sp>
      <p:sp>
        <p:nvSpPr>
          <p:cNvPr id="2" name="文本占位符 8">
            <a:extLst>
              <a:ext uri="{FF2B5EF4-FFF2-40B4-BE49-F238E27FC236}">
                <a16:creationId xmlns:a16="http://schemas.microsoft.com/office/drawing/2014/main" id="{F4560F2B-3AA4-19B7-3242-2B63513512A1}"/>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
        <p:nvSpPr>
          <p:cNvPr id="16" name="文本框 15">
            <a:extLst>
              <a:ext uri="{FF2B5EF4-FFF2-40B4-BE49-F238E27FC236}">
                <a16:creationId xmlns:a16="http://schemas.microsoft.com/office/drawing/2014/main" id="{40FE9085-0BA0-14B4-44EB-C36CD67EA15E}"/>
              </a:ext>
            </a:extLst>
          </p:cNvPr>
          <p:cNvSpPr txBox="1"/>
          <p:nvPr/>
        </p:nvSpPr>
        <p:spPr>
          <a:xfrm>
            <a:off x="1319695" y="1708794"/>
            <a:ext cx="8263467" cy="738664"/>
          </a:xfrm>
          <a:prstGeom prst="rect">
            <a:avLst/>
          </a:prstGeom>
          <a:noFill/>
        </p:spPr>
        <p:txBody>
          <a:bodyPr wrap="square" rtlCol="0">
            <a:spAutoFit/>
          </a:bodyPr>
          <a:lstStyle/>
          <a:p>
            <a:r>
              <a:rPr kumimoji="1" lang="zh-CN" altLang="en-US" sz="2400" dirty="0"/>
              <a:t>举个例子吧</a:t>
            </a:r>
            <a:endParaRPr kumimoji="1" lang="en-US" altLang="zh-CN" sz="2400" dirty="0"/>
          </a:p>
          <a:p>
            <a:r>
              <a:rPr kumimoji="1" lang="zh-CN" altLang="en-US" dirty="0"/>
              <a:t>假设有个宏内核下的伪代码，就说发网卡消息（以下仅作示例）</a:t>
            </a:r>
          </a:p>
        </p:txBody>
      </p:sp>
      <p:sp>
        <p:nvSpPr>
          <p:cNvPr id="17" name="文本框 16">
            <a:extLst>
              <a:ext uri="{FF2B5EF4-FFF2-40B4-BE49-F238E27FC236}">
                <a16:creationId xmlns:a16="http://schemas.microsoft.com/office/drawing/2014/main" id="{36CB9F02-47B7-B428-D2D8-F540B073103E}"/>
              </a:ext>
            </a:extLst>
          </p:cNvPr>
          <p:cNvSpPr txBox="1"/>
          <p:nvPr/>
        </p:nvSpPr>
        <p:spPr>
          <a:xfrm>
            <a:off x="2772113" y="2840000"/>
            <a:ext cx="2586181" cy="2308324"/>
          </a:xfrm>
          <a:prstGeom prst="rect">
            <a:avLst/>
          </a:prstGeom>
          <a:noFill/>
        </p:spPr>
        <p:txBody>
          <a:bodyPr wrap="square" rtlCol="0">
            <a:spAutoFit/>
          </a:bodyPr>
          <a:lstStyle/>
          <a:p>
            <a:r>
              <a:rPr kumimoji="1" lang="zh-CN" altLang="en-US" dirty="0"/>
              <a:t>核心</a:t>
            </a:r>
            <a:r>
              <a:rPr kumimoji="1" lang="en-US" altLang="zh-CN" dirty="0"/>
              <a:t>A</a:t>
            </a:r>
          </a:p>
          <a:p>
            <a:endParaRPr kumimoji="1" lang="en-US" altLang="zh-CN" dirty="0"/>
          </a:p>
          <a:p>
            <a:r>
              <a:rPr kumimoji="1" lang="zh-CN" altLang="en-US" dirty="0"/>
              <a:t>准备好数据</a:t>
            </a:r>
            <a:endParaRPr kumimoji="1" lang="en-US" altLang="zh-CN" dirty="0"/>
          </a:p>
          <a:p>
            <a:r>
              <a:rPr kumimoji="1" lang="zh-CN" altLang="en-US" dirty="0"/>
              <a:t>试图抢网卡锁</a:t>
            </a:r>
            <a:endParaRPr kumimoji="1" lang="en-US" altLang="zh-CN" dirty="0"/>
          </a:p>
          <a:p>
            <a:r>
              <a:rPr kumimoji="1" lang="zh-CN" altLang="en-US" dirty="0"/>
              <a:t>抢到锁</a:t>
            </a:r>
            <a:endParaRPr kumimoji="1" lang="en-US" altLang="zh-CN" dirty="0"/>
          </a:p>
          <a:p>
            <a:r>
              <a:rPr kumimoji="1" lang="zh-CN" altLang="en-US" dirty="0"/>
              <a:t>发！</a:t>
            </a:r>
            <a:endParaRPr kumimoji="1" lang="en-US" altLang="zh-CN" dirty="0"/>
          </a:p>
          <a:p>
            <a:r>
              <a:rPr kumimoji="1" lang="zh-CN" altLang="en-US" dirty="0"/>
              <a:t>释放锁</a:t>
            </a:r>
            <a:endParaRPr kumimoji="1" lang="en-US" altLang="zh-CN" dirty="0"/>
          </a:p>
          <a:p>
            <a:r>
              <a:rPr kumimoji="1" lang="zh-CN" altLang="en-US" dirty="0"/>
              <a:t>干其他事</a:t>
            </a:r>
            <a:endParaRPr kumimoji="1" lang="en-US" altLang="zh-CN" dirty="0"/>
          </a:p>
        </p:txBody>
      </p:sp>
      <p:sp>
        <p:nvSpPr>
          <p:cNvPr id="18" name="文本框 17">
            <a:extLst>
              <a:ext uri="{FF2B5EF4-FFF2-40B4-BE49-F238E27FC236}">
                <a16:creationId xmlns:a16="http://schemas.microsoft.com/office/drawing/2014/main" id="{DE24E25A-7377-E92D-2EE1-118E04AE3B0C}"/>
              </a:ext>
            </a:extLst>
          </p:cNvPr>
          <p:cNvSpPr txBox="1"/>
          <p:nvPr/>
        </p:nvSpPr>
        <p:spPr>
          <a:xfrm>
            <a:off x="4531640" y="2840000"/>
            <a:ext cx="2586181" cy="3139321"/>
          </a:xfrm>
          <a:prstGeom prst="rect">
            <a:avLst/>
          </a:prstGeom>
          <a:noFill/>
        </p:spPr>
        <p:txBody>
          <a:bodyPr wrap="square" rtlCol="0">
            <a:spAutoFit/>
          </a:bodyPr>
          <a:lstStyle/>
          <a:p>
            <a:r>
              <a:rPr kumimoji="1" lang="zh-CN" altLang="en-US" dirty="0"/>
              <a:t>核心</a:t>
            </a:r>
            <a:r>
              <a:rPr kumimoji="1" lang="en-US" altLang="zh-CN" dirty="0"/>
              <a:t>B</a:t>
            </a:r>
          </a:p>
          <a:p>
            <a:endParaRPr kumimoji="1" lang="en-US" altLang="zh-CN" dirty="0"/>
          </a:p>
          <a:p>
            <a:r>
              <a:rPr kumimoji="1" lang="zh-CN" altLang="en-US" dirty="0"/>
              <a:t>准备好数据</a:t>
            </a:r>
            <a:endParaRPr kumimoji="1" lang="en-US" altLang="zh-CN" dirty="0"/>
          </a:p>
          <a:p>
            <a:r>
              <a:rPr kumimoji="1" lang="zh-CN" altLang="en-US" dirty="0"/>
              <a:t>试图抢网卡锁</a:t>
            </a:r>
            <a:endParaRPr kumimoji="1" lang="en-US" altLang="zh-CN" dirty="0"/>
          </a:p>
          <a:p>
            <a:r>
              <a:rPr kumimoji="1" lang="zh-CN" altLang="en-US" dirty="0"/>
              <a:t>没抢到锁，等待</a:t>
            </a:r>
            <a:endParaRPr kumimoji="1" lang="en-US" altLang="zh-CN" dirty="0"/>
          </a:p>
          <a:p>
            <a:r>
              <a:rPr kumimoji="1" lang="zh-CN" altLang="en-US" dirty="0"/>
              <a:t>等待</a:t>
            </a:r>
            <a:endParaRPr kumimoji="1" lang="en-US" altLang="zh-CN" dirty="0"/>
          </a:p>
          <a:p>
            <a:r>
              <a:rPr kumimoji="1" lang="en-US" altLang="zh-CN" dirty="0"/>
              <a:t>……</a:t>
            </a:r>
          </a:p>
          <a:p>
            <a:r>
              <a:rPr kumimoji="1" lang="zh-CN" altLang="en-US" dirty="0"/>
              <a:t>抢到锁</a:t>
            </a:r>
            <a:endParaRPr kumimoji="1" lang="en-US" altLang="zh-CN" dirty="0"/>
          </a:p>
          <a:p>
            <a:r>
              <a:rPr kumimoji="1" lang="zh-CN" altLang="en-US" dirty="0"/>
              <a:t>发！</a:t>
            </a:r>
            <a:endParaRPr kumimoji="1" lang="en-US" altLang="zh-CN" dirty="0"/>
          </a:p>
          <a:p>
            <a:r>
              <a:rPr kumimoji="1" lang="zh-CN" altLang="en-US" dirty="0"/>
              <a:t>释放锁</a:t>
            </a:r>
            <a:endParaRPr kumimoji="1" lang="en-US" altLang="zh-CN" dirty="0"/>
          </a:p>
          <a:p>
            <a:r>
              <a:rPr kumimoji="1" lang="zh-CN" altLang="en-US" dirty="0"/>
              <a:t>干其他事</a:t>
            </a:r>
            <a:endParaRPr kumimoji="1" lang="en-US" altLang="zh-CN" dirty="0"/>
          </a:p>
        </p:txBody>
      </p:sp>
      <p:cxnSp>
        <p:nvCxnSpPr>
          <p:cNvPr id="19" name="直线连接符 18">
            <a:extLst>
              <a:ext uri="{FF2B5EF4-FFF2-40B4-BE49-F238E27FC236}">
                <a16:creationId xmlns:a16="http://schemas.microsoft.com/office/drawing/2014/main" id="{6C1A8903-1D08-0496-3D74-45CCCCF1EFBB}"/>
              </a:ext>
            </a:extLst>
          </p:cNvPr>
          <p:cNvCxnSpPr/>
          <p:nvPr/>
        </p:nvCxnSpPr>
        <p:spPr>
          <a:xfrm>
            <a:off x="2097858" y="3994162"/>
            <a:ext cx="21797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线连接符 19">
            <a:extLst>
              <a:ext uri="{FF2B5EF4-FFF2-40B4-BE49-F238E27FC236}">
                <a16:creationId xmlns:a16="http://schemas.microsoft.com/office/drawing/2014/main" id="{28DE9D44-59F8-74F2-0C07-AED215CB6B4E}"/>
              </a:ext>
            </a:extLst>
          </p:cNvPr>
          <p:cNvCxnSpPr/>
          <p:nvPr/>
        </p:nvCxnSpPr>
        <p:spPr>
          <a:xfrm>
            <a:off x="2097858" y="4802344"/>
            <a:ext cx="21797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线连接符 20">
            <a:extLst>
              <a:ext uri="{FF2B5EF4-FFF2-40B4-BE49-F238E27FC236}">
                <a16:creationId xmlns:a16="http://schemas.microsoft.com/office/drawing/2014/main" id="{584333CD-3129-B5FD-DF39-58B48E587DCA}"/>
              </a:ext>
            </a:extLst>
          </p:cNvPr>
          <p:cNvCxnSpPr/>
          <p:nvPr/>
        </p:nvCxnSpPr>
        <p:spPr>
          <a:xfrm>
            <a:off x="4481609" y="4811580"/>
            <a:ext cx="21797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线连接符 21">
            <a:extLst>
              <a:ext uri="{FF2B5EF4-FFF2-40B4-BE49-F238E27FC236}">
                <a16:creationId xmlns:a16="http://schemas.microsoft.com/office/drawing/2014/main" id="{99F0A88D-E66E-F091-8CA8-F1EB54594D1A}"/>
              </a:ext>
            </a:extLst>
          </p:cNvPr>
          <p:cNvCxnSpPr/>
          <p:nvPr/>
        </p:nvCxnSpPr>
        <p:spPr>
          <a:xfrm>
            <a:off x="4481609" y="5619762"/>
            <a:ext cx="2179782" cy="0"/>
          </a:xfrm>
          <a:prstGeom prst="line">
            <a:avLst/>
          </a:prstGeom>
        </p:spPr>
        <p:style>
          <a:lnRef idx="2">
            <a:schemeClr val="accent1"/>
          </a:lnRef>
          <a:fillRef idx="0">
            <a:schemeClr val="accent1"/>
          </a:fillRef>
          <a:effectRef idx="1">
            <a:schemeClr val="accent1"/>
          </a:effectRef>
          <a:fontRef idx="minor">
            <a:schemeClr val="tx1"/>
          </a:fontRef>
        </p:style>
      </p:cxnSp>
      <p:sp>
        <p:nvSpPr>
          <p:cNvPr id="23" name="文本框 22">
            <a:extLst>
              <a:ext uri="{FF2B5EF4-FFF2-40B4-BE49-F238E27FC236}">
                <a16:creationId xmlns:a16="http://schemas.microsoft.com/office/drawing/2014/main" id="{B139266E-8BDE-5276-ED92-515322A58C3A}"/>
              </a:ext>
            </a:extLst>
          </p:cNvPr>
          <p:cNvSpPr txBox="1"/>
          <p:nvPr/>
        </p:nvSpPr>
        <p:spPr>
          <a:xfrm>
            <a:off x="1091095" y="4065606"/>
            <a:ext cx="1468582" cy="646331"/>
          </a:xfrm>
          <a:prstGeom prst="rect">
            <a:avLst/>
          </a:prstGeom>
          <a:noFill/>
        </p:spPr>
        <p:txBody>
          <a:bodyPr wrap="square" rtlCol="0">
            <a:spAutoFit/>
          </a:bodyPr>
          <a:lstStyle/>
          <a:p>
            <a:r>
              <a:rPr kumimoji="1" lang="en-US" altLang="zh-CN" dirty="0"/>
              <a:t>A</a:t>
            </a:r>
            <a:r>
              <a:rPr kumimoji="1" lang="zh-CN" altLang="en-US" dirty="0"/>
              <a:t>抢先进入临界区</a:t>
            </a:r>
          </a:p>
        </p:txBody>
      </p:sp>
      <p:sp>
        <p:nvSpPr>
          <p:cNvPr id="24" name="文本框 23">
            <a:extLst>
              <a:ext uri="{FF2B5EF4-FFF2-40B4-BE49-F238E27FC236}">
                <a16:creationId xmlns:a16="http://schemas.microsoft.com/office/drawing/2014/main" id="{D1EBE0BA-5783-B031-DF81-0D02D9482BEB}"/>
              </a:ext>
            </a:extLst>
          </p:cNvPr>
          <p:cNvSpPr txBox="1"/>
          <p:nvPr/>
        </p:nvSpPr>
        <p:spPr>
          <a:xfrm>
            <a:off x="6433561" y="4892506"/>
            <a:ext cx="1468582" cy="646331"/>
          </a:xfrm>
          <a:prstGeom prst="rect">
            <a:avLst/>
          </a:prstGeom>
          <a:noFill/>
        </p:spPr>
        <p:txBody>
          <a:bodyPr wrap="square" rtlCol="0">
            <a:spAutoFit/>
          </a:bodyPr>
          <a:lstStyle/>
          <a:p>
            <a:r>
              <a:rPr kumimoji="1" lang="en-US" altLang="zh-CN" dirty="0"/>
              <a:t>B</a:t>
            </a:r>
            <a:r>
              <a:rPr kumimoji="1" lang="zh-CN" altLang="en-US" dirty="0"/>
              <a:t>随后进入临界区</a:t>
            </a:r>
          </a:p>
        </p:txBody>
      </p:sp>
    </p:spTree>
    <p:extLst>
      <p:ext uri="{BB962C8B-B14F-4D97-AF65-F5344CB8AC3E}">
        <p14:creationId xmlns:p14="http://schemas.microsoft.com/office/powerpoint/2010/main" val="1512758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E73DA-5138-6F54-4017-2AB7252AD2F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4EF9C8E-9E90-50E0-2BEA-2609125C6CA9}"/>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F99E8E46-2EEC-4F43-9B02-0056554249D5}"/>
              </a:ext>
            </a:extLst>
          </p:cNvPr>
          <p:cNvSpPr>
            <a:spLocks noGrp="1"/>
          </p:cNvSpPr>
          <p:nvPr>
            <p:ph type="body" sz="half" idx="25"/>
          </p:nvPr>
        </p:nvSpPr>
        <p:spPr/>
        <p:txBody>
          <a:bodyPr/>
          <a:lstStyle/>
          <a:p>
            <a:r>
              <a:rPr lang="en-US" altLang="zh-CN" dirty="0"/>
              <a:t>02</a:t>
            </a:r>
            <a:endParaRPr lang="zh-CN" altLang="en-US" dirty="0"/>
          </a:p>
        </p:txBody>
      </p:sp>
      <p:sp>
        <p:nvSpPr>
          <p:cNvPr id="10" name="文本占位符 9">
            <a:extLst>
              <a:ext uri="{FF2B5EF4-FFF2-40B4-BE49-F238E27FC236}">
                <a16:creationId xmlns:a16="http://schemas.microsoft.com/office/drawing/2014/main" id="{4779EBCC-4F81-A519-A21F-5DAE13B0EE68}"/>
              </a:ext>
            </a:extLst>
          </p:cNvPr>
          <p:cNvSpPr>
            <a:spLocks noGrp="1"/>
          </p:cNvSpPr>
          <p:nvPr>
            <p:ph type="body" sz="half" idx="24"/>
          </p:nvPr>
        </p:nvSpPr>
        <p:spPr>
          <a:xfrm>
            <a:off x="854710" y="674224"/>
            <a:ext cx="6892290" cy="606425"/>
          </a:xfrm>
        </p:spPr>
        <p:txBody>
          <a:bodyPr>
            <a:normAutofit/>
          </a:bodyPr>
          <a:lstStyle/>
          <a:p>
            <a:r>
              <a:rPr lang="zh-CN" altLang="en-US" dirty="0"/>
              <a:t>无锁</a:t>
            </a:r>
            <a:r>
              <a:rPr lang="en-US" altLang="zh-CN" dirty="0"/>
              <a:t>IPC</a:t>
            </a:r>
            <a:r>
              <a:rPr lang="zh-CN" altLang="en-US" dirty="0"/>
              <a:t>和锁的执行流模型同构</a:t>
            </a:r>
          </a:p>
        </p:txBody>
      </p:sp>
      <p:sp>
        <p:nvSpPr>
          <p:cNvPr id="2" name="文本占位符 8">
            <a:extLst>
              <a:ext uri="{FF2B5EF4-FFF2-40B4-BE49-F238E27FC236}">
                <a16:creationId xmlns:a16="http://schemas.microsoft.com/office/drawing/2014/main" id="{50369FFC-47E5-FD98-5668-88831D69F82A}"/>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
        <p:nvSpPr>
          <p:cNvPr id="5" name="文本框 4">
            <a:extLst>
              <a:ext uri="{FF2B5EF4-FFF2-40B4-BE49-F238E27FC236}">
                <a16:creationId xmlns:a16="http://schemas.microsoft.com/office/drawing/2014/main" id="{F4938BA5-EFFC-9EB9-1E00-28F8BF3E75E8}"/>
              </a:ext>
            </a:extLst>
          </p:cNvPr>
          <p:cNvSpPr txBox="1"/>
          <p:nvPr/>
        </p:nvSpPr>
        <p:spPr>
          <a:xfrm>
            <a:off x="671175" y="1280649"/>
            <a:ext cx="8263467" cy="830997"/>
          </a:xfrm>
          <a:prstGeom prst="rect">
            <a:avLst/>
          </a:prstGeom>
          <a:noFill/>
        </p:spPr>
        <p:txBody>
          <a:bodyPr wrap="square" rtlCol="0">
            <a:spAutoFit/>
          </a:bodyPr>
          <a:lstStyle/>
          <a:p>
            <a:r>
              <a:rPr kumimoji="1" lang="zh-CN" altLang="en-US" sz="2400" dirty="0"/>
              <a:t>它可以转换为一个单执行流下的</a:t>
            </a:r>
            <a:r>
              <a:rPr kumimoji="1" lang="en-US" altLang="zh-CN" sz="2400" dirty="0"/>
              <a:t>IPC</a:t>
            </a:r>
            <a:r>
              <a:rPr kumimoji="1" lang="zh-CN" altLang="en-US" sz="2400" dirty="0"/>
              <a:t>模型。当然异步的并发问题就集中到了</a:t>
            </a:r>
            <a:r>
              <a:rPr kumimoji="1" lang="en-US" altLang="zh-CN" sz="2400" dirty="0"/>
              <a:t>IPC</a:t>
            </a:r>
            <a:r>
              <a:rPr kumimoji="1" lang="zh-CN" altLang="en-US" sz="2400" dirty="0"/>
              <a:t>框架中</a:t>
            </a:r>
            <a:endParaRPr kumimoji="1" lang="en-US" altLang="zh-CN" sz="2400" dirty="0"/>
          </a:p>
        </p:txBody>
      </p:sp>
      <p:sp>
        <p:nvSpPr>
          <p:cNvPr id="6" name="文本框 5">
            <a:extLst>
              <a:ext uri="{FF2B5EF4-FFF2-40B4-BE49-F238E27FC236}">
                <a16:creationId xmlns:a16="http://schemas.microsoft.com/office/drawing/2014/main" id="{31450AC3-9E18-027F-922F-26619801DD39}"/>
              </a:ext>
            </a:extLst>
          </p:cNvPr>
          <p:cNvSpPr txBox="1"/>
          <p:nvPr/>
        </p:nvSpPr>
        <p:spPr>
          <a:xfrm>
            <a:off x="2433782" y="2111646"/>
            <a:ext cx="2586181" cy="2308324"/>
          </a:xfrm>
          <a:prstGeom prst="rect">
            <a:avLst/>
          </a:prstGeom>
          <a:noFill/>
        </p:spPr>
        <p:txBody>
          <a:bodyPr wrap="square" rtlCol="0">
            <a:spAutoFit/>
          </a:bodyPr>
          <a:lstStyle/>
          <a:p>
            <a:r>
              <a:rPr kumimoji="1" lang="zh-CN" altLang="en-US" dirty="0"/>
              <a:t>核心</a:t>
            </a:r>
            <a:r>
              <a:rPr kumimoji="1" lang="en-US" altLang="zh-CN" dirty="0"/>
              <a:t>A</a:t>
            </a:r>
          </a:p>
          <a:p>
            <a:endParaRPr kumimoji="1" lang="en-US" altLang="zh-CN" dirty="0"/>
          </a:p>
          <a:p>
            <a:r>
              <a:rPr kumimoji="1" lang="zh-CN" altLang="en-US" dirty="0"/>
              <a:t>内核线程</a:t>
            </a:r>
            <a:r>
              <a:rPr kumimoji="1" lang="en-US" altLang="zh-CN" dirty="0"/>
              <a:t>x</a:t>
            </a:r>
          </a:p>
          <a:p>
            <a:r>
              <a:rPr kumimoji="1" lang="zh-CN" altLang="en-US" dirty="0"/>
              <a:t>准备好数据</a:t>
            </a:r>
            <a:endParaRPr kumimoji="1" lang="en-US" altLang="zh-CN" dirty="0"/>
          </a:p>
          <a:p>
            <a:r>
              <a:rPr kumimoji="1" lang="zh-CN" altLang="en-US" dirty="0"/>
              <a:t>发数据给内核线程</a:t>
            </a:r>
            <a:r>
              <a:rPr kumimoji="1" lang="en-US" altLang="zh-CN" dirty="0"/>
              <a:t>z</a:t>
            </a:r>
          </a:p>
          <a:p>
            <a:r>
              <a:rPr kumimoji="1" lang="zh-CN" altLang="en-US" dirty="0"/>
              <a:t>干其他事</a:t>
            </a:r>
            <a:endParaRPr kumimoji="1" lang="en-US" altLang="zh-CN" dirty="0"/>
          </a:p>
          <a:p>
            <a:endParaRPr kumimoji="1" lang="en-US" altLang="zh-CN" dirty="0"/>
          </a:p>
          <a:p>
            <a:r>
              <a:rPr kumimoji="1" lang="en-US" altLang="zh-CN" dirty="0"/>
              <a:t>……</a:t>
            </a:r>
          </a:p>
        </p:txBody>
      </p:sp>
      <p:sp>
        <p:nvSpPr>
          <p:cNvPr id="7" name="文本框 6">
            <a:extLst>
              <a:ext uri="{FF2B5EF4-FFF2-40B4-BE49-F238E27FC236}">
                <a16:creationId xmlns:a16="http://schemas.microsoft.com/office/drawing/2014/main" id="{5373B5F9-F9C9-663C-7DC3-62938075F1E4}"/>
              </a:ext>
            </a:extLst>
          </p:cNvPr>
          <p:cNvSpPr txBox="1"/>
          <p:nvPr/>
        </p:nvSpPr>
        <p:spPr>
          <a:xfrm>
            <a:off x="4802909" y="2111646"/>
            <a:ext cx="2586181" cy="1754326"/>
          </a:xfrm>
          <a:prstGeom prst="rect">
            <a:avLst/>
          </a:prstGeom>
          <a:noFill/>
        </p:spPr>
        <p:txBody>
          <a:bodyPr wrap="square" rtlCol="0">
            <a:spAutoFit/>
          </a:bodyPr>
          <a:lstStyle/>
          <a:p>
            <a:r>
              <a:rPr kumimoji="1" lang="zh-CN" altLang="en-US" dirty="0"/>
              <a:t>核心</a:t>
            </a:r>
            <a:r>
              <a:rPr kumimoji="1" lang="en-US" altLang="zh-CN" dirty="0"/>
              <a:t>B</a:t>
            </a:r>
          </a:p>
          <a:p>
            <a:endParaRPr kumimoji="1" lang="en-US" altLang="zh-CN" dirty="0"/>
          </a:p>
          <a:p>
            <a:r>
              <a:rPr kumimoji="1" lang="zh-CN" altLang="en-US" dirty="0"/>
              <a:t>内核线程</a:t>
            </a:r>
            <a:r>
              <a:rPr kumimoji="1" lang="en-US" altLang="zh-CN" dirty="0"/>
              <a:t>y</a:t>
            </a:r>
          </a:p>
          <a:p>
            <a:r>
              <a:rPr kumimoji="1" lang="zh-CN" altLang="en-US" dirty="0"/>
              <a:t>准备好数据</a:t>
            </a:r>
            <a:endParaRPr kumimoji="1" lang="en-US" altLang="zh-CN" dirty="0"/>
          </a:p>
          <a:p>
            <a:r>
              <a:rPr kumimoji="1" lang="zh-CN" altLang="en-US" dirty="0"/>
              <a:t>发数据给内核线程</a:t>
            </a:r>
            <a:r>
              <a:rPr kumimoji="1" lang="en-US" altLang="zh-CN" dirty="0"/>
              <a:t>z</a:t>
            </a:r>
          </a:p>
          <a:p>
            <a:r>
              <a:rPr kumimoji="1" lang="zh-CN" altLang="en-US" dirty="0"/>
              <a:t>干其他事</a:t>
            </a:r>
            <a:endParaRPr kumimoji="1" lang="en-US" altLang="zh-CN" dirty="0"/>
          </a:p>
        </p:txBody>
      </p:sp>
      <p:sp>
        <p:nvSpPr>
          <p:cNvPr id="8" name="文本框 7">
            <a:extLst>
              <a:ext uri="{FF2B5EF4-FFF2-40B4-BE49-F238E27FC236}">
                <a16:creationId xmlns:a16="http://schemas.microsoft.com/office/drawing/2014/main" id="{6BCE6B8E-3277-6EBC-FA8C-26B620C4F245}"/>
              </a:ext>
            </a:extLst>
          </p:cNvPr>
          <p:cNvSpPr txBox="1"/>
          <p:nvPr/>
        </p:nvSpPr>
        <p:spPr>
          <a:xfrm>
            <a:off x="2433782" y="4419970"/>
            <a:ext cx="2955636" cy="2585323"/>
          </a:xfrm>
          <a:prstGeom prst="rect">
            <a:avLst/>
          </a:prstGeom>
          <a:noFill/>
        </p:spPr>
        <p:txBody>
          <a:bodyPr wrap="square" rtlCol="0">
            <a:spAutoFit/>
          </a:bodyPr>
          <a:lstStyle/>
          <a:p>
            <a:r>
              <a:rPr kumimoji="1" lang="zh-CN" altLang="en-US" dirty="0"/>
              <a:t>切换到内核线程</a:t>
            </a:r>
            <a:r>
              <a:rPr kumimoji="1" lang="en-US" altLang="zh-CN" dirty="0"/>
              <a:t>z</a:t>
            </a:r>
          </a:p>
          <a:p>
            <a:r>
              <a:rPr kumimoji="1" lang="zh-CN" altLang="en-US" dirty="0"/>
              <a:t>内核线程</a:t>
            </a:r>
            <a:r>
              <a:rPr kumimoji="1" lang="en-US" altLang="zh-CN" dirty="0"/>
              <a:t>z</a:t>
            </a:r>
          </a:p>
          <a:p>
            <a:r>
              <a:rPr kumimoji="1" lang="zh-CN" altLang="en-US" dirty="0"/>
              <a:t>（专门处理网络数据发包的线程）</a:t>
            </a:r>
            <a:endParaRPr kumimoji="1" lang="en-US" altLang="zh-CN" dirty="0"/>
          </a:p>
          <a:p>
            <a:r>
              <a:rPr kumimoji="1" lang="zh-CN" altLang="en-US" dirty="0"/>
              <a:t>接收到</a:t>
            </a:r>
            <a:r>
              <a:rPr kumimoji="1" lang="en-US" altLang="zh-CN" dirty="0"/>
              <a:t>x</a:t>
            </a:r>
            <a:r>
              <a:rPr kumimoji="1" lang="zh-CN" altLang="en-US" dirty="0"/>
              <a:t>发来的数据</a:t>
            </a:r>
            <a:endParaRPr kumimoji="1" lang="en-US" altLang="zh-CN" dirty="0"/>
          </a:p>
          <a:p>
            <a:r>
              <a:rPr kumimoji="1" lang="zh-CN" altLang="en-US" dirty="0"/>
              <a:t>发！</a:t>
            </a:r>
            <a:endParaRPr kumimoji="1" lang="en-US" altLang="zh-CN" dirty="0"/>
          </a:p>
          <a:p>
            <a:r>
              <a:rPr kumimoji="1" lang="zh-CN" altLang="en-US" dirty="0"/>
              <a:t>接收到</a:t>
            </a:r>
            <a:r>
              <a:rPr kumimoji="1" lang="en-US" altLang="zh-CN" dirty="0"/>
              <a:t>y</a:t>
            </a:r>
            <a:r>
              <a:rPr kumimoji="1" lang="zh-CN" altLang="en-US" dirty="0"/>
              <a:t>发来的数据</a:t>
            </a:r>
            <a:endParaRPr kumimoji="1" lang="en-US" altLang="zh-CN" dirty="0"/>
          </a:p>
          <a:p>
            <a:r>
              <a:rPr kumimoji="1" lang="zh-CN" altLang="en-US" dirty="0"/>
              <a:t>发！</a:t>
            </a:r>
            <a:endParaRPr kumimoji="1" lang="en-US" altLang="zh-CN" dirty="0"/>
          </a:p>
          <a:p>
            <a:endParaRPr kumimoji="1" lang="zh-CN" altLang="en-US" dirty="0"/>
          </a:p>
        </p:txBody>
      </p:sp>
      <p:cxnSp>
        <p:nvCxnSpPr>
          <p:cNvPr id="9" name="肘形连接符 8">
            <a:extLst>
              <a:ext uri="{FF2B5EF4-FFF2-40B4-BE49-F238E27FC236}">
                <a16:creationId xmlns:a16="http://schemas.microsoft.com/office/drawing/2014/main" id="{B79E973E-33B7-994C-6BD5-7CD43BDB20B9}"/>
              </a:ext>
            </a:extLst>
          </p:cNvPr>
          <p:cNvCxnSpPr>
            <a:cxnSpLocks/>
          </p:cNvCxnSpPr>
          <p:nvPr/>
        </p:nvCxnSpPr>
        <p:spPr>
          <a:xfrm rot="10800000" flipV="1">
            <a:off x="2427432" y="3348935"/>
            <a:ext cx="12700" cy="2446824"/>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肘形连接符 10">
            <a:extLst>
              <a:ext uri="{FF2B5EF4-FFF2-40B4-BE49-F238E27FC236}">
                <a16:creationId xmlns:a16="http://schemas.microsoft.com/office/drawing/2014/main" id="{2A36A1E0-9BFF-A363-AAAD-70295D218390}"/>
              </a:ext>
            </a:extLst>
          </p:cNvPr>
          <p:cNvCxnSpPr>
            <a:cxnSpLocks/>
          </p:cNvCxnSpPr>
          <p:nvPr/>
        </p:nvCxnSpPr>
        <p:spPr>
          <a:xfrm flipH="1">
            <a:off x="5340928" y="3450473"/>
            <a:ext cx="1999672" cy="2723823"/>
          </a:xfrm>
          <a:prstGeom prst="bentConnector3">
            <a:avLst>
              <a:gd name="adj1" fmla="val -1143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1381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65AC0-BC37-16F1-F145-906B9140846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E28E4F1-0C8E-1B50-37E6-6D7A141E529B}"/>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2278E363-D3ED-7B5A-8387-8DE309CCE704}"/>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14ECC5A0-2201-2628-1DB9-25C53F2B1EDE}"/>
              </a:ext>
            </a:extLst>
          </p:cNvPr>
          <p:cNvSpPr>
            <a:spLocks noGrp="1"/>
          </p:cNvSpPr>
          <p:nvPr>
            <p:ph type="body" sz="half" idx="2"/>
          </p:nvPr>
        </p:nvSpPr>
        <p:spPr>
          <a:xfrm>
            <a:off x="573273" y="1586865"/>
            <a:ext cx="6687913" cy="5001895"/>
          </a:xfrm>
        </p:spPr>
        <p:txBody>
          <a:bodyPr>
            <a:normAutofit/>
          </a:bodyPr>
          <a:lstStyle/>
          <a:p>
            <a:pPr marL="0" indent="0">
              <a:buNone/>
            </a:pPr>
            <a:r>
              <a:rPr lang="zh-CN" altLang="en-US" dirty="0"/>
              <a:t>（今年寒假的时候曾经发在群里，我对此不做更多赘述）</a:t>
            </a:r>
            <a:endParaRPr lang="en-US" altLang="zh-CN" dirty="0"/>
          </a:p>
          <a:p>
            <a:pPr marL="0" indent="0">
              <a:buNone/>
            </a:pPr>
            <a:r>
              <a:rPr lang="zh-CN" altLang="en-US" dirty="0"/>
              <a:t>整个无锁</a:t>
            </a:r>
            <a:r>
              <a:rPr lang="en-US" altLang="zh-CN" dirty="0"/>
              <a:t>IPC</a:t>
            </a:r>
            <a:r>
              <a:rPr lang="zh-CN" altLang="en-US" dirty="0"/>
              <a:t>的设计，虽然是无锁，但是跟</a:t>
            </a:r>
            <a:r>
              <a:rPr lang="en-US" altLang="zh-CN" dirty="0"/>
              <a:t>seL4</a:t>
            </a:r>
            <a:r>
              <a:rPr lang="zh-CN" altLang="en-US" dirty="0"/>
              <a:t>的</a:t>
            </a:r>
            <a:r>
              <a:rPr lang="en-US" altLang="zh-CN" dirty="0"/>
              <a:t>endpoint</a:t>
            </a:r>
            <a:r>
              <a:rPr lang="zh-CN" altLang="en-US" dirty="0"/>
              <a:t>的相关思路是一脉相承的，仍然存在一个队列用于消息发送对端的匹配。</a:t>
            </a:r>
            <a:endParaRPr lang="en-US" altLang="zh-CN" dirty="0"/>
          </a:p>
          <a:p>
            <a:pPr marL="0" indent="0">
              <a:buNone/>
            </a:pPr>
            <a:r>
              <a:rPr lang="en-US" altLang="zh-CN" dirty="0"/>
              <a:t>——</a:t>
            </a:r>
            <a:r>
              <a:rPr lang="zh-CN" altLang="en-US" dirty="0"/>
              <a:t>区别是我们实现了一个带状态的</a:t>
            </a:r>
            <a:r>
              <a:rPr lang="en-US" altLang="zh-CN" dirty="0" err="1"/>
              <a:t>msq</a:t>
            </a:r>
            <a:r>
              <a:rPr lang="zh-CN" altLang="en-US" dirty="0"/>
              <a:t>无锁队列，从而可以允许它进行无锁的匹配和匹配不上的阻塞等待。</a:t>
            </a:r>
            <a:endParaRPr lang="en-US" altLang="zh-CN" dirty="0"/>
          </a:p>
          <a:p>
            <a:pPr marL="0" indent="0">
              <a:buNone/>
            </a:pPr>
            <a:r>
              <a:rPr lang="zh-CN" altLang="en-US" dirty="0"/>
              <a:t>同时在匹配上之后，</a:t>
            </a:r>
            <a:r>
              <a:rPr lang="en-US" altLang="zh-CN" dirty="0"/>
              <a:t>seL4</a:t>
            </a:r>
            <a:r>
              <a:rPr lang="zh-CN" altLang="en-US" dirty="0"/>
              <a:t>使用一个基于</a:t>
            </a:r>
            <a:r>
              <a:rPr lang="en-US" altLang="zh-CN" dirty="0"/>
              <a:t>IPC</a:t>
            </a:r>
            <a:r>
              <a:rPr lang="zh-CN" altLang="en-US" dirty="0"/>
              <a:t> </a:t>
            </a:r>
            <a:r>
              <a:rPr lang="en-US" altLang="zh-CN" dirty="0"/>
              <a:t>buffer</a:t>
            </a:r>
            <a:r>
              <a:rPr lang="zh-CN" altLang="en-US" dirty="0"/>
              <a:t>的方案进行消息在</a:t>
            </a:r>
            <a:r>
              <a:rPr lang="en-US" altLang="zh-CN" dirty="0"/>
              <a:t>sender</a:t>
            </a:r>
            <a:r>
              <a:rPr lang="zh-CN" altLang="en-US" dirty="0"/>
              <a:t>和</a:t>
            </a:r>
            <a:r>
              <a:rPr lang="en-US" altLang="zh-CN" dirty="0"/>
              <a:t>receiver</a:t>
            </a:r>
            <a:r>
              <a:rPr lang="zh-CN" altLang="en-US" dirty="0"/>
              <a:t>之间进行转移。</a:t>
            </a:r>
            <a:endParaRPr lang="en-US" altLang="zh-CN" dirty="0"/>
          </a:p>
          <a:p>
            <a:pPr marL="0" indent="0">
              <a:buNone/>
            </a:pPr>
            <a:r>
              <a:rPr lang="en-US" altLang="zh-CN" dirty="0"/>
              <a:t>——</a:t>
            </a:r>
            <a:r>
              <a:rPr lang="zh-CN" altLang="en-US" dirty="0"/>
              <a:t>但是显而易见的，</a:t>
            </a:r>
            <a:r>
              <a:rPr lang="en-US" altLang="zh-CN" dirty="0"/>
              <a:t>seL4</a:t>
            </a:r>
            <a:r>
              <a:rPr lang="zh-CN" altLang="en-US" dirty="0"/>
              <a:t>只允许一个消息的存放和发送，因此我们实现了</a:t>
            </a:r>
            <a:r>
              <a:rPr lang="en-US" altLang="zh-CN" dirty="0"/>
              <a:t>sender</a:t>
            </a:r>
            <a:r>
              <a:rPr lang="zh-CN" altLang="en-US" dirty="0"/>
              <a:t>和</a:t>
            </a:r>
            <a:r>
              <a:rPr lang="en-US" altLang="zh-CN" dirty="0"/>
              <a:t>receiver</a:t>
            </a:r>
            <a:r>
              <a:rPr lang="zh-CN" altLang="en-US" dirty="0"/>
              <a:t>各有一个普通</a:t>
            </a:r>
            <a:r>
              <a:rPr lang="en-US" altLang="zh-CN" dirty="0" err="1"/>
              <a:t>msq</a:t>
            </a:r>
            <a:r>
              <a:rPr lang="zh-CN" altLang="en-US" dirty="0"/>
              <a:t>无锁队列用于存放多个消息，允许推</a:t>
            </a:r>
            <a:r>
              <a:rPr lang="en-US" altLang="zh-CN" dirty="0"/>
              <a:t>/</a:t>
            </a:r>
            <a:r>
              <a:rPr lang="zh-CN" altLang="en-US" dirty="0"/>
              <a:t>拉模式，以及在匹配上之后，在两个核心上的收发者之间连续发送的方案，从而显著提升其性能。</a:t>
            </a:r>
          </a:p>
        </p:txBody>
      </p:sp>
      <p:sp>
        <p:nvSpPr>
          <p:cNvPr id="10" name="文本占位符 9">
            <a:extLst>
              <a:ext uri="{FF2B5EF4-FFF2-40B4-BE49-F238E27FC236}">
                <a16:creationId xmlns:a16="http://schemas.microsoft.com/office/drawing/2014/main" id="{868ADBB5-1848-A8CE-DEA4-7792D581B05E}"/>
              </a:ext>
            </a:extLst>
          </p:cNvPr>
          <p:cNvSpPr>
            <a:spLocks noGrp="1"/>
          </p:cNvSpPr>
          <p:nvPr>
            <p:ph type="body" sz="half" idx="24"/>
          </p:nvPr>
        </p:nvSpPr>
        <p:spPr/>
        <p:txBody>
          <a:bodyPr/>
          <a:lstStyle/>
          <a:p>
            <a:r>
              <a:rPr lang="zh-CN" altLang="en-US" dirty="0"/>
              <a:t>多核无锁</a:t>
            </a:r>
            <a:r>
              <a:rPr lang="en-US" altLang="zh-CN" dirty="0"/>
              <a:t>IPC</a:t>
            </a:r>
            <a:r>
              <a:rPr lang="zh-CN" altLang="en-US" dirty="0"/>
              <a:t>设计</a:t>
            </a:r>
          </a:p>
        </p:txBody>
      </p:sp>
      <p:sp>
        <p:nvSpPr>
          <p:cNvPr id="2" name="文本占位符 8">
            <a:extLst>
              <a:ext uri="{FF2B5EF4-FFF2-40B4-BE49-F238E27FC236}">
                <a16:creationId xmlns:a16="http://schemas.microsoft.com/office/drawing/2014/main" id="{D08FD14F-7DEF-CB19-FBD3-8A4C6A078E36}"/>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
        <p:nvSpPr>
          <p:cNvPr id="5" name="圆角矩形 4">
            <a:extLst>
              <a:ext uri="{FF2B5EF4-FFF2-40B4-BE49-F238E27FC236}">
                <a16:creationId xmlns:a16="http://schemas.microsoft.com/office/drawing/2014/main" id="{95CF3A01-5598-5850-0FC5-1D9F8C868913}"/>
              </a:ext>
            </a:extLst>
          </p:cNvPr>
          <p:cNvSpPr/>
          <p:nvPr/>
        </p:nvSpPr>
        <p:spPr>
          <a:xfrm>
            <a:off x="8746981" y="973407"/>
            <a:ext cx="3333509" cy="122691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圆角矩形 5">
            <a:extLst>
              <a:ext uri="{FF2B5EF4-FFF2-40B4-BE49-F238E27FC236}">
                <a16:creationId xmlns:a16="http://schemas.microsoft.com/office/drawing/2014/main" id="{0979D236-81DD-1CDC-D95F-91617584643D}"/>
              </a:ext>
            </a:extLst>
          </p:cNvPr>
          <p:cNvSpPr/>
          <p:nvPr/>
        </p:nvSpPr>
        <p:spPr>
          <a:xfrm>
            <a:off x="8897452" y="1505873"/>
            <a:ext cx="902825" cy="5512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recv</a:t>
            </a:r>
            <a:endParaRPr kumimoji="1" lang="zh-CN" altLang="en-US" dirty="0"/>
          </a:p>
        </p:txBody>
      </p:sp>
      <p:sp>
        <p:nvSpPr>
          <p:cNvPr id="8" name="圆角矩形 7">
            <a:extLst>
              <a:ext uri="{FF2B5EF4-FFF2-40B4-BE49-F238E27FC236}">
                <a16:creationId xmlns:a16="http://schemas.microsoft.com/office/drawing/2014/main" id="{6C9A314E-1BC0-4BB2-A6BB-08197AD99C50}"/>
              </a:ext>
            </a:extLst>
          </p:cNvPr>
          <p:cNvSpPr/>
          <p:nvPr/>
        </p:nvSpPr>
        <p:spPr>
          <a:xfrm>
            <a:off x="9962322" y="1505873"/>
            <a:ext cx="902825" cy="5512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recv</a:t>
            </a:r>
            <a:endParaRPr kumimoji="1" lang="zh-CN" altLang="en-US" dirty="0"/>
          </a:p>
        </p:txBody>
      </p:sp>
      <p:sp>
        <p:nvSpPr>
          <p:cNvPr id="9" name="圆角矩形 8">
            <a:extLst>
              <a:ext uri="{FF2B5EF4-FFF2-40B4-BE49-F238E27FC236}">
                <a16:creationId xmlns:a16="http://schemas.microsoft.com/office/drawing/2014/main" id="{47394250-694A-369B-3732-09EBE20D7E62}"/>
              </a:ext>
            </a:extLst>
          </p:cNvPr>
          <p:cNvSpPr/>
          <p:nvPr/>
        </p:nvSpPr>
        <p:spPr>
          <a:xfrm>
            <a:off x="11027192" y="1505873"/>
            <a:ext cx="902825" cy="5512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recv</a:t>
            </a:r>
            <a:endParaRPr kumimoji="1" lang="zh-CN" altLang="en-US" dirty="0"/>
          </a:p>
        </p:txBody>
      </p:sp>
      <p:sp>
        <p:nvSpPr>
          <p:cNvPr id="11" name="文本框 10">
            <a:extLst>
              <a:ext uri="{FF2B5EF4-FFF2-40B4-BE49-F238E27FC236}">
                <a16:creationId xmlns:a16="http://schemas.microsoft.com/office/drawing/2014/main" id="{C45B3A67-E486-742B-0228-AF5F7FBF7527}"/>
              </a:ext>
            </a:extLst>
          </p:cNvPr>
          <p:cNvSpPr txBox="1"/>
          <p:nvPr/>
        </p:nvSpPr>
        <p:spPr>
          <a:xfrm>
            <a:off x="9858149" y="2343486"/>
            <a:ext cx="1967698" cy="646331"/>
          </a:xfrm>
          <a:prstGeom prst="rect">
            <a:avLst/>
          </a:prstGeom>
          <a:noFill/>
        </p:spPr>
        <p:txBody>
          <a:bodyPr wrap="square" rtlCol="0">
            <a:spAutoFit/>
          </a:bodyPr>
          <a:lstStyle/>
          <a:p>
            <a:r>
              <a:rPr kumimoji="1" lang="zh-CN" altLang="en-US" dirty="0"/>
              <a:t>排队队列中全是</a:t>
            </a:r>
            <a:r>
              <a:rPr kumimoji="1" lang="en-US" altLang="zh-CN" dirty="0" err="1"/>
              <a:t>recv</a:t>
            </a:r>
            <a:r>
              <a:rPr kumimoji="1" lang="zh-CN" altLang="en-US" dirty="0"/>
              <a:t>线程的情形</a:t>
            </a:r>
          </a:p>
        </p:txBody>
      </p:sp>
      <p:sp>
        <p:nvSpPr>
          <p:cNvPr id="12" name="圆角矩形 11">
            <a:extLst>
              <a:ext uri="{FF2B5EF4-FFF2-40B4-BE49-F238E27FC236}">
                <a16:creationId xmlns:a16="http://schemas.microsoft.com/office/drawing/2014/main" id="{4068D5C6-5541-EE31-4D35-F7C40B3E4EFD}"/>
              </a:ext>
            </a:extLst>
          </p:cNvPr>
          <p:cNvSpPr/>
          <p:nvPr/>
        </p:nvSpPr>
        <p:spPr>
          <a:xfrm>
            <a:off x="7311721" y="1505873"/>
            <a:ext cx="902825" cy="551284"/>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send</a:t>
            </a:r>
            <a:endParaRPr kumimoji="1" lang="zh-CN" altLang="en-US" dirty="0"/>
          </a:p>
        </p:txBody>
      </p:sp>
      <p:sp>
        <p:nvSpPr>
          <p:cNvPr id="13" name="左右箭头 12">
            <a:extLst>
              <a:ext uri="{FF2B5EF4-FFF2-40B4-BE49-F238E27FC236}">
                <a16:creationId xmlns:a16="http://schemas.microsoft.com/office/drawing/2014/main" id="{8DD7DABE-4D4B-6E58-31C7-52CC45EB1687}"/>
              </a:ext>
            </a:extLst>
          </p:cNvPr>
          <p:cNvSpPr/>
          <p:nvPr/>
        </p:nvSpPr>
        <p:spPr>
          <a:xfrm>
            <a:off x="8214546" y="1643694"/>
            <a:ext cx="682906" cy="275642"/>
          </a:xfrm>
          <a:prstGeom prst="leftRight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96E10E9B-8162-A15D-5401-77D64F1DB79C}"/>
              </a:ext>
            </a:extLst>
          </p:cNvPr>
          <p:cNvSpPr txBox="1"/>
          <p:nvPr/>
        </p:nvSpPr>
        <p:spPr>
          <a:xfrm>
            <a:off x="9858149" y="1050606"/>
            <a:ext cx="1111170" cy="369332"/>
          </a:xfrm>
          <a:prstGeom prst="rect">
            <a:avLst/>
          </a:prstGeom>
          <a:noFill/>
        </p:spPr>
        <p:txBody>
          <a:bodyPr wrap="square" rtlCol="0">
            <a:spAutoFit/>
          </a:bodyPr>
          <a:lstStyle/>
          <a:p>
            <a:r>
              <a:rPr kumimoji="1" lang="en-US" altLang="zh-CN" dirty="0">
                <a:solidFill>
                  <a:schemeClr val="bg1"/>
                </a:solidFill>
              </a:rPr>
              <a:t>endpoint</a:t>
            </a:r>
            <a:endParaRPr kumimoji="1" lang="zh-CN" altLang="en-US" dirty="0">
              <a:solidFill>
                <a:schemeClr val="bg1"/>
              </a:solidFill>
            </a:endParaRPr>
          </a:p>
        </p:txBody>
      </p:sp>
      <p:sp>
        <p:nvSpPr>
          <p:cNvPr id="15" name="圆角矩形 14">
            <a:extLst>
              <a:ext uri="{FF2B5EF4-FFF2-40B4-BE49-F238E27FC236}">
                <a16:creationId xmlns:a16="http://schemas.microsoft.com/office/drawing/2014/main" id="{3D5A405F-2BCB-3B11-A487-E0B6724DDA72}"/>
              </a:ext>
            </a:extLst>
          </p:cNvPr>
          <p:cNvSpPr/>
          <p:nvPr/>
        </p:nvSpPr>
        <p:spPr>
          <a:xfrm>
            <a:off x="7311721" y="3064778"/>
            <a:ext cx="3333509" cy="1226916"/>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圆角矩形 15">
            <a:extLst>
              <a:ext uri="{FF2B5EF4-FFF2-40B4-BE49-F238E27FC236}">
                <a16:creationId xmlns:a16="http://schemas.microsoft.com/office/drawing/2014/main" id="{D1382F3F-D399-9B2F-CDEA-B599D4819AB4}"/>
              </a:ext>
            </a:extLst>
          </p:cNvPr>
          <p:cNvSpPr/>
          <p:nvPr/>
        </p:nvSpPr>
        <p:spPr>
          <a:xfrm>
            <a:off x="7462192" y="3597244"/>
            <a:ext cx="902825" cy="551284"/>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send</a:t>
            </a:r>
            <a:endParaRPr kumimoji="1" lang="zh-CN" altLang="en-US" dirty="0"/>
          </a:p>
        </p:txBody>
      </p:sp>
      <p:sp>
        <p:nvSpPr>
          <p:cNvPr id="17" name="圆角矩形 16">
            <a:extLst>
              <a:ext uri="{FF2B5EF4-FFF2-40B4-BE49-F238E27FC236}">
                <a16:creationId xmlns:a16="http://schemas.microsoft.com/office/drawing/2014/main" id="{36F2244F-C166-89CC-ACA0-B504B4EF8552}"/>
              </a:ext>
            </a:extLst>
          </p:cNvPr>
          <p:cNvSpPr/>
          <p:nvPr/>
        </p:nvSpPr>
        <p:spPr>
          <a:xfrm>
            <a:off x="8527062" y="3597244"/>
            <a:ext cx="902825" cy="551284"/>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send</a:t>
            </a:r>
            <a:endParaRPr kumimoji="1" lang="zh-CN" altLang="en-US" dirty="0"/>
          </a:p>
        </p:txBody>
      </p:sp>
      <p:sp>
        <p:nvSpPr>
          <p:cNvPr id="18" name="圆角矩形 17">
            <a:extLst>
              <a:ext uri="{FF2B5EF4-FFF2-40B4-BE49-F238E27FC236}">
                <a16:creationId xmlns:a16="http://schemas.microsoft.com/office/drawing/2014/main" id="{861B9B8C-F881-C949-85F0-B68915CB7399}"/>
              </a:ext>
            </a:extLst>
          </p:cNvPr>
          <p:cNvSpPr/>
          <p:nvPr/>
        </p:nvSpPr>
        <p:spPr>
          <a:xfrm>
            <a:off x="9591932" y="3597244"/>
            <a:ext cx="902825" cy="551284"/>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send</a:t>
            </a:r>
            <a:endParaRPr kumimoji="1" lang="zh-CN" altLang="en-US" dirty="0"/>
          </a:p>
        </p:txBody>
      </p:sp>
      <p:sp>
        <p:nvSpPr>
          <p:cNvPr id="19" name="文本框 18">
            <a:extLst>
              <a:ext uri="{FF2B5EF4-FFF2-40B4-BE49-F238E27FC236}">
                <a16:creationId xmlns:a16="http://schemas.microsoft.com/office/drawing/2014/main" id="{F8F280DF-8760-778E-6165-AADB5B08BF3C}"/>
              </a:ext>
            </a:extLst>
          </p:cNvPr>
          <p:cNvSpPr txBox="1"/>
          <p:nvPr/>
        </p:nvSpPr>
        <p:spPr>
          <a:xfrm>
            <a:off x="8075648" y="4377629"/>
            <a:ext cx="1805652" cy="646331"/>
          </a:xfrm>
          <a:prstGeom prst="rect">
            <a:avLst/>
          </a:prstGeom>
          <a:noFill/>
        </p:spPr>
        <p:txBody>
          <a:bodyPr wrap="square" rtlCol="0">
            <a:spAutoFit/>
          </a:bodyPr>
          <a:lstStyle/>
          <a:p>
            <a:r>
              <a:rPr kumimoji="1" lang="zh-CN" altLang="en-US" dirty="0"/>
              <a:t>排队队列中全是</a:t>
            </a:r>
            <a:r>
              <a:rPr kumimoji="1" lang="en-US" altLang="zh-CN" dirty="0"/>
              <a:t>send</a:t>
            </a:r>
            <a:r>
              <a:rPr kumimoji="1" lang="zh-CN" altLang="en-US" dirty="0"/>
              <a:t>线程的情形</a:t>
            </a:r>
          </a:p>
        </p:txBody>
      </p:sp>
      <p:sp>
        <p:nvSpPr>
          <p:cNvPr id="20" name="圆角矩形 19">
            <a:extLst>
              <a:ext uri="{FF2B5EF4-FFF2-40B4-BE49-F238E27FC236}">
                <a16:creationId xmlns:a16="http://schemas.microsoft.com/office/drawing/2014/main" id="{85632CD0-31D4-45DD-A869-29DA3F1AFB1E}"/>
              </a:ext>
            </a:extLst>
          </p:cNvPr>
          <p:cNvSpPr/>
          <p:nvPr/>
        </p:nvSpPr>
        <p:spPr>
          <a:xfrm>
            <a:off x="11177663" y="3597244"/>
            <a:ext cx="902825" cy="551284"/>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t>recv</a:t>
            </a:r>
            <a:endParaRPr kumimoji="1" lang="zh-CN" altLang="en-US" dirty="0"/>
          </a:p>
        </p:txBody>
      </p:sp>
      <p:sp>
        <p:nvSpPr>
          <p:cNvPr id="21" name="左右箭头 20">
            <a:extLst>
              <a:ext uri="{FF2B5EF4-FFF2-40B4-BE49-F238E27FC236}">
                <a16:creationId xmlns:a16="http://schemas.microsoft.com/office/drawing/2014/main" id="{08832A06-595C-1530-B1CC-2A814109B7E0}"/>
              </a:ext>
            </a:extLst>
          </p:cNvPr>
          <p:cNvSpPr/>
          <p:nvPr/>
        </p:nvSpPr>
        <p:spPr>
          <a:xfrm>
            <a:off x="10494757" y="3765751"/>
            <a:ext cx="682906" cy="275642"/>
          </a:xfrm>
          <a:prstGeom prst="leftRight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50B56414-AE04-FEE9-78AB-5E229F409539}"/>
              </a:ext>
            </a:extLst>
          </p:cNvPr>
          <p:cNvSpPr txBox="1"/>
          <p:nvPr/>
        </p:nvSpPr>
        <p:spPr>
          <a:xfrm>
            <a:off x="8422889" y="3141977"/>
            <a:ext cx="1111170" cy="369332"/>
          </a:xfrm>
          <a:prstGeom prst="rect">
            <a:avLst/>
          </a:prstGeom>
          <a:noFill/>
        </p:spPr>
        <p:txBody>
          <a:bodyPr wrap="square" rtlCol="0">
            <a:spAutoFit/>
          </a:bodyPr>
          <a:lstStyle/>
          <a:p>
            <a:r>
              <a:rPr kumimoji="1" lang="en-US" altLang="zh-CN" dirty="0">
                <a:solidFill>
                  <a:schemeClr val="bg1"/>
                </a:solidFill>
              </a:rPr>
              <a:t>endpoint</a:t>
            </a:r>
            <a:endParaRPr kumimoji="1" lang="zh-CN" altLang="en-US" dirty="0">
              <a:solidFill>
                <a:schemeClr val="bg1"/>
              </a:solidFill>
            </a:endParaRPr>
          </a:p>
        </p:txBody>
      </p:sp>
    </p:spTree>
    <p:extLst>
      <p:ext uri="{BB962C8B-B14F-4D97-AF65-F5344CB8AC3E}">
        <p14:creationId xmlns:p14="http://schemas.microsoft.com/office/powerpoint/2010/main" val="1068048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CE419-DA88-4921-EE96-108640FE2D1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17774C3-6EF0-2C6F-8C45-A1D51BF0847C}"/>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EFDEAEFB-0F6E-9273-1386-22FC65D4868F}"/>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B5C70911-8998-C9A5-109B-EA0A61B97F3C}"/>
              </a:ext>
            </a:extLst>
          </p:cNvPr>
          <p:cNvSpPr>
            <a:spLocks noGrp="1"/>
          </p:cNvSpPr>
          <p:nvPr>
            <p:ph type="body" sz="half" idx="2"/>
          </p:nvPr>
        </p:nvSpPr>
        <p:spPr>
          <a:xfrm>
            <a:off x="573273" y="1586865"/>
            <a:ext cx="10131898" cy="5001895"/>
          </a:xfrm>
        </p:spPr>
        <p:txBody>
          <a:bodyPr>
            <a:normAutofit/>
          </a:bodyPr>
          <a:lstStyle/>
          <a:p>
            <a:pPr marL="0" indent="0">
              <a:buNone/>
            </a:pPr>
            <a:r>
              <a:rPr lang="en-US" altLang="zh-CN" dirty="0"/>
              <a:t>seL4</a:t>
            </a:r>
            <a:r>
              <a:rPr lang="zh-CN" altLang="en-US" dirty="0"/>
              <a:t>的</a:t>
            </a:r>
            <a:r>
              <a:rPr lang="en-US" altLang="zh-CN" dirty="0"/>
              <a:t>notification</a:t>
            </a:r>
            <a:r>
              <a:rPr lang="zh-CN" altLang="en-US" dirty="0"/>
              <a:t>在我们实现中的设计。</a:t>
            </a:r>
            <a:endParaRPr lang="en-US" altLang="zh-CN" dirty="0"/>
          </a:p>
          <a:p>
            <a:pPr marL="0" indent="0">
              <a:buNone/>
            </a:pPr>
            <a:r>
              <a:rPr lang="zh-CN" altLang="en-US" dirty="0"/>
              <a:t>主要是用于一些没有明确所属线程的消息发送者。</a:t>
            </a:r>
            <a:endParaRPr lang="en-US" altLang="zh-CN" dirty="0"/>
          </a:p>
          <a:p>
            <a:pPr marL="0" indent="0">
              <a:buNone/>
            </a:pPr>
            <a:r>
              <a:rPr lang="zh-CN" altLang="en-US" dirty="0"/>
              <a:t>比如</a:t>
            </a:r>
            <a:r>
              <a:rPr lang="en-US" altLang="zh-CN" dirty="0"/>
              <a:t>timer</a:t>
            </a:r>
            <a:r>
              <a:rPr lang="zh-CN" altLang="en-US" dirty="0"/>
              <a:t> 中断用于唤醒一个定时器，他设计为一个</a:t>
            </a:r>
            <a:r>
              <a:rPr lang="en-US" altLang="zh-CN" dirty="0"/>
              <a:t>send/</a:t>
            </a:r>
            <a:r>
              <a:rPr lang="en-US" altLang="zh-CN" dirty="0" err="1"/>
              <a:t>recv</a:t>
            </a:r>
            <a:r>
              <a:rPr lang="zh-CN" altLang="en-US" dirty="0"/>
              <a:t>的阻塞模式，某个线程发起定时器，那么增加一个定时唤醒的记录之后，就阻塞在那边等</a:t>
            </a:r>
            <a:r>
              <a:rPr lang="en-US" altLang="zh-CN" dirty="0"/>
              <a:t>timer</a:t>
            </a:r>
            <a:r>
              <a:rPr lang="zh-CN" altLang="en-US" dirty="0"/>
              <a:t>中断给他发消息，这时候中断处理程序需要发送消息唤醒他。</a:t>
            </a:r>
            <a:endParaRPr lang="en-US" altLang="zh-CN" dirty="0"/>
          </a:p>
          <a:p>
            <a:pPr marL="0" indent="0">
              <a:buNone/>
            </a:pPr>
            <a:r>
              <a:rPr lang="zh-CN" altLang="en-US" dirty="0"/>
              <a:t>但是谁发送这个消息呢？（当然也有一些消息接收方不明确的）</a:t>
            </a:r>
            <a:endParaRPr lang="en-US" altLang="zh-CN" dirty="0"/>
          </a:p>
          <a:p>
            <a:pPr marL="0" indent="0">
              <a:buNone/>
            </a:pPr>
            <a:r>
              <a:rPr lang="zh-CN" altLang="en-US" dirty="0"/>
              <a:t>所以我们让</a:t>
            </a:r>
            <a:r>
              <a:rPr lang="en-US" altLang="zh-CN" dirty="0"/>
              <a:t>idle</a:t>
            </a:r>
            <a:r>
              <a:rPr lang="zh-CN" altLang="en-US" dirty="0"/>
              <a:t>代行消息发送功能，让</a:t>
            </a:r>
            <a:r>
              <a:rPr lang="en-US" altLang="zh-CN" dirty="0" err="1"/>
              <a:t>init</a:t>
            </a:r>
            <a:r>
              <a:rPr lang="zh-CN" altLang="en-US" dirty="0"/>
              <a:t>线程结尾不停的收消息代行消息接收功能。</a:t>
            </a:r>
            <a:endParaRPr lang="en-US" altLang="zh-CN" dirty="0"/>
          </a:p>
          <a:p>
            <a:pPr marL="0" indent="0">
              <a:buNone/>
            </a:pPr>
            <a:r>
              <a:rPr lang="zh-CN" altLang="en-US" dirty="0"/>
              <a:t>那么我们无需</a:t>
            </a:r>
            <a:r>
              <a:rPr lang="en-US" altLang="zh-CN" dirty="0"/>
              <a:t>notification</a:t>
            </a:r>
            <a:r>
              <a:rPr lang="zh-CN" altLang="en-US" dirty="0"/>
              <a:t>，可以具有统一的</a:t>
            </a:r>
            <a:r>
              <a:rPr lang="en-US" altLang="zh-CN" dirty="0"/>
              <a:t>send/</a:t>
            </a:r>
            <a:r>
              <a:rPr lang="en-US" altLang="zh-CN" dirty="0" err="1"/>
              <a:t>recv</a:t>
            </a:r>
            <a:r>
              <a:rPr lang="zh-CN" altLang="en-US" dirty="0"/>
              <a:t>消息发送框架。</a:t>
            </a:r>
            <a:endParaRPr lang="en-US" altLang="zh-CN" dirty="0"/>
          </a:p>
        </p:txBody>
      </p:sp>
      <p:sp>
        <p:nvSpPr>
          <p:cNvPr id="10" name="文本占位符 9">
            <a:extLst>
              <a:ext uri="{FF2B5EF4-FFF2-40B4-BE49-F238E27FC236}">
                <a16:creationId xmlns:a16="http://schemas.microsoft.com/office/drawing/2014/main" id="{6DC3082A-BDD7-D650-BE19-A58683B2709A}"/>
              </a:ext>
            </a:extLst>
          </p:cNvPr>
          <p:cNvSpPr>
            <a:spLocks noGrp="1"/>
          </p:cNvSpPr>
          <p:nvPr>
            <p:ph type="body" sz="half" idx="24"/>
          </p:nvPr>
        </p:nvSpPr>
        <p:spPr/>
        <p:txBody>
          <a:bodyPr/>
          <a:lstStyle/>
          <a:p>
            <a:r>
              <a:rPr lang="zh-CN" altLang="en-US" dirty="0"/>
              <a:t>多核无锁</a:t>
            </a:r>
            <a:r>
              <a:rPr lang="en-US" altLang="zh-CN" dirty="0"/>
              <a:t>IPC</a:t>
            </a:r>
            <a:r>
              <a:rPr lang="zh-CN" altLang="en-US" dirty="0"/>
              <a:t>设计</a:t>
            </a:r>
          </a:p>
        </p:txBody>
      </p:sp>
      <p:sp>
        <p:nvSpPr>
          <p:cNvPr id="2" name="文本占位符 8">
            <a:extLst>
              <a:ext uri="{FF2B5EF4-FFF2-40B4-BE49-F238E27FC236}">
                <a16:creationId xmlns:a16="http://schemas.microsoft.com/office/drawing/2014/main" id="{AB4F6F6A-0154-7692-305F-3283AAE80A45}"/>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3090521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5A85C-A126-BF1B-7091-E8DE8121E12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F09A8C9-6F56-507A-6971-695FF602FD6C}"/>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DE4008D4-2D4B-36E4-2498-DC3BCA71015D}"/>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2103603C-24C6-F4F1-4CF6-FB3C4DDF3695}"/>
              </a:ext>
            </a:extLst>
          </p:cNvPr>
          <p:cNvSpPr>
            <a:spLocks noGrp="1"/>
          </p:cNvSpPr>
          <p:nvPr>
            <p:ph type="body" sz="half" idx="2"/>
          </p:nvPr>
        </p:nvSpPr>
        <p:spPr>
          <a:xfrm>
            <a:off x="500697" y="1365885"/>
            <a:ext cx="11333094" cy="5222875"/>
          </a:xfrm>
        </p:spPr>
        <p:txBody>
          <a:bodyPr>
            <a:normAutofit fontScale="92500"/>
          </a:bodyPr>
          <a:lstStyle/>
          <a:p>
            <a:pPr marL="0" indent="0">
              <a:buNone/>
            </a:pPr>
            <a:r>
              <a:rPr kumimoji="1" lang="zh-CN" altLang="en-US" dirty="0"/>
              <a:t>已经实现了一套无锁</a:t>
            </a:r>
            <a:r>
              <a:rPr kumimoji="1" lang="en-US" altLang="zh-CN" dirty="0"/>
              <a:t>IPC</a:t>
            </a:r>
            <a:r>
              <a:rPr kumimoji="1" lang="zh-CN" altLang="en-US" dirty="0"/>
              <a:t>方案</a:t>
            </a:r>
            <a:endParaRPr kumimoji="1" lang="en-US" altLang="zh-CN" dirty="0"/>
          </a:p>
          <a:p>
            <a:pPr marL="0" indent="0">
              <a:buNone/>
            </a:pPr>
            <a:r>
              <a:rPr kumimoji="1" lang="zh-CN" altLang="en-US" dirty="0"/>
              <a:t>具体文档：</a:t>
            </a:r>
            <a:r>
              <a:rPr kumimoji="1" lang="en-GB" altLang="zh-CN" dirty="0">
                <a:hlinkClick r:id="rId2"/>
              </a:rPr>
              <a:t>https://github.com/ZhiyuanSue/RendezvOS/blob/master/docs/lockfree-ipc.md</a:t>
            </a:r>
            <a:endParaRPr kumimoji="1" lang="en-GB" altLang="zh-CN" dirty="0"/>
          </a:p>
          <a:p>
            <a:pPr marL="0" indent="0">
              <a:buNone/>
            </a:pPr>
            <a:r>
              <a:rPr kumimoji="1" lang="zh-CN" altLang="en-US" dirty="0"/>
              <a:t>对于访问引用计数本身可能存在的问题，采用</a:t>
            </a:r>
            <a:r>
              <a:rPr kumimoji="1" lang="en-US" altLang="zh-CN" dirty="0" err="1"/>
              <a:t>percpu</a:t>
            </a:r>
            <a:r>
              <a:rPr kumimoji="1" lang="zh-CN" altLang="en-US" dirty="0"/>
              <a:t> </a:t>
            </a:r>
            <a:r>
              <a:rPr kumimoji="1" lang="en-US" altLang="zh-CN" dirty="0"/>
              <a:t>512</a:t>
            </a:r>
            <a:r>
              <a:rPr kumimoji="1" lang="zh-CN" altLang="en-US" dirty="0"/>
              <a:t>个槽位的</a:t>
            </a:r>
            <a:r>
              <a:rPr kumimoji="1" lang="en-US" altLang="zh-CN" dirty="0" err="1"/>
              <a:t>ebr</a:t>
            </a:r>
            <a:r>
              <a:rPr kumimoji="1" lang="zh-CN" altLang="en-US" dirty="0"/>
              <a:t>（</a:t>
            </a:r>
            <a:r>
              <a:rPr kumimoji="1" lang="en-US" altLang="zh-CN" dirty="0"/>
              <a:t>epoch-based</a:t>
            </a:r>
            <a:r>
              <a:rPr kumimoji="1" lang="zh-CN" altLang="en-US" dirty="0"/>
              <a:t> </a:t>
            </a:r>
            <a:r>
              <a:rPr kumimoji="1" lang="en-US" altLang="zh-CN" dirty="0" err="1"/>
              <a:t>reclaimation</a:t>
            </a:r>
            <a:r>
              <a:rPr kumimoji="1" lang="zh-CN" altLang="en-US" dirty="0"/>
              <a:t>），使用</a:t>
            </a:r>
            <a:r>
              <a:rPr kumimoji="1" lang="en-US" altLang="zh-CN" dirty="0"/>
              <a:t>tagged</a:t>
            </a:r>
            <a:r>
              <a:rPr kumimoji="1" lang="zh-CN" altLang="en-US" dirty="0"/>
              <a:t> </a:t>
            </a:r>
            <a:r>
              <a:rPr kumimoji="1" lang="en-US" altLang="zh-CN" dirty="0" err="1"/>
              <a:t>ptr</a:t>
            </a:r>
            <a:r>
              <a:rPr kumimoji="1" lang="zh-CN" altLang="en-US" dirty="0"/>
              <a:t>避免</a:t>
            </a:r>
            <a:r>
              <a:rPr kumimoji="1" lang="en-US" altLang="zh-CN" dirty="0"/>
              <a:t>ABA</a:t>
            </a:r>
            <a:r>
              <a:rPr kumimoji="1" lang="zh-CN" altLang="en-US" dirty="0"/>
              <a:t>问题</a:t>
            </a:r>
            <a:endParaRPr kumimoji="1" lang="en-US" altLang="zh-CN" dirty="0"/>
          </a:p>
          <a:p>
            <a:pPr marL="0" indent="0">
              <a:buNone/>
            </a:pPr>
            <a:r>
              <a:rPr kumimoji="1" lang="zh-CN" altLang="en-US" dirty="0"/>
              <a:t>抽象出来了几个接口原语</a:t>
            </a:r>
            <a:endParaRPr kumimoji="1" lang="en-US" altLang="zh-CN" dirty="0"/>
          </a:p>
          <a:p>
            <a:r>
              <a:rPr lang="en-GB" altLang="zh-CN" dirty="0" err="1"/>
              <a:t>ipc_port_try_match</a:t>
            </a:r>
            <a:r>
              <a:rPr lang="zh-CN" altLang="en-US" dirty="0"/>
              <a:t> 在端口中找到匹配的线程，收找发，发找收</a:t>
            </a:r>
            <a:endParaRPr lang="en-US" altLang="zh-CN" dirty="0"/>
          </a:p>
          <a:p>
            <a:r>
              <a:rPr lang="en-GB" altLang="zh-CN" dirty="0" err="1"/>
              <a:t>ipc_port_enqueue_wait</a:t>
            </a:r>
            <a:r>
              <a:rPr lang="zh-CN" altLang="en-US" dirty="0"/>
              <a:t> </a:t>
            </a:r>
            <a:r>
              <a:rPr lang="zh-CN" altLang="en-GB" dirty="0"/>
              <a:t>匹配</a:t>
            </a:r>
            <a:r>
              <a:rPr lang="zh-CN" altLang="en-US" dirty="0"/>
              <a:t>不到就在该端口阻塞住</a:t>
            </a:r>
            <a:endParaRPr lang="en-US" altLang="zh-CN" dirty="0"/>
          </a:p>
          <a:p>
            <a:r>
              <a:rPr lang="en-GB" altLang="zh-CN" dirty="0" err="1"/>
              <a:t>ipc_transfer_message</a:t>
            </a:r>
            <a:r>
              <a:rPr lang="en-GB" altLang="zh-CN" dirty="0"/>
              <a:t> </a:t>
            </a:r>
            <a:r>
              <a:rPr lang="zh-CN" altLang="en-US" dirty="0"/>
              <a:t>从发送方的发送队列，放一个消息到接收方的接收对了（支持推</a:t>
            </a:r>
            <a:r>
              <a:rPr lang="en-US" altLang="zh-CN" dirty="0"/>
              <a:t>/</a:t>
            </a:r>
            <a:r>
              <a:rPr lang="zh-CN" altLang="en-US" dirty="0"/>
              <a:t>拉）</a:t>
            </a:r>
            <a:endParaRPr lang="en-US" altLang="zh-CN" dirty="0"/>
          </a:p>
          <a:p>
            <a:r>
              <a:rPr lang="zh-CN" altLang="en-US" dirty="0"/>
              <a:t>并基于此实现了阻塞式的</a:t>
            </a:r>
            <a:r>
              <a:rPr lang="en-GB" altLang="zh-CN" dirty="0" err="1"/>
              <a:t>send_msg</a:t>
            </a:r>
            <a:r>
              <a:rPr lang="zh-CN" altLang="en-GB" dirty="0"/>
              <a:t>和</a:t>
            </a:r>
            <a:r>
              <a:rPr lang="en-US" altLang="zh-CN" dirty="0" err="1"/>
              <a:t>recv_msg</a:t>
            </a:r>
            <a:endParaRPr lang="en-US" altLang="zh-CN" dirty="0"/>
          </a:p>
          <a:p>
            <a:pPr marL="0" indent="0">
              <a:buNone/>
            </a:pPr>
            <a:r>
              <a:rPr lang="zh-CN" altLang="en-US" dirty="0"/>
              <a:t>（非阻塞式的更好做，通过</a:t>
            </a:r>
            <a:r>
              <a:rPr lang="en-GB" altLang="zh-CN" dirty="0" err="1"/>
              <a:t>ipc_port_try_match</a:t>
            </a:r>
            <a:r>
              <a:rPr lang="zh-CN" altLang="en-US" dirty="0"/>
              <a:t>找到对方之后，不停调用</a:t>
            </a:r>
            <a:r>
              <a:rPr lang="en-GB" altLang="zh-CN" dirty="0" err="1"/>
              <a:t>ipc_transfer_message</a:t>
            </a:r>
            <a:r>
              <a:rPr lang="en-GB" altLang="zh-CN" dirty="0"/>
              <a:t> </a:t>
            </a:r>
            <a:r>
              <a:rPr lang="zh-CN" altLang="en-GB" dirty="0"/>
              <a:t>批量</a:t>
            </a:r>
            <a:r>
              <a:rPr lang="zh-CN" altLang="en-US" dirty="0"/>
              <a:t>发送就完事了）</a:t>
            </a:r>
            <a:endParaRPr lang="en-US" altLang="zh-CN" dirty="0"/>
          </a:p>
          <a:p>
            <a:pPr marL="0" indent="0">
              <a:buNone/>
            </a:pPr>
            <a:r>
              <a:rPr kumimoji="1" lang="en-US" altLang="zh-CN" b="1" dirty="0"/>
              <a:t>——AI</a:t>
            </a:r>
            <a:r>
              <a:rPr kumimoji="1" lang="zh-CN" altLang="en-US" b="1" dirty="0"/>
              <a:t>只需要关心自己这个内核线程的单线程功能实现，复杂竞态被封装进</a:t>
            </a:r>
            <a:r>
              <a:rPr kumimoji="1" lang="en-US" altLang="zh-CN" b="1" dirty="0"/>
              <a:t>IPC</a:t>
            </a:r>
            <a:r>
              <a:rPr kumimoji="1" lang="zh-CN" altLang="en-US" b="1" dirty="0"/>
              <a:t>协议层，由人类手写的骨架保证正确</a:t>
            </a:r>
            <a:endParaRPr lang="en-US" altLang="zh-CN" dirty="0"/>
          </a:p>
          <a:p>
            <a:pPr marL="0" indent="0">
              <a:buNone/>
            </a:pPr>
            <a:endParaRPr lang="zh-CN" altLang="en-US" dirty="0"/>
          </a:p>
        </p:txBody>
      </p:sp>
      <p:sp>
        <p:nvSpPr>
          <p:cNvPr id="10" name="文本占位符 9">
            <a:extLst>
              <a:ext uri="{FF2B5EF4-FFF2-40B4-BE49-F238E27FC236}">
                <a16:creationId xmlns:a16="http://schemas.microsoft.com/office/drawing/2014/main" id="{A0BCFC0E-1A06-1138-35D4-8B6E621B9436}"/>
              </a:ext>
            </a:extLst>
          </p:cNvPr>
          <p:cNvSpPr>
            <a:spLocks noGrp="1"/>
          </p:cNvSpPr>
          <p:nvPr>
            <p:ph type="body" sz="half" idx="24"/>
          </p:nvPr>
        </p:nvSpPr>
        <p:spPr>
          <a:xfrm>
            <a:off x="657860" y="759460"/>
            <a:ext cx="6892290" cy="606425"/>
          </a:xfrm>
        </p:spPr>
        <p:txBody>
          <a:bodyPr>
            <a:normAutofit/>
          </a:bodyPr>
          <a:lstStyle/>
          <a:p>
            <a:r>
              <a:rPr lang="zh-CN" altLang="en-US" dirty="0"/>
              <a:t>无锁</a:t>
            </a:r>
            <a:r>
              <a:rPr lang="en-US" altLang="zh-CN" dirty="0"/>
              <a:t>IPC</a:t>
            </a:r>
            <a:r>
              <a:rPr lang="zh-CN" altLang="en-US" dirty="0"/>
              <a:t>的现有实现情况</a:t>
            </a:r>
          </a:p>
        </p:txBody>
      </p:sp>
      <p:sp>
        <p:nvSpPr>
          <p:cNvPr id="2" name="文本占位符 8">
            <a:extLst>
              <a:ext uri="{FF2B5EF4-FFF2-40B4-BE49-F238E27FC236}">
                <a16:creationId xmlns:a16="http://schemas.microsoft.com/office/drawing/2014/main" id="{ECEEF145-40B3-81FE-52C5-8D49126A8AB8}"/>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270411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BD797-6294-6B71-6565-640F7D7AF60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43FE992-72DA-8F7E-FF34-2182EABA271E}"/>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33EE5965-8026-0271-600D-ECD52D899C9C}"/>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76C06257-CD1B-5F29-2C4D-2A5CFD4895DD}"/>
              </a:ext>
            </a:extLst>
          </p:cNvPr>
          <p:cNvSpPr>
            <a:spLocks noGrp="1"/>
          </p:cNvSpPr>
          <p:nvPr>
            <p:ph type="body" sz="half" idx="2"/>
          </p:nvPr>
        </p:nvSpPr>
        <p:spPr>
          <a:xfrm>
            <a:off x="500697" y="1365886"/>
            <a:ext cx="11333094" cy="3418150"/>
          </a:xfrm>
        </p:spPr>
        <p:txBody>
          <a:bodyPr>
            <a:normAutofit/>
          </a:bodyPr>
          <a:lstStyle/>
          <a:p>
            <a:pPr marL="285750" indent="-285750">
              <a:buFont typeface="Arial" panose="020B0604020202020204" pitchFamily="34" charset="0"/>
              <a:buChar char="•"/>
            </a:pPr>
            <a:r>
              <a:rPr kumimoji="1" lang="zh-CN" altLang="en-US" dirty="0"/>
              <a:t>优先级反转问题：优先级反转问题现在不再集中在锁，而是需要调度器明白发送消息的依赖关系，所以需要</a:t>
            </a:r>
            <a:r>
              <a:rPr kumimoji="1" lang="en-US" altLang="zh-CN" dirty="0"/>
              <a:t>IPC-</a:t>
            </a:r>
            <a:r>
              <a:rPr kumimoji="1" lang="en-US" altLang="zh-CN" dirty="0" err="1"/>
              <a:t>awared</a:t>
            </a:r>
            <a:r>
              <a:rPr kumimoji="1" lang="zh-CN" altLang="en-US" dirty="0"/>
              <a:t> </a:t>
            </a:r>
            <a:r>
              <a:rPr kumimoji="1" lang="en-US" altLang="zh-CN" dirty="0"/>
              <a:t>scheduler</a:t>
            </a:r>
            <a:r>
              <a:rPr kumimoji="1" lang="zh-CN" altLang="en-US" dirty="0"/>
              <a:t>。</a:t>
            </a:r>
            <a:endParaRPr kumimoji="1" lang="en-US" altLang="zh-CN" dirty="0"/>
          </a:p>
          <a:p>
            <a:pPr marL="285750" indent="-285750">
              <a:buFont typeface="Arial" panose="020B0604020202020204" pitchFamily="34" charset="0"/>
              <a:buChar char="•"/>
            </a:pPr>
            <a:r>
              <a:rPr kumimoji="1" lang="zh-CN" altLang="en-US" dirty="0"/>
              <a:t>端口权限控制：我们做了一个扩展</a:t>
            </a:r>
            <a:r>
              <a:rPr kumimoji="1" lang="en-US" altLang="zh-CN" dirty="0"/>
              <a:t>hook</a:t>
            </a:r>
            <a:r>
              <a:rPr kumimoji="1" lang="zh-CN" altLang="en-US" dirty="0"/>
              <a:t>，允许接进来端口权限控制。</a:t>
            </a:r>
            <a:endParaRPr kumimoji="1" lang="en-US" altLang="zh-CN" dirty="0"/>
          </a:p>
          <a:p>
            <a:pPr marL="285750" indent="-285750">
              <a:buFont typeface="Arial" panose="020B0604020202020204" pitchFamily="34" charset="0"/>
              <a:buChar char="•"/>
            </a:pPr>
            <a:r>
              <a:rPr kumimoji="1" lang="zh-CN" altLang="en-US" dirty="0"/>
              <a:t>性能优化：它的性能优势可能在于几个方向</a:t>
            </a:r>
            <a:r>
              <a:rPr kumimoji="1" lang="en-US" altLang="zh-CN" dirty="0"/>
              <a:t>1</a:t>
            </a:r>
            <a:r>
              <a:rPr kumimoji="1" lang="zh-CN" altLang="en-US" dirty="0"/>
              <a:t>、在核心数量很多的时候体现出来，很多个核心抢锁，不如单核心轮询去做，否则上下文切换开销大</a:t>
            </a:r>
            <a:r>
              <a:rPr kumimoji="1" lang="en-US" altLang="zh-CN" dirty="0"/>
              <a:t>2</a:t>
            </a:r>
            <a:r>
              <a:rPr kumimoji="1" lang="zh-CN" altLang="en-US" dirty="0"/>
              <a:t>、吞吐量上去但是尾延迟估计没救了</a:t>
            </a:r>
            <a:r>
              <a:rPr kumimoji="1" lang="en-US" altLang="zh-CN" dirty="0"/>
              <a:t>3</a:t>
            </a:r>
            <a:r>
              <a:rPr kumimoji="1" lang="zh-CN" altLang="en-US" dirty="0"/>
              <a:t>、锁方案的优化一般尽量细粒度锁，但是这个</a:t>
            </a:r>
            <a:r>
              <a:rPr kumimoji="1" lang="en-US" altLang="zh-CN" dirty="0"/>
              <a:t>IPC</a:t>
            </a:r>
            <a:r>
              <a:rPr kumimoji="1" lang="zh-CN" altLang="en-US" dirty="0"/>
              <a:t>方案可能要把尽量大的临界区封装到一个线程里面，主要也是为了减少上下文切换开销。</a:t>
            </a:r>
            <a:endParaRPr kumimoji="1" lang="en-US" altLang="zh-CN" dirty="0"/>
          </a:p>
        </p:txBody>
      </p:sp>
      <p:sp>
        <p:nvSpPr>
          <p:cNvPr id="10" name="文本占位符 9">
            <a:extLst>
              <a:ext uri="{FF2B5EF4-FFF2-40B4-BE49-F238E27FC236}">
                <a16:creationId xmlns:a16="http://schemas.microsoft.com/office/drawing/2014/main" id="{FD46E315-8A4A-D756-0AC2-6C8889FC333B}"/>
              </a:ext>
            </a:extLst>
          </p:cNvPr>
          <p:cNvSpPr>
            <a:spLocks noGrp="1"/>
          </p:cNvSpPr>
          <p:nvPr>
            <p:ph type="body" sz="half" idx="24"/>
          </p:nvPr>
        </p:nvSpPr>
        <p:spPr>
          <a:xfrm>
            <a:off x="657860" y="759460"/>
            <a:ext cx="6892290" cy="606425"/>
          </a:xfrm>
        </p:spPr>
        <p:txBody>
          <a:bodyPr>
            <a:normAutofit/>
          </a:bodyPr>
          <a:lstStyle/>
          <a:p>
            <a:r>
              <a:rPr lang="zh-CN" altLang="en-US" dirty="0"/>
              <a:t>无锁</a:t>
            </a:r>
            <a:r>
              <a:rPr lang="en-US" altLang="zh-CN" dirty="0"/>
              <a:t>IPC</a:t>
            </a:r>
            <a:r>
              <a:rPr lang="zh-CN" altLang="en-US" dirty="0"/>
              <a:t>的一些未来发展探讨</a:t>
            </a:r>
          </a:p>
        </p:txBody>
      </p:sp>
      <p:sp>
        <p:nvSpPr>
          <p:cNvPr id="2" name="文本占位符 8">
            <a:extLst>
              <a:ext uri="{FF2B5EF4-FFF2-40B4-BE49-F238E27FC236}">
                <a16:creationId xmlns:a16="http://schemas.microsoft.com/office/drawing/2014/main" id="{02435040-E682-FBC1-CF3A-F931680864F4}"/>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3257585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C0DC-89F3-B05D-4E83-713C8613B8E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19E82E6-0425-24E2-AAD2-9331B7F6115B}"/>
              </a:ext>
            </a:extLst>
          </p:cNvPr>
          <p:cNvSpPr>
            <a:spLocks noGrp="1"/>
          </p:cNvSpPr>
          <p:nvPr>
            <p:ph type="title"/>
          </p:nvPr>
        </p:nvSpPr>
        <p:spPr/>
        <p:txBody>
          <a:bodyPr/>
          <a:lstStyle/>
          <a:p>
            <a:r>
              <a:rPr lang="zh-CN" altLang="en-US" dirty="0"/>
              <a:t>内核框架关键机制</a:t>
            </a:r>
          </a:p>
        </p:txBody>
      </p:sp>
      <p:sp>
        <p:nvSpPr>
          <p:cNvPr id="4" name="文本占位符 3">
            <a:extLst>
              <a:ext uri="{FF2B5EF4-FFF2-40B4-BE49-F238E27FC236}">
                <a16:creationId xmlns:a16="http://schemas.microsoft.com/office/drawing/2014/main" id="{0E70D733-91DC-900C-A2A4-FC0A2216396F}"/>
              </a:ext>
            </a:extLst>
          </p:cNvPr>
          <p:cNvSpPr>
            <a:spLocks noGrp="1"/>
          </p:cNvSpPr>
          <p:nvPr>
            <p:ph type="body" sz="half" idx="25"/>
          </p:nvPr>
        </p:nvSpPr>
        <p:spPr/>
        <p:txBody>
          <a:bodyPr/>
          <a:lstStyle/>
          <a:p>
            <a:r>
              <a:rPr lang="en-US" altLang="zh-CN" dirty="0"/>
              <a:t>02</a:t>
            </a:r>
            <a:endParaRPr lang="zh-CN" altLang="en-US" dirty="0"/>
          </a:p>
        </p:txBody>
      </p:sp>
      <p:sp>
        <p:nvSpPr>
          <p:cNvPr id="7" name="文本占位符 6">
            <a:extLst>
              <a:ext uri="{FF2B5EF4-FFF2-40B4-BE49-F238E27FC236}">
                <a16:creationId xmlns:a16="http://schemas.microsoft.com/office/drawing/2014/main" id="{CF36DF3B-5971-3EF8-33EA-5C4D3CAAA80E}"/>
              </a:ext>
            </a:extLst>
          </p:cNvPr>
          <p:cNvSpPr>
            <a:spLocks noGrp="1"/>
          </p:cNvSpPr>
          <p:nvPr>
            <p:ph type="body" sz="half" idx="2"/>
          </p:nvPr>
        </p:nvSpPr>
        <p:spPr/>
        <p:txBody>
          <a:bodyPr/>
          <a:lstStyle/>
          <a:p>
            <a:pPr marL="0" indent="0">
              <a:buNone/>
            </a:pPr>
            <a:r>
              <a:rPr lang="en-US" altLang="zh-CN" dirty="0" err="1"/>
              <a:t>RendezvOS</a:t>
            </a:r>
            <a:r>
              <a:rPr lang="zh-CN" altLang="en-US" dirty="0"/>
              <a:t>核心的构建，被设计为既可以单独构建，也可以塞进某个兼容层的某个子模块集成构建。</a:t>
            </a:r>
            <a:endParaRPr lang="en-US" altLang="zh-CN" dirty="0"/>
          </a:p>
          <a:p>
            <a:pPr marL="0" indent="0">
              <a:buNone/>
            </a:pPr>
            <a:r>
              <a:rPr lang="zh-CN" altLang="en-US" dirty="0"/>
              <a:t>所以它需要支持这两种构建模式，我们在</a:t>
            </a:r>
            <a:r>
              <a:rPr lang="en-US" altLang="zh-CN" dirty="0" err="1"/>
              <a:t>makefile</a:t>
            </a:r>
            <a:r>
              <a:rPr lang="zh-CN" altLang="en-US" dirty="0"/>
              <a:t>里面提供了上层构建注入的一些</a:t>
            </a:r>
            <a:r>
              <a:rPr lang="en-US" altLang="zh-CN" dirty="0"/>
              <a:t>flags</a:t>
            </a:r>
            <a:r>
              <a:rPr lang="zh-CN" altLang="en-US" dirty="0"/>
              <a:t>，并通过</a:t>
            </a:r>
            <a:r>
              <a:rPr lang="en-US" altLang="zh-CN" dirty="0"/>
              <a:t>config</a:t>
            </a:r>
            <a:r>
              <a:rPr lang="zh-CN" altLang="en-US" dirty="0"/>
              <a:t>配置的方案，让上层可以选择注入或者取消</a:t>
            </a:r>
            <a:r>
              <a:rPr lang="en-US" altLang="zh-CN" dirty="0"/>
              <a:t>core</a:t>
            </a:r>
            <a:r>
              <a:rPr lang="zh-CN" altLang="en-US" dirty="0"/>
              <a:t>的部分配置。</a:t>
            </a:r>
          </a:p>
        </p:txBody>
      </p:sp>
      <p:sp>
        <p:nvSpPr>
          <p:cNvPr id="10" name="文本占位符 9">
            <a:extLst>
              <a:ext uri="{FF2B5EF4-FFF2-40B4-BE49-F238E27FC236}">
                <a16:creationId xmlns:a16="http://schemas.microsoft.com/office/drawing/2014/main" id="{993AD42B-18D7-944F-8913-170F17BEE16D}"/>
              </a:ext>
            </a:extLst>
          </p:cNvPr>
          <p:cNvSpPr>
            <a:spLocks noGrp="1"/>
          </p:cNvSpPr>
          <p:nvPr>
            <p:ph type="body" sz="half" idx="24"/>
          </p:nvPr>
        </p:nvSpPr>
        <p:spPr>
          <a:xfrm>
            <a:off x="880110" y="980440"/>
            <a:ext cx="6892290" cy="606425"/>
          </a:xfrm>
        </p:spPr>
        <p:txBody>
          <a:bodyPr>
            <a:normAutofit/>
          </a:bodyPr>
          <a:lstStyle/>
          <a:p>
            <a:r>
              <a:rPr lang="zh-CN" altLang="en-US" dirty="0"/>
              <a:t>基于核心和兼容层分层的构建系统</a:t>
            </a:r>
          </a:p>
        </p:txBody>
      </p:sp>
      <p:sp>
        <p:nvSpPr>
          <p:cNvPr id="2" name="文本占位符 8">
            <a:extLst>
              <a:ext uri="{FF2B5EF4-FFF2-40B4-BE49-F238E27FC236}">
                <a16:creationId xmlns:a16="http://schemas.microsoft.com/office/drawing/2014/main" id="{BD1D487B-CB2B-E3C6-BC18-36250C1DADCB}"/>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1359681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3608-D854-0127-F410-D646C3C491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40BE33-732C-0C4D-CCA9-C7F48E698FCA}"/>
              </a:ext>
            </a:extLst>
          </p:cNvPr>
          <p:cNvSpPr>
            <a:spLocks noGrp="1"/>
          </p:cNvSpPr>
          <p:nvPr>
            <p:ph type="title"/>
          </p:nvPr>
        </p:nvSpPr>
        <p:spPr>
          <a:xfrm>
            <a:off x="8151495" y="4261485"/>
            <a:ext cx="3326914" cy="1957817"/>
          </a:xfrm>
        </p:spPr>
        <p:txBody>
          <a:bodyPr>
            <a:normAutofit fontScale="90000"/>
          </a:bodyPr>
          <a:lstStyle/>
          <a:p>
            <a:r>
              <a:rPr lang="zh-CN" altLang="en-US" dirty="0"/>
              <a:t>协议式兼容层生成</a:t>
            </a:r>
            <a:r>
              <a:rPr lang="en-US" altLang="zh-CN" dirty="0"/>
              <a:t>/</a:t>
            </a:r>
            <a:r>
              <a:rPr lang="zh-CN" altLang="en-US" dirty="0"/>
              <a:t>迭代式演进</a:t>
            </a:r>
            <a:r>
              <a:rPr lang="en-US" altLang="zh-CN" dirty="0"/>
              <a:t>/</a:t>
            </a:r>
            <a:r>
              <a:rPr lang="zh-CN" altLang="en-US" dirty="0"/>
              <a:t>测例驱动式验证</a:t>
            </a:r>
          </a:p>
        </p:txBody>
      </p:sp>
      <p:sp>
        <p:nvSpPr>
          <p:cNvPr id="4" name="文本占位符 3">
            <a:extLst>
              <a:ext uri="{FF2B5EF4-FFF2-40B4-BE49-F238E27FC236}">
                <a16:creationId xmlns:a16="http://schemas.microsoft.com/office/drawing/2014/main" id="{30634BD3-7E5D-75E8-92BD-1ED11199A40F}"/>
              </a:ext>
            </a:extLst>
          </p:cNvPr>
          <p:cNvSpPr>
            <a:spLocks noGrp="1"/>
          </p:cNvSpPr>
          <p:nvPr>
            <p:ph type="body" idx="13"/>
          </p:nvPr>
        </p:nvSpPr>
        <p:spPr/>
        <p:txBody>
          <a:bodyPr/>
          <a:lstStyle/>
          <a:p>
            <a:r>
              <a:rPr lang="en-US" altLang="zh-CN" dirty="0"/>
              <a:t>03</a:t>
            </a:r>
            <a:endParaRPr lang="zh-CN" altLang="en-US" dirty="0"/>
          </a:p>
        </p:txBody>
      </p:sp>
    </p:spTree>
    <p:extLst>
      <p:ext uri="{BB962C8B-B14F-4D97-AF65-F5344CB8AC3E}">
        <p14:creationId xmlns:p14="http://schemas.microsoft.com/office/powerpoint/2010/main" val="1346907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37EB-7D92-1A2E-0C53-F08B390CF08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7CA8E96-9329-9869-E6D1-53CE8046425A}"/>
              </a:ext>
            </a:extLst>
          </p:cNvPr>
          <p:cNvSpPr>
            <a:spLocks noGrp="1"/>
          </p:cNvSpPr>
          <p:nvPr>
            <p:ph type="title"/>
          </p:nvPr>
        </p:nvSpPr>
        <p:spPr/>
        <p:txBody>
          <a:bodyPr/>
          <a:lstStyle/>
          <a:p>
            <a:r>
              <a:rPr lang="zh-CN" altLang="en-US" dirty="0"/>
              <a:t>协议式兼容层生成</a:t>
            </a:r>
            <a:r>
              <a:rPr lang="en-US" altLang="zh-CN" dirty="0"/>
              <a:t>/</a:t>
            </a:r>
            <a:r>
              <a:rPr lang="zh-CN" altLang="en-US" dirty="0"/>
              <a:t>迭代式演进</a:t>
            </a:r>
            <a:r>
              <a:rPr lang="en-US" altLang="zh-CN" dirty="0"/>
              <a:t>/</a:t>
            </a:r>
            <a:r>
              <a:rPr lang="zh-CN" altLang="en-US" dirty="0"/>
              <a:t>测试驱动式验证</a:t>
            </a:r>
          </a:p>
        </p:txBody>
      </p:sp>
      <p:sp>
        <p:nvSpPr>
          <p:cNvPr id="4" name="文本占位符 3">
            <a:extLst>
              <a:ext uri="{FF2B5EF4-FFF2-40B4-BE49-F238E27FC236}">
                <a16:creationId xmlns:a16="http://schemas.microsoft.com/office/drawing/2014/main" id="{5E23F548-9D33-B451-36A7-6CBE86B7FE62}"/>
              </a:ext>
            </a:extLst>
          </p:cNvPr>
          <p:cNvSpPr>
            <a:spLocks noGrp="1"/>
          </p:cNvSpPr>
          <p:nvPr>
            <p:ph type="body" sz="half" idx="25"/>
          </p:nvPr>
        </p:nvSpPr>
        <p:spPr/>
        <p:txBody>
          <a:bodyPr/>
          <a:lstStyle/>
          <a:p>
            <a:r>
              <a:rPr lang="en-US" altLang="zh-CN" dirty="0"/>
              <a:t>03</a:t>
            </a:r>
            <a:endParaRPr lang="zh-CN" altLang="en-US" dirty="0"/>
          </a:p>
        </p:txBody>
      </p:sp>
      <p:sp>
        <p:nvSpPr>
          <p:cNvPr id="7" name="文本占位符 6">
            <a:extLst>
              <a:ext uri="{FF2B5EF4-FFF2-40B4-BE49-F238E27FC236}">
                <a16:creationId xmlns:a16="http://schemas.microsoft.com/office/drawing/2014/main" id="{75E27D64-0E6A-74CD-A738-E2E87FDAC981}"/>
              </a:ext>
            </a:extLst>
          </p:cNvPr>
          <p:cNvSpPr>
            <a:spLocks noGrp="1"/>
          </p:cNvSpPr>
          <p:nvPr>
            <p:ph type="body" sz="half" idx="2"/>
          </p:nvPr>
        </p:nvSpPr>
        <p:spPr>
          <a:xfrm>
            <a:off x="1023619" y="1844675"/>
            <a:ext cx="10526123" cy="4447268"/>
          </a:xfrm>
        </p:spPr>
        <p:txBody>
          <a:bodyPr>
            <a:normAutofit/>
          </a:bodyPr>
          <a:lstStyle/>
          <a:p>
            <a:pPr marL="0" indent="0">
              <a:buNone/>
            </a:pPr>
            <a:r>
              <a:rPr lang="zh-CN" altLang="en-US" dirty="0"/>
              <a:t>我们需要</a:t>
            </a:r>
            <a:r>
              <a:rPr lang="en-US" altLang="zh-CN" dirty="0"/>
              <a:t>AI</a:t>
            </a:r>
            <a:r>
              <a:rPr lang="zh-CN" altLang="en-US" dirty="0"/>
              <a:t>生成一堆兼容层代码。而根据我们的设计，它需要遵循一定的设计要求。</a:t>
            </a:r>
            <a:endParaRPr lang="en-US" altLang="zh-CN" dirty="0"/>
          </a:p>
          <a:p>
            <a:pPr marL="0" indent="0">
              <a:buNone/>
            </a:pPr>
            <a:r>
              <a:rPr lang="zh-CN" altLang="en-US" dirty="0"/>
              <a:t>在</a:t>
            </a:r>
            <a:r>
              <a:rPr lang="en-US" altLang="zh-CN" dirty="0" err="1"/>
              <a:t>RendezvOS</a:t>
            </a:r>
            <a:r>
              <a:rPr lang="zh-CN" altLang="en-US" dirty="0"/>
              <a:t>核心中我们提供了接口文档（在做，尚未完成），用于描述</a:t>
            </a:r>
            <a:r>
              <a:rPr lang="en-US" altLang="zh-CN" dirty="0" err="1"/>
              <a:t>RendezvOS</a:t>
            </a:r>
            <a:r>
              <a:rPr lang="zh-CN" altLang="en-US" dirty="0"/>
              <a:t>的接口如何使用。</a:t>
            </a:r>
            <a:endParaRPr lang="en-US" altLang="zh-CN" dirty="0"/>
          </a:p>
          <a:p>
            <a:pPr marL="0" indent="0">
              <a:buNone/>
            </a:pPr>
            <a:r>
              <a:rPr lang="zh-CN" altLang="en-US" dirty="0"/>
              <a:t>同时，因为多个线程之间需要协作式通信，所以他们需要有消息格式，消息通信时序的一系列约定。</a:t>
            </a:r>
            <a:endParaRPr lang="en-US" altLang="zh-CN" dirty="0"/>
          </a:p>
          <a:p>
            <a:pPr marL="0" indent="0">
              <a:buNone/>
            </a:pPr>
            <a:r>
              <a:rPr lang="zh-CN" altLang="en-US" dirty="0"/>
              <a:t>时序很重要，例如我为了演示功能设计了一个</a:t>
            </a:r>
            <a:r>
              <a:rPr lang="en-US" altLang="zh-CN" dirty="0"/>
              <a:t>clean</a:t>
            </a:r>
            <a:r>
              <a:rPr lang="zh-CN" altLang="en-US" dirty="0"/>
              <a:t> </a:t>
            </a:r>
            <a:r>
              <a:rPr lang="en-US" altLang="zh-CN" dirty="0"/>
              <a:t>server</a:t>
            </a:r>
            <a:r>
              <a:rPr lang="zh-CN" altLang="en-US" dirty="0"/>
              <a:t>，主要目的就是线程退出的时候清理线程的资源</a:t>
            </a:r>
            <a:r>
              <a:rPr lang="en-US" altLang="zh-CN" dirty="0"/>
              <a:t>——</a:t>
            </a:r>
            <a:r>
              <a:rPr lang="zh-CN" altLang="en-US" dirty="0"/>
              <a:t>它无法自己清理自己，但是，</a:t>
            </a:r>
            <a:r>
              <a:rPr lang="en-US" altLang="zh-CN" dirty="0"/>
              <a:t>A</a:t>
            </a:r>
            <a:r>
              <a:rPr lang="zh-CN" altLang="en-US" dirty="0"/>
              <a:t>核心上子线程试图清理，可能发消息给</a:t>
            </a:r>
            <a:r>
              <a:rPr lang="en-US" altLang="zh-CN" dirty="0"/>
              <a:t>B</a:t>
            </a:r>
            <a:r>
              <a:rPr lang="zh-CN" altLang="en-US" dirty="0"/>
              <a:t>核心上的</a:t>
            </a:r>
            <a:r>
              <a:rPr lang="en-US" altLang="zh-CN" dirty="0"/>
              <a:t>clean</a:t>
            </a:r>
            <a:r>
              <a:rPr lang="zh-CN" altLang="en-US" dirty="0"/>
              <a:t> </a:t>
            </a:r>
            <a:r>
              <a:rPr lang="en-US" altLang="zh-CN" dirty="0"/>
              <a:t>server</a:t>
            </a:r>
            <a:r>
              <a:rPr lang="zh-CN" altLang="en-US" dirty="0"/>
              <a:t>，但是</a:t>
            </a:r>
            <a:r>
              <a:rPr lang="en-US" altLang="zh-CN" dirty="0"/>
              <a:t>A</a:t>
            </a:r>
            <a:r>
              <a:rPr lang="zh-CN" altLang="en-US" dirty="0"/>
              <a:t>核心上子线程并没有被调度走，还在用它的栈，此时</a:t>
            </a:r>
            <a:r>
              <a:rPr lang="en-US" altLang="zh-CN" dirty="0"/>
              <a:t>B</a:t>
            </a:r>
            <a:r>
              <a:rPr lang="zh-CN" altLang="en-US" dirty="0"/>
              <a:t>核心已经收到消息执行清理是极度危险的。必须调度器加额外同步机制。</a:t>
            </a:r>
            <a:endParaRPr lang="en-US" altLang="zh-CN" dirty="0"/>
          </a:p>
          <a:p>
            <a:pPr marL="0" indent="0">
              <a:buNone/>
            </a:pPr>
            <a:r>
              <a:rPr lang="zh-CN" altLang="en-US" dirty="0"/>
              <a:t>同时，在</a:t>
            </a:r>
            <a:r>
              <a:rPr lang="en-US" altLang="zh-CN" dirty="0"/>
              <a:t>Linux</a:t>
            </a:r>
            <a:r>
              <a:rPr lang="zh-CN" altLang="en-US" dirty="0"/>
              <a:t>兼容层下，父进程可能调用</a:t>
            </a:r>
            <a:r>
              <a:rPr lang="en-US" altLang="zh-CN" dirty="0"/>
              <a:t>wait</a:t>
            </a:r>
            <a:r>
              <a:rPr lang="zh-CN" altLang="en-US" dirty="0"/>
              <a:t>，在我们这个设计下，不再是</a:t>
            </a:r>
            <a:r>
              <a:rPr lang="en-US" altLang="zh-CN" dirty="0"/>
              <a:t>poll</a:t>
            </a:r>
            <a:r>
              <a:rPr lang="zh-CN" altLang="en-US" dirty="0"/>
              <a:t>，而是一个等待在消息端口的实现，又需要</a:t>
            </a:r>
            <a:r>
              <a:rPr lang="en-US" altLang="zh-CN" dirty="0"/>
              <a:t>clean</a:t>
            </a:r>
            <a:r>
              <a:rPr lang="zh-CN" altLang="en-US" dirty="0"/>
              <a:t> </a:t>
            </a:r>
            <a:r>
              <a:rPr lang="en-US" altLang="zh-CN" dirty="0"/>
              <a:t>server</a:t>
            </a:r>
            <a:r>
              <a:rPr lang="zh-CN" altLang="en-US" dirty="0"/>
              <a:t>给父进程发消息以唤醒。（还必须适应</a:t>
            </a:r>
            <a:r>
              <a:rPr lang="en-US" altLang="zh-CN" dirty="0"/>
              <a:t>wait</a:t>
            </a:r>
            <a:r>
              <a:rPr lang="zh-CN" altLang="en-US" dirty="0"/>
              <a:t>各个参数不同情形）</a:t>
            </a:r>
            <a:endParaRPr lang="en-US" altLang="zh-CN" dirty="0"/>
          </a:p>
          <a:p>
            <a:pPr marL="0" indent="0">
              <a:buNone/>
            </a:pPr>
            <a:r>
              <a:rPr lang="zh-CN" altLang="en-US" dirty="0"/>
              <a:t>这些最终表现为兼容层需要按照一定的</a:t>
            </a:r>
            <a:r>
              <a:rPr lang="en-US" altLang="zh-CN" dirty="0"/>
              <a:t>protocol</a:t>
            </a:r>
            <a:r>
              <a:rPr lang="zh-CN" altLang="en-US" dirty="0"/>
              <a:t>来生成多个单执行流的内核线程。</a:t>
            </a:r>
          </a:p>
        </p:txBody>
      </p:sp>
      <p:sp>
        <p:nvSpPr>
          <p:cNvPr id="10" name="文本占位符 9">
            <a:extLst>
              <a:ext uri="{FF2B5EF4-FFF2-40B4-BE49-F238E27FC236}">
                <a16:creationId xmlns:a16="http://schemas.microsoft.com/office/drawing/2014/main" id="{1967200C-E44E-7143-7140-BDFCAAB93C2B}"/>
              </a:ext>
            </a:extLst>
          </p:cNvPr>
          <p:cNvSpPr>
            <a:spLocks noGrp="1"/>
          </p:cNvSpPr>
          <p:nvPr>
            <p:ph type="body" sz="half" idx="24"/>
          </p:nvPr>
        </p:nvSpPr>
        <p:spPr/>
        <p:txBody>
          <a:bodyPr>
            <a:normAutofit/>
          </a:bodyPr>
          <a:lstStyle/>
          <a:p>
            <a:r>
              <a:rPr lang="zh-CN" altLang="en-US" dirty="0"/>
              <a:t>协议式兼容层生成</a:t>
            </a:r>
          </a:p>
        </p:txBody>
      </p:sp>
      <p:sp>
        <p:nvSpPr>
          <p:cNvPr id="2" name="文本占位符 8">
            <a:extLst>
              <a:ext uri="{FF2B5EF4-FFF2-40B4-BE49-F238E27FC236}">
                <a16:creationId xmlns:a16="http://schemas.microsoft.com/office/drawing/2014/main" id="{5ED54115-1825-6B3C-DAF5-F8928E69A61F}"/>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1572099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5F9DD-4372-5E97-85FE-BD56C23BA9C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FB8D076-8709-2009-35A1-50CDBF579FC5}"/>
              </a:ext>
            </a:extLst>
          </p:cNvPr>
          <p:cNvSpPr>
            <a:spLocks noGrp="1"/>
          </p:cNvSpPr>
          <p:nvPr>
            <p:ph type="title"/>
          </p:nvPr>
        </p:nvSpPr>
        <p:spPr/>
        <p:txBody>
          <a:bodyPr/>
          <a:lstStyle/>
          <a:p>
            <a:r>
              <a:rPr lang="zh-CN" altLang="en-US" dirty="0"/>
              <a:t>协议式兼容层生成</a:t>
            </a:r>
            <a:r>
              <a:rPr lang="en-US" altLang="zh-CN" dirty="0"/>
              <a:t>/</a:t>
            </a:r>
            <a:r>
              <a:rPr lang="zh-CN" altLang="en-US" dirty="0"/>
              <a:t>迭代式演进</a:t>
            </a:r>
            <a:r>
              <a:rPr lang="en-US" altLang="zh-CN" dirty="0"/>
              <a:t>/</a:t>
            </a:r>
            <a:r>
              <a:rPr lang="zh-CN" altLang="en-US" dirty="0"/>
              <a:t>测试驱动式验证</a:t>
            </a:r>
          </a:p>
        </p:txBody>
      </p:sp>
      <p:sp>
        <p:nvSpPr>
          <p:cNvPr id="4" name="文本占位符 3">
            <a:extLst>
              <a:ext uri="{FF2B5EF4-FFF2-40B4-BE49-F238E27FC236}">
                <a16:creationId xmlns:a16="http://schemas.microsoft.com/office/drawing/2014/main" id="{1E613D06-B664-BBDD-5ED0-D5890315E755}"/>
              </a:ext>
            </a:extLst>
          </p:cNvPr>
          <p:cNvSpPr>
            <a:spLocks noGrp="1"/>
          </p:cNvSpPr>
          <p:nvPr>
            <p:ph type="body" sz="half" idx="25"/>
          </p:nvPr>
        </p:nvSpPr>
        <p:spPr/>
        <p:txBody>
          <a:bodyPr/>
          <a:lstStyle/>
          <a:p>
            <a:r>
              <a:rPr lang="en-US" altLang="zh-CN" dirty="0"/>
              <a:t>03</a:t>
            </a:r>
            <a:endParaRPr lang="zh-CN" altLang="en-US" dirty="0"/>
          </a:p>
        </p:txBody>
      </p:sp>
      <p:sp>
        <p:nvSpPr>
          <p:cNvPr id="7" name="文本占位符 6">
            <a:extLst>
              <a:ext uri="{FF2B5EF4-FFF2-40B4-BE49-F238E27FC236}">
                <a16:creationId xmlns:a16="http://schemas.microsoft.com/office/drawing/2014/main" id="{818EB2B5-E9CA-F126-A60D-74CF4BCD4C54}"/>
              </a:ext>
            </a:extLst>
          </p:cNvPr>
          <p:cNvSpPr>
            <a:spLocks noGrp="1"/>
          </p:cNvSpPr>
          <p:nvPr>
            <p:ph type="body" sz="half" idx="2"/>
          </p:nvPr>
        </p:nvSpPr>
        <p:spPr/>
        <p:txBody>
          <a:bodyPr/>
          <a:lstStyle/>
          <a:p>
            <a:pPr marL="0" indent="0">
              <a:buNone/>
            </a:pPr>
            <a:r>
              <a:rPr lang="zh-CN" altLang="en-US" dirty="0"/>
              <a:t>之所以需要迭代式演进，是因为在生成操作系统代码的时候，它有时候面临鸡生蛋问题。</a:t>
            </a:r>
            <a:endParaRPr lang="en-US" altLang="zh-CN" dirty="0"/>
          </a:p>
          <a:p>
            <a:pPr marL="0" indent="0">
              <a:buNone/>
            </a:pPr>
            <a:r>
              <a:rPr lang="zh-CN" altLang="en-US" dirty="0"/>
              <a:t>例如：基本的打印输出是一个</a:t>
            </a:r>
            <a:r>
              <a:rPr lang="en-US" altLang="zh-CN" dirty="0"/>
              <a:t>write</a:t>
            </a:r>
            <a:r>
              <a:rPr lang="zh-CN" altLang="en-US" dirty="0"/>
              <a:t>系统调用，但是</a:t>
            </a:r>
            <a:r>
              <a:rPr lang="en-US" altLang="zh-CN" dirty="0"/>
              <a:t>write</a:t>
            </a:r>
            <a:r>
              <a:rPr lang="zh-CN" altLang="en-US" dirty="0"/>
              <a:t>依赖于文件系统的实现，我们最初没有文件系统，所以为了先有一个</a:t>
            </a:r>
            <a:r>
              <a:rPr lang="en-US" altLang="zh-CN" dirty="0"/>
              <a:t>write</a:t>
            </a:r>
            <a:r>
              <a:rPr lang="zh-CN" altLang="en-US" dirty="0"/>
              <a:t>进行</a:t>
            </a:r>
            <a:r>
              <a:rPr lang="en-US" altLang="zh-CN" dirty="0"/>
              <a:t>debug</a:t>
            </a:r>
            <a:r>
              <a:rPr lang="zh-CN" altLang="en-US" dirty="0"/>
              <a:t>，我们必须在演进初期，进行一个</a:t>
            </a:r>
            <a:r>
              <a:rPr lang="en-US" altLang="zh-CN" dirty="0"/>
              <a:t>fake</a:t>
            </a:r>
            <a:r>
              <a:rPr lang="zh-CN" altLang="en-US" dirty="0"/>
              <a:t>的实现并特判</a:t>
            </a:r>
            <a:r>
              <a:rPr lang="en-US" altLang="zh-CN" dirty="0" err="1"/>
              <a:t>fd</a:t>
            </a:r>
            <a:r>
              <a:rPr lang="en-US" altLang="zh-CN" dirty="0"/>
              <a:t>=0</a:t>
            </a:r>
            <a:r>
              <a:rPr lang="zh-CN" altLang="en-US" dirty="0"/>
              <a:t>的情况。之后在文件系统实现了之后，再迭代实现。</a:t>
            </a:r>
            <a:endParaRPr lang="en-US" altLang="zh-CN" dirty="0"/>
          </a:p>
          <a:p>
            <a:pPr marL="0" indent="0">
              <a:buNone/>
            </a:pPr>
            <a:r>
              <a:rPr lang="zh-CN" altLang="en-US" dirty="0"/>
              <a:t>再比如，没有文件系统，我们只能</a:t>
            </a:r>
            <a:r>
              <a:rPr lang="en-US" altLang="zh-CN" dirty="0" err="1"/>
              <a:t>incbin</a:t>
            </a:r>
            <a:r>
              <a:rPr lang="zh-CN" altLang="en-US" dirty="0"/>
              <a:t>的方式加载测例。</a:t>
            </a:r>
            <a:endParaRPr lang="en-US" altLang="zh-CN" dirty="0"/>
          </a:p>
          <a:p>
            <a:pPr marL="0" indent="0">
              <a:buNone/>
            </a:pPr>
            <a:r>
              <a:rPr lang="zh-CN" altLang="en-US" dirty="0"/>
              <a:t>迭代式演进的作用就是，通过规定多个步骤的边界，每个步骤可能涉及</a:t>
            </a:r>
            <a:r>
              <a:rPr lang="en-US" altLang="zh-CN" dirty="0"/>
              <a:t>1-2</a:t>
            </a:r>
            <a:r>
              <a:rPr lang="zh-CN" altLang="en-US" dirty="0"/>
              <a:t>个模块，逐个功能过测试逐个迭代，而不是让</a:t>
            </a:r>
            <a:r>
              <a:rPr lang="en-US" altLang="zh-CN" dirty="0"/>
              <a:t>AI</a:t>
            </a:r>
            <a:r>
              <a:rPr lang="zh-CN" altLang="en-US" dirty="0"/>
              <a:t>一口气生成所有功能或者想到哪里生成到哪里。</a:t>
            </a:r>
          </a:p>
        </p:txBody>
      </p:sp>
      <p:sp>
        <p:nvSpPr>
          <p:cNvPr id="10" name="文本占位符 9">
            <a:extLst>
              <a:ext uri="{FF2B5EF4-FFF2-40B4-BE49-F238E27FC236}">
                <a16:creationId xmlns:a16="http://schemas.microsoft.com/office/drawing/2014/main" id="{DD5A567E-AACF-FFD8-8F07-2F9255446657}"/>
              </a:ext>
            </a:extLst>
          </p:cNvPr>
          <p:cNvSpPr>
            <a:spLocks noGrp="1"/>
          </p:cNvSpPr>
          <p:nvPr>
            <p:ph type="body" sz="half" idx="24"/>
          </p:nvPr>
        </p:nvSpPr>
        <p:spPr/>
        <p:txBody>
          <a:bodyPr>
            <a:normAutofit/>
          </a:bodyPr>
          <a:lstStyle/>
          <a:p>
            <a:r>
              <a:rPr lang="zh-CN" altLang="en-US" dirty="0"/>
              <a:t>迭代式演进</a:t>
            </a:r>
          </a:p>
        </p:txBody>
      </p:sp>
      <p:sp>
        <p:nvSpPr>
          <p:cNvPr id="2" name="文本占位符 8">
            <a:extLst>
              <a:ext uri="{FF2B5EF4-FFF2-40B4-BE49-F238E27FC236}">
                <a16:creationId xmlns:a16="http://schemas.microsoft.com/office/drawing/2014/main" id="{0C62BB7C-CD0E-5043-9A46-7B13A274E801}"/>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3924051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898D9-6C93-0CB6-228D-5F70DCCBF37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A8419C6-0040-3F88-4EA3-12C095DF6DBF}"/>
              </a:ext>
            </a:extLst>
          </p:cNvPr>
          <p:cNvSpPr>
            <a:spLocks noGrp="1"/>
          </p:cNvSpPr>
          <p:nvPr>
            <p:ph type="title"/>
          </p:nvPr>
        </p:nvSpPr>
        <p:spPr/>
        <p:txBody>
          <a:bodyPr/>
          <a:lstStyle/>
          <a:p>
            <a:r>
              <a:rPr lang="zh-CN" altLang="en-US" dirty="0"/>
              <a:t>协议式兼容层生成</a:t>
            </a:r>
            <a:r>
              <a:rPr lang="en-US" altLang="zh-CN" dirty="0"/>
              <a:t>/</a:t>
            </a:r>
            <a:r>
              <a:rPr lang="zh-CN" altLang="en-US" dirty="0"/>
              <a:t>迭代式演进</a:t>
            </a:r>
            <a:r>
              <a:rPr lang="en-US" altLang="zh-CN" dirty="0"/>
              <a:t>/</a:t>
            </a:r>
            <a:r>
              <a:rPr lang="zh-CN" altLang="en-US" dirty="0"/>
              <a:t>测试驱动式验证</a:t>
            </a:r>
          </a:p>
        </p:txBody>
      </p:sp>
      <p:sp>
        <p:nvSpPr>
          <p:cNvPr id="4" name="文本占位符 3">
            <a:extLst>
              <a:ext uri="{FF2B5EF4-FFF2-40B4-BE49-F238E27FC236}">
                <a16:creationId xmlns:a16="http://schemas.microsoft.com/office/drawing/2014/main" id="{F65A295B-BDF0-952B-4C47-9C3F1F9ECA66}"/>
              </a:ext>
            </a:extLst>
          </p:cNvPr>
          <p:cNvSpPr>
            <a:spLocks noGrp="1"/>
          </p:cNvSpPr>
          <p:nvPr>
            <p:ph type="body" sz="half" idx="25"/>
          </p:nvPr>
        </p:nvSpPr>
        <p:spPr/>
        <p:txBody>
          <a:bodyPr/>
          <a:lstStyle/>
          <a:p>
            <a:r>
              <a:rPr lang="en-US" altLang="zh-CN" dirty="0"/>
              <a:t>03</a:t>
            </a:r>
            <a:endParaRPr lang="zh-CN" altLang="en-US" dirty="0"/>
          </a:p>
        </p:txBody>
      </p:sp>
      <p:sp>
        <p:nvSpPr>
          <p:cNvPr id="7" name="文本占位符 6">
            <a:extLst>
              <a:ext uri="{FF2B5EF4-FFF2-40B4-BE49-F238E27FC236}">
                <a16:creationId xmlns:a16="http://schemas.microsoft.com/office/drawing/2014/main" id="{659CDD55-FE8B-346D-570C-0345E090CCA5}"/>
              </a:ext>
            </a:extLst>
          </p:cNvPr>
          <p:cNvSpPr>
            <a:spLocks noGrp="1"/>
          </p:cNvSpPr>
          <p:nvPr>
            <p:ph type="body" sz="half" idx="2"/>
          </p:nvPr>
        </p:nvSpPr>
        <p:spPr/>
        <p:txBody>
          <a:bodyPr/>
          <a:lstStyle/>
          <a:p>
            <a:pPr marL="0" indent="0">
              <a:buNone/>
            </a:pPr>
            <a:r>
              <a:rPr lang="zh-CN" altLang="en-US" dirty="0"/>
              <a:t>我们让</a:t>
            </a:r>
            <a:r>
              <a:rPr lang="en-US" altLang="zh-CN" dirty="0"/>
              <a:t>AI</a:t>
            </a:r>
            <a:r>
              <a:rPr lang="zh-CN" altLang="en-US" dirty="0"/>
              <a:t>根据</a:t>
            </a:r>
            <a:r>
              <a:rPr lang="en-US" altLang="zh-CN" dirty="0"/>
              <a:t>man</a:t>
            </a:r>
            <a:r>
              <a:rPr lang="zh-CN" altLang="en-US" dirty="0"/>
              <a:t>手册，根据迭代式演进需要的</a:t>
            </a:r>
            <a:r>
              <a:rPr lang="en-US" altLang="zh-CN" dirty="0" err="1"/>
              <a:t>syscall</a:t>
            </a:r>
            <a:r>
              <a:rPr lang="zh-CN" altLang="en-US" dirty="0"/>
              <a:t>及参数功能生成了一些测试，同时反复测试。</a:t>
            </a:r>
            <a:endParaRPr lang="en-US" altLang="zh-CN" dirty="0"/>
          </a:p>
          <a:p>
            <a:pPr marL="0" indent="0">
              <a:buNone/>
            </a:pPr>
            <a:r>
              <a:rPr lang="zh-CN" altLang="en-US" dirty="0"/>
              <a:t>测试驱动改代码相关的内容，在</a:t>
            </a:r>
            <a:r>
              <a:rPr lang="en-US" altLang="zh-CN" dirty="0"/>
              <a:t>2026</a:t>
            </a:r>
            <a:r>
              <a:rPr lang="zh-CN" altLang="en-US" dirty="0"/>
              <a:t>春夏学期的操作系统大实验中也有一定的呈现，各位清本</a:t>
            </a:r>
            <a:r>
              <a:rPr lang="en-US" altLang="zh-CN" dirty="0"/>
              <a:t>OS</a:t>
            </a:r>
            <a:r>
              <a:rPr lang="zh-CN" altLang="en-US" dirty="0"/>
              <a:t>课同学做了很多类似的尝试，这我就不多废话了。（但前面两个则不是，协议兼容层生成和迭代式演进，都是从无到有去架构一个内核的</a:t>
            </a:r>
            <a:r>
              <a:rPr lang="en-US" altLang="zh-CN" dirty="0" err="1"/>
              <a:t>syscall</a:t>
            </a:r>
            <a:r>
              <a:rPr lang="zh-CN" altLang="en-US" dirty="0"/>
              <a:t>必须经历的。而春夏季大实验是在已有的</a:t>
            </a:r>
            <a:r>
              <a:rPr lang="en-US" altLang="zh-CN" dirty="0"/>
              <a:t>starry</a:t>
            </a:r>
            <a:r>
              <a:rPr lang="zh-CN" altLang="en-US" dirty="0"/>
              <a:t>上魔改，那是不一样的。）</a:t>
            </a:r>
          </a:p>
        </p:txBody>
      </p:sp>
      <p:sp>
        <p:nvSpPr>
          <p:cNvPr id="10" name="文本占位符 9">
            <a:extLst>
              <a:ext uri="{FF2B5EF4-FFF2-40B4-BE49-F238E27FC236}">
                <a16:creationId xmlns:a16="http://schemas.microsoft.com/office/drawing/2014/main" id="{56A98FC4-A06D-37E9-7797-273C85F1727B}"/>
              </a:ext>
            </a:extLst>
          </p:cNvPr>
          <p:cNvSpPr>
            <a:spLocks noGrp="1"/>
          </p:cNvSpPr>
          <p:nvPr>
            <p:ph type="body" sz="half" idx="24"/>
          </p:nvPr>
        </p:nvSpPr>
        <p:spPr/>
        <p:txBody>
          <a:bodyPr>
            <a:normAutofit/>
          </a:bodyPr>
          <a:lstStyle/>
          <a:p>
            <a:r>
              <a:rPr lang="zh-CN" altLang="en-US" dirty="0"/>
              <a:t>测试驱动式验证</a:t>
            </a:r>
          </a:p>
        </p:txBody>
      </p:sp>
      <p:sp>
        <p:nvSpPr>
          <p:cNvPr id="2" name="文本占位符 8">
            <a:extLst>
              <a:ext uri="{FF2B5EF4-FFF2-40B4-BE49-F238E27FC236}">
                <a16:creationId xmlns:a16="http://schemas.microsoft.com/office/drawing/2014/main" id="{E6F47914-345D-E0A7-F340-3B6F0CA5BA20}"/>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4096925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73EE1-AB61-555B-E080-C3265D74FA9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0E5D763-5E23-9BCF-4913-FF9D24A5CF21}"/>
              </a:ext>
            </a:extLst>
          </p:cNvPr>
          <p:cNvSpPr>
            <a:spLocks noGrp="1"/>
          </p:cNvSpPr>
          <p:nvPr>
            <p:ph type="title"/>
          </p:nvPr>
        </p:nvSpPr>
        <p:spPr>
          <a:xfrm>
            <a:off x="8151495" y="4261486"/>
            <a:ext cx="3326914" cy="837640"/>
          </a:xfrm>
        </p:spPr>
        <p:txBody>
          <a:bodyPr>
            <a:normAutofit/>
          </a:bodyPr>
          <a:lstStyle/>
          <a:p>
            <a:r>
              <a:rPr lang="zh-CN" altLang="en-US" dirty="0"/>
              <a:t>进展</a:t>
            </a:r>
          </a:p>
        </p:txBody>
      </p:sp>
      <p:sp>
        <p:nvSpPr>
          <p:cNvPr id="4" name="文本占位符 3">
            <a:extLst>
              <a:ext uri="{FF2B5EF4-FFF2-40B4-BE49-F238E27FC236}">
                <a16:creationId xmlns:a16="http://schemas.microsoft.com/office/drawing/2014/main" id="{E04E8548-6311-DA37-85CB-96606CF4C91D}"/>
              </a:ext>
            </a:extLst>
          </p:cNvPr>
          <p:cNvSpPr>
            <a:spLocks noGrp="1"/>
          </p:cNvSpPr>
          <p:nvPr>
            <p:ph type="body" idx="13"/>
          </p:nvPr>
        </p:nvSpPr>
        <p:spPr/>
        <p:txBody>
          <a:bodyPr/>
          <a:lstStyle/>
          <a:p>
            <a:r>
              <a:rPr lang="en-US" altLang="zh-CN" dirty="0"/>
              <a:t>04</a:t>
            </a:r>
            <a:endParaRPr lang="zh-CN" altLang="en-US" dirty="0"/>
          </a:p>
        </p:txBody>
      </p:sp>
    </p:spTree>
    <p:extLst>
      <p:ext uri="{BB962C8B-B14F-4D97-AF65-F5344CB8AC3E}">
        <p14:creationId xmlns:p14="http://schemas.microsoft.com/office/powerpoint/2010/main" val="1353430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2E4CC-C109-301F-05A3-6A2D715F0FC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6E0DD35-DF31-55B7-9444-47F54C722D52}"/>
              </a:ext>
            </a:extLst>
          </p:cNvPr>
          <p:cNvSpPr>
            <a:spLocks noGrp="1"/>
          </p:cNvSpPr>
          <p:nvPr>
            <p:ph type="title"/>
          </p:nvPr>
        </p:nvSpPr>
        <p:spPr/>
        <p:txBody>
          <a:bodyPr/>
          <a:lstStyle/>
          <a:p>
            <a:r>
              <a:rPr lang="zh-CN" altLang="en-US" dirty="0"/>
              <a:t>进展</a:t>
            </a:r>
          </a:p>
        </p:txBody>
      </p:sp>
      <p:sp>
        <p:nvSpPr>
          <p:cNvPr id="4" name="文本占位符 3">
            <a:extLst>
              <a:ext uri="{FF2B5EF4-FFF2-40B4-BE49-F238E27FC236}">
                <a16:creationId xmlns:a16="http://schemas.microsoft.com/office/drawing/2014/main" id="{ED3E9ADD-6CE8-2EA7-633E-6FD214903721}"/>
              </a:ext>
            </a:extLst>
          </p:cNvPr>
          <p:cNvSpPr>
            <a:spLocks noGrp="1"/>
          </p:cNvSpPr>
          <p:nvPr>
            <p:ph type="body" sz="half" idx="25"/>
          </p:nvPr>
        </p:nvSpPr>
        <p:spPr/>
        <p:txBody>
          <a:bodyPr/>
          <a:lstStyle/>
          <a:p>
            <a:r>
              <a:rPr lang="en-US" altLang="zh-CN" dirty="0"/>
              <a:t>04</a:t>
            </a:r>
            <a:endParaRPr lang="zh-CN" altLang="en-US" dirty="0"/>
          </a:p>
        </p:txBody>
      </p:sp>
      <p:sp>
        <p:nvSpPr>
          <p:cNvPr id="7" name="文本占位符 6">
            <a:extLst>
              <a:ext uri="{FF2B5EF4-FFF2-40B4-BE49-F238E27FC236}">
                <a16:creationId xmlns:a16="http://schemas.microsoft.com/office/drawing/2014/main" id="{2BF69B39-C158-7ACC-826A-03D7D1893693}"/>
              </a:ext>
            </a:extLst>
          </p:cNvPr>
          <p:cNvSpPr>
            <a:spLocks noGrp="1"/>
          </p:cNvSpPr>
          <p:nvPr>
            <p:ph type="body" sz="half" idx="2"/>
          </p:nvPr>
        </p:nvSpPr>
        <p:spPr>
          <a:xfrm>
            <a:off x="410303" y="1537652"/>
            <a:ext cx="9171305" cy="4150995"/>
          </a:xfrm>
        </p:spPr>
        <p:txBody>
          <a:bodyPr/>
          <a:lstStyle/>
          <a:p>
            <a:r>
              <a:rPr lang="zh-CN" altLang="en-US" dirty="0"/>
              <a:t>实现仓库在</a:t>
            </a:r>
            <a:r>
              <a:rPr lang="en-US" altLang="zh-CN" dirty="0">
                <a:hlinkClick r:id="rId2"/>
              </a:rPr>
              <a:t>https://github.com/ZhiyuanSue/RendezvOS</a:t>
            </a:r>
            <a:endParaRPr lang="en-US" altLang="zh-CN" dirty="0"/>
          </a:p>
          <a:p>
            <a:r>
              <a:rPr lang="zh-CN" altLang="en-US" dirty="0"/>
              <a:t>基本完成了整个核心的上述功能的设计实现，冻结了</a:t>
            </a:r>
            <a:r>
              <a:rPr lang="en-US" altLang="zh-CN" dirty="0"/>
              <a:t>v0.1</a:t>
            </a:r>
            <a:r>
              <a:rPr lang="zh-CN" altLang="en-US" dirty="0"/>
              <a:t>版本的代码，但是还</a:t>
            </a:r>
            <a:endParaRPr lang="en-US" altLang="zh-CN" dirty="0"/>
          </a:p>
          <a:p>
            <a:r>
              <a:rPr lang="zh-CN" altLang="en-US" dirty="0"/>
              <a:t>支持了</a:t>
            </a:r>
            <a:r>
              <a:rPr lang="en-US" altLang="zh-CN" dirty="0"/>
              <a:t>x86_64</a:t>
            </a:r>
            <a:r>
              <a:rPr lang="zh-CN" altLang="en-US" dirty="0"/>
              <a:t>和</a:t>
            </a:r>
            <a:r>
              <a:rPr lang="en-US" altLang="zh-CN" dirty="0"/>
              <a:t>aarch64</a:t>
            </a:r>
            <a:r>
              <a:rPr lang="zh-CN" altLang="en-US" dirty="0"/>
              <a:t>两个架构的多核启动和实现</a:t>
            </a:r>
            <a:endParaRPr lang="en-US" altLang="zh-CN" dirty="0"/>
          </a:p>
          <a:p>
            <a:r>
              <a:rPr lang="zh-CN" altLang="en-US" dirty="0"/>
              <a:t>跑通了基本的冒烟测例</a:t>
            </a:r>
            <a:endParaRPr lang="en-US" altLang="zh-CN" dirty="0"/>
          </a:p>
          <a:p>
            <a:r>
              <a:rPr lang="zh-CN" altLang="en-US" dirty="0"/>
              <a:t>尚未冻结相关文档（写文档比较痛苦，</a:t>
            </a:r>
            <a:r>
              <a:rPr lang="en-US" altLang="zh-CN" dirty="0"/>
              <a:t>ai</a:t>
            </a:r>
            <a:r>
              <a:rPr lang="zh-CN" altLang="en-US" dirty="0"/>
              <a:t>写文档又不够靠谱）</a:t>
            </a:r>
            <a:endParaRPr lang="en-US" altLang="zh-CN" dirty="0"/>
          </a:p>
          <a:p>
            <a:r>
              <a:rPr lang="zh-CN" altLang="en-US" dirty="0"/>
              <a:t>整个实现约</a:t>
            </a:r>
            <a:r>
              <a:rPr lang="en-US" altLang="zh-CN" dirty="0"/>
              <a:t>3.3w</a:t>
            </a:r>
            <a:r>
              <a:rPr lang="zh-CN" altLang="en-US" dirty="0"/>
              <a:t>行相关代码（不算</a:t>
            </a:r>
            <a:r>
              <a:rPr lang="en-US" altLang="zh-CN" dirty="0"/>
              <a:t>markdown</a:t>
            </a:r>
            <a:r>
              <a:rPr lang="zh-CN" altLang="en-US" dirty="0"/>
              <a:t>的相关文档</a:t>
            </a:r>
            <a:endParaRPr lang="en-US" altLang="zh-CN" dirty="0"/>
          </a:p>
        </p:txBody>
      </p:sp>
      <p:sp>
        <p:nvSpPr>
          <p:cNvPr id="10" name="文本占位符 9">
            <a:extLst>
              <a:ext uri="{FF2B5EF4-FFF2-40B4-BE49-F238E27FC236}">
                <a16:creationId xmlns:a16="http://schemas.microsoft.com/office/drawing/2014/main" id="{5633ED77-C2A4-0B79-E1E7-78A43AB51971}"/>
              </a:ext>
            </a:extLst>
          </p:cNvPr>
          <p:cNvSpPr>
            <a:spLocks noGrp="1"/>
          </p:cNvSpPr>
          <p:nvPr>
            <p:ph type="body" sz="half" idx="24"/>
          </p:nvPr>
        </p:nvSpPr>
        <p:spPr/>
        <p:txBody>
          <a:bodyPr>
            <a:normAutofit/>
          </a:bodyPr>
          <a:lstStyle/>
          <a:p>
            <a:r>
              <a:rPr lang="en-US" altLang="zh-CN" dirty="0" err="1"/>
              <a:t>RendezvOS</a:t>
            </a:r>
            <a:r>
              <a:rPr lang="zh-CN" altLang="en-US" dirty="0"/>
              <a:t>核心进展情况</a:t>
            </a:r>
          </a:p>
        </p:txBody>
      </p:sp>
      <p:sp>
        <p:nvSpPr>
          <p:cNvPr id="2" name="文本占位符 8">
            <a:extLst>
              <a:ext uri="{FF2B5EF4-FFF2-40B4-BE49-F238E27FC236}">
                <a16:creationId xmlns:a16="http://schemas.microsoft.com/office/drawing/2014/main" id="{889DCA92-E778-9007-2308-E61351C14BDF}"/>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pic>
        <p:nvPicPr>
          <p:cNvPr id="6" name="图片 5" descr="表格&#10;&#10;AI 生成的内容可能不正确。">
            <a:extLst>
              <a:ext uri="{FF2B5EF4-FFF2-40B4-BE49-F238E27FC236}">
                <a16:creationId xmlns:a16="http://schemas.microsoft.com/office/drawing/2014/main" id="{DD4DE64C-E413-B25F-62AF-A33690A6C550}"/>
              </a:ext>
            </a:extLst>
          </p:cNvPr>
          <p:cNvPicPr>
            <a:picLocks noChangeAspect="1"/>
          </p:cNvPicPr>
          <p:nvPr/>
        </p:nvPicPr>
        <p:blipFill>
          <a:blip r:embed="rId3"/>
          <a:stretch>
            <a:fillRect/>
          </a:stretch>
        </p:blipFill>
        <p:spPr>
          <a:xfrm>
            <a:off x="6538550" y="4095954"/>
            <a:ext cx="5653450" cy="2448787"/>
          </a:xfrm>
          <a:prstGeom prst="rect">
            <a:avLst/>
          </a:prstGeom>
        </p:spPr>
      </p:pic>
    </p:spTree>
    <p:extLst>
      <p:ext uri="{BB962C8B-B14F-4D97-AF65-F5344CB8AC3E}">
        <p14:creationId xmlns:p14="http://schemas.microsoft.com/office/powerpoint/2010/main" val="2140180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82C78-D5AC-7B67-F6EF-7DBCA449650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DDEDBC2-529F-5DBE-4435-CEE48A6940AE}"/>
              </a:ext>
            </a:extLst>
          </p:cNvPr>
          <p:cNvSpPr>
            <a:spLocks noGrp="1"/>
          </p:cNvSpPr>
          <p:nvPr>
            <p:ph type="title"/>
          </p:nvPr>
        </p:nvSpPr>
        <p:spPr/>
        <p:txBody>
          <a:bodyPr/>
          <a:lstStyle/>
          <a:p>
            <a:r>
              <a:rPr lang="zh-CN" altLang="en-US" dirty="0"/>
              <a:t>进展</a:t>
            </a:r>
          </a:p>
        </p:txBody>
      </p:sp>
      <p:sp>
        <p:nvSpPr>
          <p:cNvPr id="4" name="文本占位符 3">
            <a:extLst>
              <a:ext uri="{FF2B5EF4-FFF2-40B4-BE49-F238E27FC236}">
                <a16:creationId xmlns:a16="http://schemas.microsoft.com/office/drawing/2014/main" id="{E8B22FAB-E4D1-D077-6EF1-B115BAFC67DF}"/>
              </a:ext>
            </a:extLst>
          </p:cNvPr>
          <p:cNvSpPr>
            <a:spLocks noGrp="1"/>
          </p:cNvSpPr>
          <p:nvPr>
            <p:ph type="body" sz="half" idx="25"/>
          </p:nvPr>
        </p:nvSpPr>
        <p:spPr/>
        <p:txBody>
          <a:bodyPr/>
          <a:lstStyle/>
          <a:p>
            <a:r>
              <a:rPr lang="en-US" altLang="zh-CN" dirty="0"/>
              <a:t>04</a:t>
            </a:r>
            <a:endParaRPr lang="zh-CN" altLang="en-US" dirty="0"/>
          </a:p>
        </p:txBody>
      </p:sp>
      <p:sp>
        <p:nvSpPr>
          <p:cNvPr id="7" name="文本占位符 6">
            <a:extLst>
              <a:ext uri="{FF2B5EF4-FFF2-40B4-BE49-F238E27FC236}">
                <a16:creationId xmlns:a16="http://schemas.microsoft.com/office/drawing/2014/main" id="{D0E896E4-6CF8-2A3C-2024-D8660010E5CD}"/>
              </a:ext>
            </a:extLst>
          </p:cNvPr>
          <p:cNvSpPr>
            <a:spLocks noGrp="1"/>
          </p:cNvSpPr>
          <p:nvPr>
            <p:ph type="body" sz="half" idx="2"/>
          </p:nvPr>
        </p:nvSpPr>
        <p:spPr/>
        <p:txBody>
          <a:bodyPr/>
          <a:lstStyle/>
          <a:p>
            <a:r>
              <a:rPr lang="zh-CN" altLang="en-US" dirty="0"/>
              <a:t>实现代码在</a:t>
            </a:r>
            <a:r>
              <a:rPr lang="en-US" altLang="zh-CN" dirty="0">
                <a:hlinkClick r:id="rId2"/>
              </a:rPr>
              <a:t>https://github.com/ZhiyuanSue/RendezvOS_Linux</a:t>
            </a:r>
            <a:endParaRPr lang="en-US" altLang="zh-CN" dirty="0"/>
          </a:p>
          <a:p>
            <a:r>
              <a:rPr lang="zh-CN" altLang="en-US" dirty="0"/>
              <a:t>能够运行起来</a:t>
            </a:r>
            <a:r>
              <a:rPr lang="en-US" altLang="zh-CN" dirty="0" err="1"/>
              <a:t>busybox</a:t>
            </a:r>
            <a:r>
              <a:rPr lang="zh-CN" altLang="en-US" dirty="0"/>
              <a:t>，同时通过</a:t>
            </a:r>
            <a:r>
              <a:rPr lang="en-US" altLang="zh-CN" dirty="0" err="1"/>
              <a:t>busybox</a:t>
            </a:r>
            <a:r>
              <a:rPr lang="zh-CN" altLang="en-US" dirty="0"/>
              <a:t>启动一些基本的测例，约</a:t>
            </a:r>
            <a:r>
              <a:rPr lang="en-US" altLang="zh-CN" dirty="0"/>
              <a:t>52</a:t>
            </a:r>
            <a:r>
              <a:rPr lang="zh-CN" altLang="en-US" dirty="0"/>
              <a:t>个测例点，涵盖基本的</a:t>
            </a:r>
            <a:r>
              <a:rPr lang="en-US" altLang="zh-CN" dirty="0"/>
              <a:t>Linux</a:t>
            </a:r>
            <a:r>
              <a:rPr lang="zh-CN" altLang="en-US" dirty="0"/>
              <a:t>线程进程</a:t>
            </a:r>
            <a:r>
              <a:rPr lang="en-US" altLang="zh-CN" dirty="0" err="1"/>
              <a:t>syscall</a:t>
            </a:r>
            <a:r>
              <a:rPr lang="zh-CN" altLang="en-US" dirty="0"/>
              <a:t>，内存</a:t>
            </a:r>
            <a:r>
              <a:rPr lang="en-US" altLang="zh-CN" dirty="0" err="1"/>
              <a:t>syscall</a:t>
            </a:r>
            <a:r>
              <a:rPr lang="zh-CN" altLang="en-US" dirty="0"/>
              <a:t>，文件</a:t>
            </a:r>
            <a:r>
              <a:rPr lang="en-US" altLang="zh-CN" dirty="0" err="1"/>
              <a:t>syscall</a:t>
            </a:r>
            <a:r>
              <a:rPr lang="zh-CN" altLang="en-US" dirty="0"/>
              <a:t>等。</a:t>
            </a:r>
            <a:endParaRPr lang="en-US" altLang="zh-CN" dirty="0"/>
          </a:p>
          <a:p>
            <a:r>
              <a:rPr lang="zh-CN" altLang="en-US" dirty="0"/>
              <a:t>实现了一些兼容层内核线程，其中包括，每个核心一个的</a:t>
            </a:r>
            <a:r>
              <a:rPr lang="en-US" altLang="zh-CN" dirty="0"/>
              <a:t>clean</a:t>
            </a:r>
            <a:r>
              <a:rPr lang="zh-CN" altLang="en-US" dirty="0"/>
              <a:t> </a:t>
            </a:r>
            <a:r>
              <a:rPr lang="en-US" altLang="zh-CN" dirty="0"/>
              <a:t>server</a:t>
            </a:r>
            <a:r>
              <a:rPr lang="zh-CN" altLang="en-US" dirty="0"/>
              <a:t>（清理线程），只在</a:t>
            </a:r>
            <a:r>
              <a:rPr lang="en-US" altLang="zh-CN" dirty="0"/>
              <a:t>core1</a:t>
            </a:r>
            <a:r>
              <a:rPr lang="zh-CN" altLang="en-US" dirty="0"/>
              <a:t>核心上运行的</a:t>
            </a:r>
            <a:r>
              <a:rPr lang="en-US" altLang="zh-CN" dirty="0" err="1"/>
              <a:t>vfs</a:t>
            </a:r>
            <a:r>
              <a:rPr lang="zh-CN" altLang="en-US" dirty="0"/>
              <a:t>层，只在</a:t>
            </a:r>
            <a:r>
              <a:rPr lang="en-US" altLang="zh-CN" dirty="0"/>
              <a:t>core1</a:t>
            </a:r>
            <a:r>
              <a:rPr lang="zh-CN" altLang="en-US" dirty="0"/>
              <a:t>上运行的</a:t>
            </a:r>
            <a:r>
              <a:rPr lang="en-US" altLang="zh-CN" dirty="0" err="1"/>
              <a:t>vfs</a:t>
            </a:r>
            <a:r>
              <a:rPr lang="zh-CN" altLang="en-US" dirty="0"/>
              <a:t> </a:t>
            </a:r>
            <a:r>
              <a:rPr lang="en-US" altLang="zh-CN" dirty="0"/>
              <a:t>backend</a:t>
            </a:r>
            <a:r>
              <a:rPr lang="zh-CN" altLang="en-US" dirty="0"/>
              <a:t>（一个</a:t>
            </a:r>
            <a:r>
              <a:rPr lang="en-US" altLang="zh-CN" dirty="0" err="1"/>
              <a:t>cpio</a:t>
            </a:r>
            <a:r>
              <a:rPr lang="zh-CN" altLang="en-US" dirty="0"/>
              <a:t>解析器用于读，一个内存文件系统允许写一些文件），总体初步证明整个设计是可行的）</a:t>
            </a:r>
            <a:endParaRPr lang="en-US" altLang="zh-CN" dirty="0"/>
          </a:p>
          <a:p>
            <a:endParaRPr lang="en-US" altLang="zh-CN" dirty="0"/>
          </a:p>
          <a:p>
            <a:pPr marL="0" indent="0">
              <a:buNone/>
            </a:pPr>
            <a:endParaRPr lang="en-US" altLang="zh-CN" dirty="0"/>
          </a:p>
        </p:txBody>
      </p:sp>
      <p:sp>
        <p:nvSpPr>
          <p:cNvPr id="10" name="文本占位符 9">
            <a:extLst>
              <a:ext uri="{FF2B5EF4-FFF2-40B4-BE49-F238E27FC236}">
                <a16:creationId xmlns:a16="http://schemas.microsoft.com/office/drawing/2014/main" id="{73B4E1DD-244A-B0DC-0083-F858067469BA}"/>
              </a:ext>
            </a:extLst>
          </p:cNvPr>
          <p:cNvSpPr>
            <a:spLocks noGrp="1"/>
          </p:cNvSpPr>
          <p:nvPr>
            <p:ph type="body" sz="half" idx="24"/>
          </p:nvPr>
        </p:nvSpPr>
        <p:spPr/>
        <p:txBody>
          <a:bodyPr>
            <a:normAutofit/>
          </a:bodyPr>
          <a:lstStyle/>
          <a:p>
            <a:r>
              <a:rPr lang="en-US" altLang="zh-CN" dirty="0"/>
              <a:t>AI</a:t>
            </a:r>
            <a:r>
              <a:rPr lang="zh-CN" altLang="en-US" dirty="0"/>
              <a:t>生成的</a:t>
            </a:r>
            <a:r>
              <a:rPr lang="en-US" altLang="zh-CN" dirty="0"/>
              <a:t>Linux</a:t>
            </a:r>
            <a:r>
              <a:rPr lang="zh-CN" altLang="en-US" dirty="0"/>
              <a:t>兼容层进展</a:t>
            </a:r>
          </a:p>
        </p:txBody>
      </p:sp>
      <p:sp>
        <p:nvSpPr>
          <p:cNvPr id="2" name="文本占位符 8">
            <a:extLst>
              <a:ext uri="{FF2B5EF4-FFF2-40B4-BE49-F238E27FC236}">
                <a16:creationId xmlns:a16="http://schemas.microsoft.com/office/drawing/2014/main" id="{6B88E8A5-5C3E-33A4-F8B2-3374D40101E2}"/>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3030914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34F3F-4FBD-A0F7-AFEB-98EAE3DA00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CA4AFC-E36F-5D81-44C0-048B6E3EF914}"/>
              </a:ext>
            </a:extLst>
          </p:cNvPr>
          <p:cNvSpPr>
            <a:spLocks noGrp="1"/>
          </p:cNvSpPr>
          <p:nvPr>
            <p:ph type="title"/>
          </p:nvPr>
        </p:nvSpPr>
        <p:spPr>
          <a:xfrm>
            <a:off x="8151495" y="4261486"/>
            <a:ext cx="3326914" cy="837640"/>
          </a:xfrm>
        </p:spPr>
        <p:txBody>
          <a:bodyPr>
            <a:normAutofit/>
          </a:bodyPr>
          <a:lstStyle/>
          <a:p>
            <a:r>
              <a:rPr lang="zh-CN" altLang="en-US" dirty="0"/>
              <a:t>实验设计</a:t>
            </a:r>
          </a:p>
        </p:txBody>
      </p:sp>
      <p:sp>
        <p:nvSpPr>
          <p:cNvPr id="4" name="文本占位符 3">
            <a:extLst>
              <a:ext uri="{FF2B5EF4-FFF2-40B4-BE49-F238E27FC236}">
                <a16:creationId xmlns:a16="http://schemas.microsoft.com/office/drawing/2014/main" id="{C970DD7C-394D-5FF1-5E0C-C29B843DDFC1}"/>
              </a:ext>
            </a:extLst>
          </p:cNvPr>
          <p:cNvSpPr>
            <a:spLocks noGrp="1"/>
          </p:cNvSpPr>
          <p:nvPr>
            <p:ph type="body" idx="13"/>
          </p:nvPr>
        </p:nvSpPr>
        <p:spPr/>
        <p:txBody>
          <a:bodyPr/>
          <a:lstStyle/>
          <a:p>
            <a:r>
              <a:rPr lang="en-US" altLang="zh-CN" dirty="0"/>
              <a:t>05</a:t>
            </a:r>
            <a:endParaRPr lang="zh-CN" altLang="en-US" dirty="0"/>
          </a:p>
        </p:txBody>
      </p:sp>
    </p:spTree>
    <p:extLst>
      <p:ext uri="{BB962C8B-B14F-4D97-AF65-F5344CB8AC3E}">
        <p14:creationId xmlns:p14="http://schemas.microsoft.com/office/powerpoint/2010/main" val="653158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F6B3-E041-21D3-6286-7037571BA10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D004D54-7628-4A81-8411-DB3073FDE17A}"/>
              </a:ext>
            </a:extLst>
          </p:cNvPr>
          <p:cNvSpPr>
            <a:spLocks noGrp="1"/>
          </p:cNvSpPr>
          <p:nvPr>
            <p:ph type="title"/>
          </p:nvPr>
        </p:nvSpPr>
        <p:spPr/>
        <p:txBody>
          <a:bodyPr/>
          <a:lstStyle/>
          <a:p>
            <a:r>
              <a:rPr lang="zh-CN" altLang="en-US" dirty="0"/>
              <a:t>实验设计</a:t>
            </a:r>
          </a:p>
        </p:txBody>
      </p:sp>
      <p:sp>
        <p:nvSpPr>
          <p:cNvPr id="4" name="文本占位符 3">
            <a:extLst>
              <a:ext uri="{FF2B5EF4-FFF2-40B4-BE49-F238E27FC236}">
                <a16:creationId xmlns:a16="http://schemas.microsoft.com/office/drawing/2014/main" id="{590B1D40-7659-3662-CD4F-D1173BBFC91D}"/>
              </a:ext>
            </a:extLst>
          </p:cNvPr>
          <p:cNvSpPr>
            <a:spLocks noGrp="1"/>
          </p:cNvSpPr>
          <p:nvPr>
            <p:ph type="body" sz="half" idx="25"/>
          </p:nvPr>
        </p:nvSpPr>
        <p:spPr/>
        <p:txBody>
          <a:bodyPr/>
          <a:lstStyle/>
          <a:p>
            <a:r>
              <a:rPr lang="en-US" altLang="zh-CN" dirty="0"/>
              <a:t>05</a:t>
            </a:r>
            <a:endParaRPr lang="zh-CN" altLang="en-US" dirty="0"/>
          </a:p>
        </p:txBody>
      </p:sp>
      <p:sp>
        <p:nvSpPr>
          <p:cNvPr id="7" name="文本占位符 6">
            <a:extLst>
              <a:ext uri="{FF2B5EF4-FFF2-40B4-BE49-F238E27FC236}">
                <a16:creationId xmlns:a16="http://schemas.microsoft.com/office/drawing/2014/main" id="{F54BC412-28A7-677E-745A-5CEA5F4808C0}"/>
              </a:ext>
            </a:extLst>
          </p:cNvPr>
          <p:cNvSpPr>
            <a:spLocks noGrp="1"/>
          </p:cNvSpPr>
          <p:nvPr>
            <p:ph type="body" sz="half" idx="2"/>
          </p:nvPr>
        </p:nvSpPr>
        <p:spPr>
          <a:xfrm>
            <a:off x="1023620" y="1844676"/>
            <a:ext cx="10156009" cy="4371068"/>
          </a:xfrm>
        </p:spPr>
        <p:txBody>
          <a:bodyPr>
            <a:normAutofit/>
          </a:bodyPr>
          <a:lstStyle/>
          <a:p>
            <a:pPr marL="0" indent="0">
              <a:buNone/>
            </a:pPr>
            <a:r>
              <a:rPr lang="zh-CN" altLang="en-US" dirty="0"/>
              <a:t>实验的核心目标，就是说明有我们这个框架，去生成一个内核会更容易和不易出错。</a:t>
            </a:r>
            <a:endParaRPr lang="en-US" altLang="zh-CN" dirty="0"/>
          </a:p>
          <a:p>
            <a:pPr marL="0" indent="0">
              <a:buNone/>
            </a:pPr>
            <a:r>
              <a:rPr lang="zh-CN" altLang="en-US" dirty="0"/>
              <a:t>我们的设计包括：</a:t>
            </a:r>
            <a:r>
              <a:rPr lang="en-US" altLang="zh-CN" dirty="0" err="1"/>
              <a:t>RendezvOS</a:t>
            </a:r>
            <a:r>
              <a:rPr lang="zh-CN" altLang="en-US" dirty="0"/>
              <a:t>框架，兼容层的协议</a:t>
            </a:r>
            <a:r>
              <a:rPr lang="en-US" altLang="zh-CN" dirty="0"/>
              <a:t>+</a:t>
            </a:r>
            <a:r>
              <a:rPr lang="zh-CN" altLang="en-US" dirty="0"/>
              <a:t>迭代式的演进来生成兼容层代码，通过测例进行兼容层功能验证。</a:t>
            </a:r>
            <a:endParaRPr lang="en-US" altLang="zh-CN" dirty="0"/>
          </a:p>
          <a:p>
            <a:pPr marL="0" indent="0">
              <a:buNone/>
            </a:pPr>
            <a:r>
              <a:rPr lang="zh-CN" altLang="en-US" dirty="0"/>
              <a:t>所以，我们需要做消融实验：</a:t>
            </a:r>
            <a:endParaRPr lang="en-US" altLang="zh-CN" dirty="0"/>
          </a:p>
          <a:p>
            <a:pPr marL="0" indent="0">
              <a:buNone/>
            </a:pPr>
            <a:r>
              <a:rPr lang="zh-CN" altLang="en-US" dirty="0"/>
              <a:t>如果没有核心框架，</a:t>
            </a:r>
            <a:r>
              <a:rPr lang="en-US" altLang="zh-CN" dirty="0"/>
              <a:t>AI</a:t>
            </a:r>
            <a:r>
              <a:rPr lang="zh-CN" altLang="en-US" dirty="0"/>
              <a:t>是否能够很好的生成相应功能，同时我们需要评判即使生成了，其可扩展性如何。如果同一个</a:t>
            </a:r>
            <a:r>
              <a:rPr lang="en-US" altLang="zh-CN" dirty="0"/>
              <a:t>AI</a:t>
            </a:r>
            <a:r>
              <a:rPr lang="zh-CN" altLang="en-US" dirty="0"/>
              <a:t>不能生成，在多少轮之后，或者什么样的标准判定其失败。</a:t>
            </a:r>
            <a:endParaRPr lang="en-US" altLang="zh-CN" dirty="0"/>
          </a:p>
          <a:p>
            <a:pPr marL="0" indent="0">
              <a:buNone/>
            </a:pPr>
            <a:r>
              <a:rPr lang="zh-CN" altLang="en-US" dirty="0"/>
              <a:t>如果有核心框架，但是没有</a:t>
            </a:r>
            <a:r>
              <a:rPr lang="en-US" altLang="zh-CN" dirty="0"/>
              <a:t>IPC</a:t>
            </a:r>
            <a:r>
              <a:rPr lang="zh-CN" altLang="en-US" dirty="0"/>
              <a:t>支持和单执行流生成模式的支持，又会如何（个人推荐做这个）</a:t>
            </a:r>
            <a:endParaRPr lang="en-US" altLang="zh-CN" dirty="0"/>
          </a:p>
          <a:p>
            <a:pPr marL="0" indent="0">
              <a:buNone/>
            </a:pPr>
            <a:r>
              <a:rPr lang="zh-CN" altLang="en-US" dirty="0"/>
              <a:t>如果没有协议层生成方案，</a:t>
            </a:r>
            <a:r>
              <a:rPr lang="en-US" altLang="zh-CN" dirty="0"/>
              <a:t>AI</a:t>
            </a:r>
            <a:r>
              <a:rPr lang="zh-CN" altLang="en-US" dirty="0"/>
              <a:t>又能做到什么程度。</a:t>
            </a:r>
            <a:endParaRPr lang="en-US" altLang="zh-CN" dirty="0"/>
          </a:p>
          <a:p>
            <a:pPr marL="0" indent="0">
              <a:buNone/>
            </a:pPr>
            <a:r>
              <a:rPr lang="zh-CN" altLang="en-US" dirty="0"/>
              <a:t>同时，我们可以做多个</a:t>
            </a:r>
            <a:r>
              <a:rPr lang="en-US" altLang="zh-CN" dirty="0"/>
              <a:t>AI</a:t>
            </a:r>
            <a:r>
              <a:rPr lang="zh-CN" altLang="en-US" dirty="0"/>
              <a:t>的实验验证，评估不同</a:t>
            </a:r>
            <a:r>
              <a:rPr lang="en-US" altLang="zh-CN" dirty="0"/>
              <a:t>AI</a:t>
            </a:r>
            <a:r>
              <a:rPr lang="zh-CN" altLang="en-US" dirty="0"/>
              <a:t>的性能，尤其是弱模型来实现，弱模型有了框架能实现但是没框架不能实现更能说明问题。</a:t>
            </a:r>
          </a:p>
        </p:txBody>
      </p:sp>
      <p:sp>
        <p:nvSpPr>
          <p:cNvPr id="10" name="文本占位符 9">
            <a:extLst>
              <a:ext uri="{FF2B5EF4-FFF2-40B4-BE49-F238E27FC236}">
                <a16:creationId xmlns:a16="http://schemas.microsoft.com/office/drawing/2014/main" id="{2558181B-1658-437E-0FBF-5FF1F3D2AD55}"/>
              </a:ext>
            </a:extLst>
          </p:cNvPr>
          <p:cNvSpPr>
            <a:spLocks noGrp="1"/>
          </p:cNvSpPr>
          <p:nvPr>
            <p:ph type="body" sz="half" idx="24"/>
          </p:nvPr>
        </p:nvSpPr>
        <p:spPr/>
        <p:txBody>
          <a:bodyPr/>
          <a:lstStyle/>
          <a:p>
            <a:r>
              <a:rPr lang="zh-CN" altLang="en-US" dirty="0"/>
              <a:t>实验设计</a:t>
            </a:r>
          </a:p>
        </p:txBody>
      </p:sp>
      <p:sp>
        <p:nvSpPr>
          <p:cNvPr id="2" name="文本占位符 8">
            <a:extLst>
              <a:ext uri="{FF2B5EF4-FFF2-40B4-BE49-F238E27FC236}">
                <a16:creationId xmlns:a16="http://schemas.microsoft.com/office/drawing/2014/main" id="{4052F15A-C7C7-7414-19B8-49BE64E3813D}"/>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630572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D9F4A-1089-74E0-FC7D-4BD24B08536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170F44-15B4-0604-2D59-9B6FE045C9C0}"/>
              </a:ext>
            </a:extLst>
          </p:cNvPr>
          <p:cNvSpPr>
            <a:spLocks noGrp="1"/>
          </p:cNvSpPr>
          <p:nvPr>
            <p:ph type="title"/>
          </p:nvPr>
        </p:nvSpPr>
        <p:spPr>
          <a:xfrm>
            <a:off x="8151495" y="4261486"/>
            <a:ext cx="3326914" cy="837640"/>
          </a:xfrm>
        </p:spPr>
        <p:txBody>
          <a:bodyPr>
            <a:normAutofit fontScale="90000"/>
          </a:bodyPr>
          <a:lstStyle/>
          <a:p>
            <a:r>
              <a:rPr lang="zh-CN" altLang="en-US" dirty="0"/>
              <a:t>后续工作商讨</a:t>
            </a:r>
          </a:p>
        </p:txBody>
      </p:sp>
      <p:sp>
        <p:nvSpPr>
          <p:cNvPr id="4" name="文本占位符 3">
            <a:extLst>
              <a:ext uri="{FF2B5EF4-FFF2-40B4-BE49-F238E27FC236}">
                <a16:creationId xmlns:a16="http://schemas.microsoft.com/office/drawing/2014/main" id="{A18E202D-5F6C-3567-A5ED-94E5C4C4A3DD}"/>
              </a:ext>
            </a:extLst>
          </p:cNvPr>
          <p:cNvSpPr>
            <a:spLocks noGrp="1"/>
          </p:cNvSpPr>
          <p:nvPr>
            <p:ph type="body" idx="13"/>
          </p:nvPr>
        </p:nvSpPr>
        <p:spPr/>
        <p:txBody>
          <a:bodyPr/>
          <a:lstStyle/>
          <a:p>
            <a:r>
              <a:rPr lang="en-US" altLang="zh-CN" dirty="0"/>
              <a:t>06</a:t>
            </a:r>
            <a:endParaRPr lang="zh-CN" altLang="en-US" dirty="0"/>
          </a:p>
        </p:txBody>
      </p:sp>
    </p:spTree>
    <p:extLst>
      <p:ext uri="{BB962C8B-B14F-4D97-AF65-F5344CB8AC3E}">
        <p14:creationId xmlns:p14="http://schemas.microsoft.com/office/powerpoint/2010/main" val="4265719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8A624-CBB1-3FE0-74F3-0FA6EDC5C53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FD4033E-73F9-6812-0759-436499F0D2F7}"/>
              </a:ext>
            </a:extLst>
          </p:cNvPr>
          <p:cNvSpPr>
            <a:spLocks noGrp="1"/>
          </p:cNvSpPr>
          <p:nvPr>
            <p:ph type="title"/>
          </p:nvPr>
        </p:nvSpPr>
        <p:spPr/>
        <p:txBody>
          <a:bodyPr/>
          <a:lstStyle/>
          <a:p>
            <a:r>
              <a:rPr lang="zh-CN" altLang="en-US" dirty="0"/>
              <a:t>后续工作商讨</a:t>
            </a:r>
          </a:p>
        </p:txBody>
      </p:sp>
      <p:sp>
        <p:nvSpPr>
          <p:cNvPr id="4" name="文本占位符 3">
            <a:extLst>
              <a:ext uri="{FF2B5EF4-FFF2-40B4-BE49-F238E27FC236}">
                <a16:creationId xmlns:a16="http://schemas.microsoft.com/office/drawing/2014/main" id="{82554D5C-6565-2841-89C8-354BF6891282}"/>
              </a:ext>
            </a:extLst>
          </p:cNvPr>
          <p:cNvSpPr>
            <a:spLocks noGrp="1"/>
          </p:cNvSpPr>
          <p:nvPr>
            <p:ph type="body" sz="half" idx="25"/>
          </p:nvPr>
        </p:nvSpPr>
        <p:spPr/>
        <p:txBody>
          <a:bodyPr/>
          <a:lstStyle/>
          <a:p>
            <a:r>
              <a:rPr lang="en-US" altLang="zh-CN" dirty="0"/>
              <a:t>06</a:t>
            </a:r>
            <a:endParaRPr lang="zh-CN" altLang="en-US" dirty="0"/>
          </a:p>
        </p:txBody>
      </p:sp>
      <p:sp>
        <p:nvSpPr>
          <p:cNvPr id="7" name="文本占位符 6">
            <a:extLst>
              <a:ext uri="{FF2B5EF4-FFF2-40B4-BE49-F238E27FC236}">
                <a16:creationId xmlns:a16="http://schemas.microsoft.com/office/drawing/2014/main" id="{D4BBB139-5BD2-4E39-66B2-796556EF975E}"/>
              </a:ext>
            </a:extLst>
          </p:cNvPr>
          <p:cNvSpPr>
            <a:spLocks noGrp="1"/>
          </p:cNvSpPr>
          <p:nvPr>
            <p:ph type="body" sz="half" idx="2"/>
          </p:nvPr>
        </p:nvSpPr>
        <p:spPr/>
        <p:txBody>
          <a:bodyPr/>
          <a:lstStyle/>
          <a:p>
            <a:r>
              <a:rPr lang="zh-CN" altLang="en-US" dirty="0"/>
              <a:t>目标：先尝试投年底</a:t>
            </a:r>
            <a:r>
              <a:rPr lang="en-US" altLang="zh-CN" dirty="0"/>
              <a:t>OSDI</a:t>
            </a:r>
            <a:r>
              <a:rPr lang="zh-CN" altLang="en-US" dirty="0"/>
              <a:t>吧（应该是</a:t>
            </a:r>
            <a:r>
              <a:rPr lang="en-US" altLang="zh-CN" dirty="0"/>
              <a:t>12</a:t>
            </a:r>
            <a:r>
              <a:rPr lang="zh-CN" altLang="en-US" dirty="0"/>
              <a:t>月头上给摘要）</a:t>
            </a:r>
            <a:endParaRPr lang="en-US" altLang="zh-CN" dirty="0"/>
          </a:p>
          <a:p>
            <a:r>
              <a:rPr lang="zh-CN" altLang="en-US" dirty="0"/>
              <a:t>需要确定</a:t>
            </a:r>
            <a:r>
              <a:rPr lang="en-US" altLang="zh-CN" dirty="0"/>
              <a:t>OSDI</a:t>
            </a:r>
            <a:r>
              <a:rPr lang="zh-CN" altLang="en-US" dirty="0"/>
              <a:t>具体如何报名和相关时间节点（我缺少相关经验，也许需要请教</a:t>
            </a:r>
            <a:r>
              <a:rPr lang="en-US" altLang="zh-CN" dirty="0" err="1"/>
              <a:t>tkf</a:t>
            </a:r>
            <a:r>
              <a:rPr lang="zh-CN" altLang="en-US" dirty="0"/>
              <a:t>，也许需要找</a:t>
            </a:r>
            <a:r>
              <a:rPr lang="en-US" altLang="zh-CN" dirty="0" err="1"/>
              <a:t>clb</a:t>
            </a:r>
            <a:r>
              <a:rPr lang="zh-CN" altLang="en-US" dirty="0"/>
              <a:t>报销钱</a:t>
            </a:r>
            <a:r>
              <a:rPr lang="en-US" altLang="zh-CN" dirty="0"/>
              <a:t>——</a:t>
            </a:r>
            <a:r>
              <a:rPr lang="zh-CN" altLang="en-US" dirty="0"/>
              <a:t>当然加上一堆合作方估计免不了了）</a:t>
            </a:r>
            <a:endParaRPr lang="en-US" altLang="zh-CN" dirty="0"/>
          </a:p>
          <a:p>
            <a:r>
              <a:rPr lang="zh-CN" altLang="en-US" dirty="0"/>
              <a:t>需要完成实验设计里面的一堆实验（也许需要修订实验方案，也许需要增加人手帮忙做实验）</a:t>
            </a:r>
            <a:endParaRPr lang="en-US" altLang="zh-CN" dirty="0"/>
          </a:p>
          <a:p>
            <a:r>
              <a:rPr lang="zh-CN" altLang="en-US" dirty="0"/>
              <a:t>需要</a:t>
            </a:r>
            <a:r>
              <a:rPr lang="en-US" altLang="zh-CN" dirty="0"/>
              <a:t>10</a:t>
            </a:r>
            <a:r>
              <a:rPr lang="zh-CN" altLang="en-US" dirty="0"/>
              <a:t>月底前给出初稿（暂定）并在此之后进行修正（得找陈老师和陈老师一起看看给点建议）</a:t>
            </a:r>
            <a:endParaRPr lang="en-US" altLang="zh-CN" dirty="0"/>
          </a:p>
          <a:p>
            <a:r>
              <a:rPr lang="zh-CN" altLang="en-US" dirty="0"/>
              <a:t>还有其他吗？</a:t>
            </a:r>
          </a:p>
        </p:txBody>
      </p:sp>
      <p:sp>
        <p:nvSpPr>
          <p:cNvPr id="10" name="文本占位符 9">
            <a:extLst>
              <a:ext uri="{FF2B5EF4-FFF2-40B4-BE49-F238E27FC236}">
                <a16:creationId xmlns:a16="http://schemas.microsoft.com/office/drawing/2014/main" id="{3D0074E4-BD1D-F6B8-7AD9-3D5D41593630}"/>
              </a:ext>
            </a:extLst>
          </p:cNvPr>
          <p:cNvSpPr>
            <a:spLocks noGrp="1"/>
          </p:cNvSpPr>
          <p:nvPr>
            <p:ph type="body" sz="half" idx="24"/>
          </p:nvPr>
        </p:nvSpPr>
        <p:spPr/>
        <p:txBody>
          <a:bodyPr/>
          <a:lstStyle/>
          <a:p>
            <a:r>
              <a:rPr lang="zh-CN" altLang="en-US" dirty="0"/>
              <a:t>后续工作讨论</a:t>
            </a:r>
          </a:p>
        </p:txBody>
      </p:sp>
      <p:sp>
        <p:nvSpPr>
          <p:cNvPr id="2" name="文本占位符 8">
            <a:extLst>
              <a:ext uri="{FF2B5EF4-FFF2-40B4-BE49-F238E27FC236}">
                <a16:creationId xmlns:a16="http://schemas.microsoft.com/office/drawing/2014/main" id="{0BCF3DEC-EDB3-0BEA-7B54-C9447B5EC534}"/>
              </a:ext>
            </a:extLst>
          </p:cNvPr>
          <p:cNvSpPr>
            <a:spLocks noGrp="1"/>
          </p:cNvSpPr>
          <p:nvPr>
            <p:ph type="body" sz="quarter" idx="23"/>
          </p:nvPr>
        </p:nvSpPr>
        <p:spPr>
          <a:xfrm>
            <a:off x="154940" y="6588760"/>
            <a:ext cx="3949065" cy="220980"/>
          </a:xfrm>
        </p:spPr>
        <p:txBody>
          <a:bodyPr/>
          <a:lstStyle/>
          <a:p>
            <a:r>
              <a:rPr lang="zh-CN" altLang="en-US" dirty="0"/>
              <a:t>朱懿</a:t>
            </a:r>
            <a:fld id="{59A66003-9077-064A-8241-5CBCC7F15EDC}" type="datetime1">
              <a:rPr lang="zh-CN" altLang="en-US" smtClean="0"/>
              <a:t>2026/9/5</a:t>
            </a:fld>
            <a:endParaRPr lang="zh-CN" altLang="en-US" dirty="0"/>
          </a:p>
        </p:txBody>
      </p:sp>
    </p:spTree>
    <p:extLst>
      <p:ext uri="{BB962C8B-B14F-4D97-AF65-F5344CB8AC3E}">
        <p14:creationId xmlns:p14="http://schemas.microsoft.com/office/powerpoint/2010/main" val="4091065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THANKS</a:t>
            </a:r>
            <a:endParaRPr lang="zh-CN" altLang="en-US" dirty="0"/>
          </a:p>
        </p:txBody>
      </p:sp>
      <p:sp>
        <p:nvSpPr>
          <p:cNvPr id="3" name="文本占位符 2"/>
          <p:cNvSpPr>
            <a:spLocks noGrp="1"/>
          </p:cNvSpPr>
          <p:nvPr>
            <p:ph type="body" sz="quarter" idx="22"/>
          </p:nvPr>
        </p:nvSpPr>
        <p:spPr/>
        <p:txBody>
          <a:bodyPr>
            <a:normAutofit lnSpcReduction="10000"/>
          </a:bodyPr>
          <a:lstStyle/>
          <a:p>
            <a:r>
              <a:rPr lang="zh-CN" altLang="en-US" dirty="0"/>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4167</Words>
  <Application>Microsoft Macintosh PowerPoint</Application>
  <PresentationFormat>宽屏</PresentationFormat>
  <Paragraphs>402</Paragraphs>
  <Slides>34</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34</vt:i4>
      </vt:variant>
    </vt:vector>
  </HeadingPairs>
  <TitlesOfParts>
    <vt:vector size="43" baseType="lpstr">
      <vt:lpstr>等线</vt:lpstr>
      <vt:lpstr>等线 Light</vt:lpstr>
      <vt:lpstr>Microsoft YaHei</vt:lpstr>
      <vt:lpstr>Microsoft YaHei Bold</vt:lpstr>
      <vt:lpstr>Microsoft YaHei Regular</vt:lpstr>
      <vt:lpstr>Source Han Sans SC</vt:lpstr>
      <vt:lpstr>Arial</vt:lpstr>
      <vt:lpstr>Wingdings</vt:lpstr>
      <vt:lpstr>Office 主题​​</vt:lpstr>
      <vt:lpstr>面向AI生成内核的操作系统协作框架</vt:lpstr>
      <vt:lpstr>PowerPoint 演示文稿</vt:lpstr>
      <vt:lpstr>设计目的和思路</vt:lpstr>
      <vt:lpstr>设计目的和思路</vt:lpstr>
      <vt:lpstr>设计目的和思路</vt:lpstr>
      <vt:lpstr>设计目的和思路</vt:lpstr>
      <vt:lpstr>设计目的和思路</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内核框架关键机制</vt:lpstr>
      <vt:lpstr>协议式兼容层生成/迭代式演进/测例驱动式验证</vt:lpstr>
      <vt:lpstr>协议式兼容层生成/迭代式演进/测试驱动式验证</vt:lpstr>
      <vt:lpstr>协议式兼容层生成/迭代式演进/测试驱动式验证</vt:lpstr>
      <vt:lpstr>协议式兼容层生成/迭代式演进/测试驱动式验证</vt:lpstr>
      <vt:lpstr>进展</vt:lpstr>
      <vt:lpstr>进展</vt:lpstr>
      <vt:lpstr>进展</vt:lpstr>
      <vt:lpstr>实验设计</vt:lpstr>
      <vt:lpstr>实验设计</vt:lpstr>
      <vt:lpstr>后续工作商讨</vt:lpstr>
      <vt:lpstr>后续工作商讨</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262</cp:revision>
  <dcterms:created xsi:type="dcterms:W3CDTF">2026-04-13T06:28:51Z</dcterms:created>
  <dcterms:modified xsi:type="dcterms:W3CDTF">2026-09-04T23:48:22Z</dcterms:modified>
</cp:coreProperties>
</file>